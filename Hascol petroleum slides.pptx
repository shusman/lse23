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4704" y="3487783"/>
            <a:ext cx="8298679" cy="779415"/>
          </a:xfrm>
        </p:spPr>
        <p:txBody>
          <a:bodyPr/>
          <a:lstStyle/>
          <a:p>
            <a:r>
              <a:rPr lang="en-GB" dirty="0" smtClean="0"/>
              <a:t>Hascol petroleum 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4704" y="4539343"/>
            <a:ext cx="8689976" cy="2031274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Group members</a:t>
            </a:r>
          </a:p>
          <a:p>
            <a:r>
              <a:rPr lang="en-GB" dirty="0" smtClean="0"/>
              <a:t>ANAS ABID</a:t>
            </a:r>
          </a:p>
          <a:p>
            <a:r>
              <a:rPr lang="en-GB" dirty="0" smtClean="0"/>
              <a:t>FURQAN HAMEED</a:t>
            </a:r>
          </a:p>
          <a:p>
            <a:r>
              <a:rPr lang="en-GB" dirty="0" smtClean="0"/>
              <a:t>AHMED ALI KHAN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612" y="-132338"/>
            <a:ext cx="8244588" cy="316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275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44137" y="1854926"/>
            <a:ext cx="11521440" cy="4781005"/>
          </a:xfrm>
        </p:spPr>
        <p:txBody>
          <a:bodyPr/>
          <a:lstStyle/>
          <a:p>
            <a:r>
              <a:rPr lang="en-GB" dirty="0" smtClean="0">
                <a:latin typeface="Century Gothic" panose="020B0502020202020204" pitchFamily="34" charset="0"/>
              </a:rPr>
              <a:t>Hascol was granted omc license in 2005</a:t>
            </a:r>
          </a:p>
          <a:p>
            <a:r>
              <a:rPr lang="en-GB" dirty="0" smtClean="0">
                <a:latin typeface="Century Gothic" panose="020B0502020202020204" pitchFamily="34" charset="0"/>
              </a:rPr>
              <a:t>Went public in 2014 on psx</a:t>
            </a:r>
          </a:p>
          <a:p>
            <a:r>
              <a:rPr lang="en-GB" dirty="0" smtClean="0">
                <a:latin typeface="Century Gothic" panose="020B0502020202020204" pitchFamily="34" charset="0"/>
              </a:rPr>
              <a:t>15 AUTOMAX LPG STATIONS ACROSS PAKISTAN</a:t>
            </a:r>
          </a:p>
          <a:p>
            <a:r>
              <a:rPr lang="en-GB" dirty="0" smtClean="0">
                <a:latin typeface="Century Gothic" panose="020B0502020202020204" pitchFamily="34" charset="0"/>
              </a:rPr>
              <a:t>VITOL, LARGEST OIL TRADING ENTITTY OF WORLD ACQUIRED 15% OF SHARES OF HASCOL IN 2016</a:t>
            </a:r>
          </a:p>
          <a:p>
            <a:r>
              <a:rPr lang="en-GB" dirty="0" smtClean="0">
                <a:latin typeface="Century Gothic" panose="020B0502020202020204" pitchFamily="34" charset="0"/>
              </a:rPr>
              <a:t>LAUCHED LPG MARKETING COMPANY VAS LNG LMT AS JOINT VENTURE WITH VITOL</a:t>
            </a:r>
          </a:p>
          <a:p>
            <a:r>
              <a:rPr lang="en-GB" dirty="0">
                <a:latin typeface="Century Gothic" panose="020B0502020202020204" pitchFamily="34" charset="0"/>
              </a:rPr>
              <a:t>ANOTHER JOINT VENTURE WITH </a:t>
            </a:r>
            <a:r>
              <a:rPr lang="en-GB" dirty="0" smtClean="0">
                <a:latin typeface="Century Gothic" panose="020B0502020202020204" pitchFamily="34" charset="0"/>
              </a:rPr>
              <a:t>VITOL, </a:t>
            </a:r>
            <a:r>
              <a:rPr lang="en-GB" dirty="0">
                <a:latin typeface="Century Gothic" panose="020B0502020202020204" pitchFamily="34" charset="0"/>
              </a:rPr>
              <a:t>Hascol Terminals Limited (HTL</a:t>
            </a:r>
            <a:r>
              <a:rPr lang="en-GB" dirty="0" smtClean="0">
                <a:latin typeface="Century Gothic" panose="020B0502020202020204" pitchFamily="34" charset="0"/>
              </a:rPr>
              <a:t>) constructed Petroleum terminal at bin qasim port with capacity of 197000 metric tons</a:t>
            </a:r>
          </a:p>
          <a:p>
            <a:r>
              <a:rPr lang="en-GB" dirty="0" smtClean="0">
                <a:latin typeface="Century Gothic" panose="020B0502020202020204" pitchFamily="34" charset="0"/>
              </a:rPr>
              <a:t>LUBRICANT PLANT HAS ALSO BEEN CONSTRUCTED AT BIN QASIM PORT IN 2019.</a:t>
            </a:r>
          </a:p>
          <a:p>
            <a:endParaRPr lang="en-GB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279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Income statement-common size analysis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903" y="2214694"/>
            <a:ext cx="9692640" cy="4136086"/>
          </a:xfrm>
        </p:spPr>
      </p:pic>
    </p:spTree>
    <p:extLst>
      <p:ext uri="{BB962C8B-B14F-4D97-AF65-F5344CB8AC3E}">
        <p14:creationId xmlns:p14="http://schemas.microsoft.com/office/powerpoint/2010/main" val="2665960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Graphical analysis of is-common size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828800" y="2021998"/>
            <a:ext cx="8725989" cy="428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538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Balance sheet-common size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291" y="2214694"/>
            <a:ext cx="9144000" cy="4251420"/>
          </a:xfrm>
        </p:spPr>
      </p:pic>
    </p:spTree>
    <p:extLst>
      <p:ext uri="{BB962C8B-B14F-4D97-AF65-F5344CB8AC3E}">
        <p14:creationId xmlns:p14="http://schemas.microsoft.com/office/powerpoint/2010/main" val="1073093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BALANCE SHEET-COMMON SIZE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46105" y="2214694"/>
            <a:ext cx="5601552" cy="41861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669" y="2214693"/>
            <a:ext cx="5760719" cy="41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14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TREND ANALYSIS-INCOME STATEMENT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75" y="2214694"/>
            <a:ext cx="10254968" cy="4094666"/>
          </a:xfrm>
        </p:spPr>
      </p:pic>
    </p:spTree>
    <p:extLst>
      <p:ext uri="{BB962C8B-B14F-4D97-AF65-F5344CB8AC3E}">
        <p14:creationId xmlns:p14="http://schemas.microsoft.com/office/powerpoint/2010/main" val="3250888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TREND ANALYSIS-INCOME STATEMENT</a:t>
            </a:r>
            <a:endParaRPr lang="en-GB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" y="2351313"/>
            <a:ext cx="9998065" cy="4060299"/>
          </a:xfrm>
        </p:spPr>
      </p:pic>
    </p:spTree>
    <p:extLst>
      <p:ext uri="{BB962C8B-B14F-4D97-AF65-F5344CB8AC3E}">
        <p14:creationId xmlns:p14="http://schemas.microsoft.com/office/powerpoint/2010/main" val="91048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TREND ANALYSIS-BALANCE SHEET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17" y="2390503"/>
            <a:ext cx="10947743" cy="4283957"/>
          </a:xfrm>
        </p:spPr>
      </p:pic>
    </p:spTree>
    <p:extLst>
      <p:ext uri="{BB962C8B-B14F-4D97-AF65-F5344CB8AC3E}">
        <p14:creationId xmlns:p14="http://schemas.microsoft.com/office/powerpoint/2010/main" val="1566789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TREND ANALYSIS-BALANCE SHEET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867988" y="2076994"/>
            <a:ext cx="8856617" cy="399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804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LIQUIDITY ANALYSIS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318" y="2214693"/>
            <a:ext cx="11082548" cy="4055477"/>
          </a:xfrm>
        </p:spPr>
      </p:pic>
    </p:spTree>
    <p:extLst>
      <p:ext uri="{BB962C8B-B14F-4D97-AF65-F5344CB8AC3E}">
        <p14:creationId xmlns:p14="http://schemas.microsoft.com/office/powerpoint/2010/main" val="3578772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LIQUIDITY ANALYSIS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593669" y="2024743"/>
            <a:ext cx="9562011" cy="423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894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CAPITAL STRUCTURE AND SOLVENCY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87" y="2481942"/>
            <a:ext cx="11233651" cy="3487783"/>
          </a:xfrm>
        </p:spPr>
      </p:pic>
    </p:spTree>
    <p:extLst>
      <p:ext uri="{BB962C8B-B14F-4D97-AF65-F5344CB8AC3E}">
        <p14:creationId xmlns:p14="http://schemas.microsoft.com/office/powerpoint/2010/main" val="173280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CAPITAL STRUCTURE AND SOLVENCY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463040" y="2214694"/>
            <a:ext cx="9815185" cy="416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596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ROIC ANALYSIS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2730137"/>
            <a:ext cx="10633166" cy="3540034"/>
          </a:xfrm>
        </p:spPr>
      </p:pic>
    </p:spTree>
    <p:extLst>
      <p:ext uri="{BB962C8B-B14F-4D97-AF65-F5344CB8AC3E}">
        <p14:creationId xmlns:p14="http://schemas.microsoft.com/office/powerpoint/2010/main" val="1055465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ROIC ANALYSIS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463040" y="2024743"/>
            <a:ext cx="9815186" cy="4193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628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OPERATING MEASURES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75" y="2214695"/>
            <a:ext cx="10364451" cy="3741968"/>
          </a:xfrm>
        </p:spPr>
      </p:pic>
    </p:spTree>
    <p:extLst>
      <p:ext uri="{BB962C8B-B14F-4D97-AF65-F5344CB8AC3E}">
        <p14:creationId xmlns:p14="http://schemas.microsoft.com/office/powerpoint/2010/main" val="1028106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OPERATING MEASURES</a:t>
            </a:r>
            <a:endParaRPr lang="en-GB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3775" y="2024742"/>
            <a:ext cx="10803608" cy="43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285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ASSET UTILIZATION ANALYSIS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20" y="2351313"/>
            <a:ext cx="10508485" cy="3461657"/>
          </a:xfrm>
        </p:spPr>
      </p:pic>
    </p:spTree>
    <p:extLst>
      <p:ext uri="{BB962C8B-B14F-4D97-AF65-F5344CB8AC3E}">
        <p14:creationId xmlns:p14="http://schemas.microsoft.com/office/powerpoint/2010/main" val="4214785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ASSET UTILIZATION ANALYSIS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40970" y="2364377"/>
            <a:ext cx="9823269" cy="385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237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MARKET MEASURES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66" y="2214695"/>
            <a:ext cx="10703460" cy="4055476"/>
          </a:xfrm>
        </p:spPr>
      </p:pic>
    </p:spTree>
    <p:extLst>
      <p:ext uri="{BB962C8B-B14F-4D97-AF65-F5344CB8AC3E}">
        <p14:creationId xmlns:p14="http://schemas.microsoft.com/office/powerpoint/2010/main" val="1238438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MARKET MEASURES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87069" y="2050869"/>
            <a:ext cx="11082120" cy="421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9701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TAKE ON FIRM AS INVESTOR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581766" y="2366963"/>
            <a:ext cx="9028468" cy="342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3832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TAKE ON FIRM AS CREDITOR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48195" y="2103120"/>
            <a:ext cx="10398034" cy="4232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053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TAKE ON FIRM AS CREDITOR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3774" y="2366963"/>
            <a:ext cx="10581539" cy="394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9146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SUGGESTIONS TO FIRM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 smtClean="0"/>
              <a:t>Try to eliminate losses and earn back profits</a:t>
            </a:r>
          </a:p>
          <a:p>
            <a:r>
              <a:rPr lang="en-GB" dirty="0" smtClean="0"/>
              <a:t>Increase Current assets to MEET SHORT TERM OBLIGATIONS</a:t>
            </a:r>
          </a:p>
          <a:p>
            <a:r>
              <a:rPr lang="en-GB" dirty="0" smtClean="0"/>
              <a:t>IMPROVE RETURN MEASURES</a:t>
            </a:r>
          </a:p>
          <a:p>
            <a:r>
              <a:rPr lang="en-GB" smtClean="0"/>
              <a:t>CHANGE CAPITAL STRUCTURE AS 86% DEBT AND 14% EQUITY CAN LEAD TO DEFAULT AND TRY TO INCREASE EQUITY.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39738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90</TotalTime>
  <Words>213</Words>
  <Application>Microsoft Office PowerPoint</Application>
  <PresentationFormat>Widescreen</PresentationFormat>
  <Paragraphs>41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Century Gothic</vt:lpstr>
      <vt:lpstr>Tw Cen MT</vt:lpstr>
      <vt:lpstr>Droplet</vt:lpstr>
      <vt:lpstr>Hascol petroleum </vt:lpstr>
      <vt:lpstr>Introduction</vt:lpstr>
      <vt:lpstr>Income statement-common size analysis</vt:lpstr>
      <vt:lpstr>Graphical analysis of is-common size</vt:lpstr>
      <vt:lpstr>Balance sheet-common size</vt:lpstr>
      <vt:lpstr>BALANCE SHEET-COMMON SIZE</vt:lpstr>
      <vt:lpstr>TREND ANALYSIS-INCOME STATEMENT</vt:lpstr>
      <vt:lpstr>TREND ANALYSIS-INCOME STATEMENT</vt:lpstr>
      <vt:lpstr>TREND ANALYSIS-BALANCE SHEET</vt:lpstr>
      <vt:lpstr>TREND ANALYSIS-BALANCE SHEET</vt:lpstr>
      <vt:lpstr>LIQUIDITY ANALYSIS</vt:lpstr>
      <vt:lpstr>LIQUIDITY ANALYSIS</vt:lpstr>
      <vt:lpstr>CAPITAL STRUCTURE AND SOLVENCY</vt:lpstr>
      <vt:lpstr>CAPITAL STRUCTURE AND SOLVENCY</vt:lpstr>
      <vt:lpstr>ROIC ANALYSIS</vt:lpstr>
      <vt:lpstr>ROIC ANALYSIS</vt:lpstr>
      <vt:lpstr>OPERATING MEASURES</vt:lpstr>
      <vt:lpstr>OPERATING MEASURES</vt:lpstr>
      <vt:lpstr>ASSET UTILIZATION ANALYSIS</vt:lpstr>
      <vt:lpstr>ASSET UTILIZATION ANALYSIS</vt:lpstr>
      <vt:lpstr>MARKET MEASURES</vt:lpstr>
      <vt:lpstr>MARKET MEASURES</vt:lpstr>
      <vt:lpstr>TAKE ON FIRM AS INVESTOR</vt:lpstr>
      <vt:lpstr>TAKE ON FIRM AS CREDITOR</vt:lpstr>
      <vt:lpstr>TAKE ON FIRM AS CREDITOR</vt:lpstr>
      <vt:lpstr>SUGGESTIONS TO FIRM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Hascol petroleum</dc:title>
  <dc:creator>Humza chowdary</dc:creator>
  <cp:lastModifiedBy>Humza chowdary</cp:lastModifiedBy>
  <cp:revision>10</cp:revision>
  <dcterms:created xsi:type="dcterms:W3CDTF">2022-05-11T17:07:45Z</dcterms:created>
  <dcterms:modified xsi:type="dcterms:W3CDTF">2022-05-11T18:37:50Z</dcterms:modified>
</cp:coreProperties>
</file>