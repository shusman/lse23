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2" r:id="rId4"/>
    <p:sldId id="263" r:id="rId5"/>
    <p:sldId id="257" r:id="rId6"/>
    <p:sldId id="259" r:id="rId7"/>
    <p:sldId id="260" r:id="rId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3626" autoAdjust="0"/>
  </p:normalViewPr>
  <p:slideViewPr>
    <p:cSldViewPr snapToGrid="0">
      <p:cViewPr varScale="1">
        <p:scale>
          <a:sx n="59" d="100"/>
          <a:sy n="59" d="100"/>
        </p:scale>
        <p:origin x="10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A075E-3825-4B0D-A69C-7FC70C3D08AD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D7C8D-A510-4F04-8063-85F810CC059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45055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8A064-2414-4014-AF03-9E25D7612B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24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8A064-2414-4014-AF03-9E25D7612B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28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from the graph it can be seen that the Nishat Mills follows the same pattern as KSE 100 index which it follows. It has seen a major decrease in the second quarter of 2020 after which along with some fluctuations it is on the increasing </a:t>
            </a:r>
          </a:p>
          <a:p>
            <a:r>
              <a:rPr lang="en-US" dirty="0"/>
              <a:t>Trajectory. This could be due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Covid-19 pandemic that brought business activity and global trade to an abrupt halt. Export sales fell for the first time since FY16, by 5 percent.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D7C8D-A510-4F04-8063-85F810CC059E}" type="slidenum">
              <a:rPr lang="x-none" smtClean="0"/>
              <a:t>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3614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have increase over the </a:t>
            </a:r>
            <a:r>
              <a:rPr lang="en-US" dirty="0" err="1"/>
              <a:t>the</a:t>
            </a:r>
            <a:r>
              <a:rPr lang="en-US" dirty="0"/>
              <a:t> 13 years in context. It can be seen that Nishat Mills major share of sales come from Export.  In 2019 NM took advantage of the </a:t>
            </a:r>
          </a:p>
          <a:p>
            <a:r>
              <a:rPr lang="en-US" dirty="0"/>
              <a:t>devaluation of the currency that boosted the export sales as seen from the graph.</a:t>
            </a:r>
          </a:p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D7C8D-A510-4F04-8063-85F810CC059E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5009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increase was les than the </a:t>
            </a:r>
            <a:r>
              <a:rPr lang="en-US" dirty="0" err="1"/>
              <a:t>icrease</a:t>
            </a:r>
            <a:r>
              <a:rPr lang="en-US" dirty="0"/>
              <a:t> of CGS which decreased the GP. Overall expenses decreased but due </a:t>
            </a:r>
            <a:r>
              <a:rPr lang="en-US" dirty="0" err="1"/>
              <a:t>ti</a:t>
            </a:r>
            <a:r>
              <a:rPr lang="en-US" dirty="0"/>
              <a:t> decrease in GP </a:t>
            </a:r>
            <a:r>
              <a:rPr lang="en-US" dirty="0" err="1"/>
              <a:t>EBIt</a:t>
            </a:r>
            <a:r>
              <a:rPr lang="en-US" dirty="0"/>
              <a:t> decreased more. </a:t>
            </a:r>
            <a:r>
              <a:rPr lang="en-U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lesser contribution from other income, net margin was marginally lower in 1HFY21 year on year. This should also be taken in account that 2020 was the period when COVID – 19 pandemic spread and lockdowns were initiated which leaded to decrease in the Profit margins.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D7C8D-A510-4F04-8063-85F810CC059E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19007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EB7DCA-18FB-45BF-A94B-B0580CCB2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2A9C711-639F-4F52-9A34-B5F1AD247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E0EB46-656D-4A80-B65D-6E0B09453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CB4D73D-112B-49CD-99E8-85CE31728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7EF5790-4477-4B60-9041-5839C4162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64435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6CB90F-101D-47F7-8E63-4D0C2C41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8C5D8A4-5CAE-40E8-BD0F-D912E46FF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875FE3E-0EE6-4826-9032-38037CB0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3556AC1-B226-477B-B47B-C01F48221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DAB947-0076-43CA-9383-A8F24C27F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81479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9CBAC5-26C7-4964-95CA-71287BF9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3C15BCA-6DF1-414E-B3F1-C0521383F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EBD7B8-75D4-42F2-8816-28AB5D442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3EC8FA-FA67-41AE-93F9-6AD0EF0D2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93BC126-654F-4B1C-997B-1F18B6EC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7555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5A6CD-1BFB-417B-B1AD-D28FDEE48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84058A1-177A-4875-B3A5-4F646070C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0F30587-FAAA-4D4F-A2A1-12BE4E621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176EA00-C2CD-4C9B-8878-141E7D24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D73738E-5584-4190-B678-1B800462E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484007D-1778-4ACB-90F9-6DC7626A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90743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E673AD-2E49-4753-ACC0-881A18DC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79CE466-1362-4C08-B0B1-700D96F66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54AB700-C31A-4AA3-9B07-DB751117A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C5A38A4B-269C-42FF-BE62-622B420D9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00F2E5B-1730-4729-9525-2CB60E0AB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E01EF20-F2F4-4AB2-9016-FAA894D24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23BB0AF-8BD9-4D25-A6AF-3261918B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74A8698B-FB7E-450B-BE46-F46D3849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188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8564F7-0EB5-4BE1-A2A5-3AE42F5FC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148F016-2778-44CB-BDFF-E74B03E1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EBF50F6-99AF-407F-8C41-873D36C2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9B7B319-7DD5-43AC-8D36-9F6F7C21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1653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EF05F99-7065-4208-8450-2AEB9456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A883DF8-1B77-46FB-8721-3F755B8D6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A87B501-FCF9-4542-8614-F39D9E69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2060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99B91E-9ECE-4709-AE75-2F702BC3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FAEF701-4BC3-4684-AAFC-8BBB014E4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AFF47E9-1929-463E-BA52-796F5C878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062AB82-189A-4147-925F-EB5A9B52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58B539E-B730-4C05-BDA2-F4F4B03E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61351B3-F238-40B3-88BF-7442235A1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081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667B05-C9E6-4250-B13B-3418F1A5C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9A826A54-9E44-4D47-9E94-647E2D978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016572A-D643-43A7-A1C9-A0BAB600E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68F9CF3-B64A-463A-B22D-92EE7A70A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B72456C-FA5A-4728-9E12-387CEB09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CC7F2BA-1002-4201-B58C-D530329B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917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FE006E-978D-47C4-A5A1-55CCA362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DC0C8C1-3B9A-43F0-AD5C-1766C2E9E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DA6A416-1EB1-491E-8778-3155013B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55AF65-86CA-423B-82F5-1FB5E4A48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EF282A7-8027-4100-A8CE-8A86E158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076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8F4FF32-4C93-4BC1-82F6-A970FC898C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F997E7A-55C4-4211-8FD5-B26B26F15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C4BBE66-1C77-42EA-9FD8-84E9ECED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AB35AD1-839E-4349-BB42-DE62519D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F305036-54AD-4CD2-8FCD-BD8704EC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95393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B47B140-7039-4379-AE8A-76344D0DA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9B3BE39-90C9-43B3-9B12-2D6E2AAE3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B7CE71-950E-4E87-BD2C-4181BB0EE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5D8FA-416D-4BFE-BF0E-3AB7715064C0}" type="datetimeFigureOut">
              <a:rPr lang="x-none" smtClean="0"/>
              <a:t>3/23/2022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1B510AA-C822-48BA-9C85-E11F83096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95D73D5-A48B-4AF9-A086-9C4E797D6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67587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725546-3B5F-4633-BE5D-6DD05529E3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8258D86-6640-4DA1-9CCE-391CA82AB8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01785" y="4963886"/>
            <a:ext cx="53884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Presentation By:</a:t>
            </a:r>
            <a:br>
              <a:rPr lang="en-US" sz="2800" dirty="0" smtClean="0"/>
            </a:br>
            <a:r>
              <a:rPr lang="en-US" sz="2800" dirty="0" smtClean="0"/>
              <a:t>Muhammad Usman</a:t>
            </a:r>
          </a:p>
          <a:p>
            <a:pPr algn="ctr"/>
            <a:r>
              <a:rPr lang="en-US" sz="2800" dirty="0" smtClean="0"/>
              <a:t>Mirza Kashif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9306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Nishat</a:t>
            </a:r>
            <a:r>
              <a:rPr lang="en-US" dirty="0"/>
              <a:t> Mills Limited (PSX: NML) is part of the </a:t>
            </a:r>
            <a:r>
              <a:rPr lang="en-US" dirty="0" err="1"/>
              <a:t>Nishat</a:t>
            </a:r>
            <a:r>
              <a:rPr lang="en-US" dirty="0"/>
              <a:t> group of </a:t>
            </a:r>
            <a:r>
              <a:rPr lang="en-US" dirty="0" smtClean="0"/>
              <a:t>companies</a:t>
            </a:r>
          </a:p>
          <a:p>
            <a:r>
              <a:rPr lang="en-US" dirty="0"/>
              <a:t>The company was set up in </a:t>
            </a:r>
            <a:r>
              <a:rPr lang="en-US" dirty="0" smtClean="0"/>
              <a:t>1951</a:t>
            </a:r>
          </a:p>
          <a:p>
            <a:r>
              <a:rPr lang="en-US" dirty="0" smtClean="0"/>
              <a:t>It is engaged in a variety of businesses; from spinning, weaving, bleaching and dyeing to dealing with yarn, cloth and other fabrics</a:t>
            </a:r>
          </a:p>
          <a:p>
            <a:r>
              <a:rPr lang="en-US" dirty="0" smtClean="0"/>
              <a:t>Also </a:t>
            </a:r>
            <a:r>
              <a:rPr lang="en-US" dirty="0"/>
              <a:t>generates, distributes and sells electricity.</a:t>
            </a:r>
          </a:p>
        </p:txBody>
      </p:sp>
    </p:spTree>
    <p:extLst>
      <p:ext uri="{BB962C8B-B14F-4D97-AF65-F5344CB8AC3E}">
        <p14:creationId xmlns:p14="http://schemas.microsoft.com/office/powerpoint/2010/main" val="223108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Shareholding pattern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97076" y="1958182"/>
            <a:ext cx="5756723" cy="3693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958182"/>
            <a:ext cx="47588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at June 30, 2020, over 25 percent of the shares are with the directors, CEO, their spouses and minor </a:t>
            </a:r>
            <a:r>
              <a:rPr lang="en-US" dirty="0" smtClean="0"/>
              <a:t>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CEO, </a:t>
            </a:r>
            <a:r>
              <a:rPr lang="en-US" dirty="0" err="1"/>
              <a:t>Mian</a:t>
            </a:r>
            <a:r>
              <a:rPr lang="en-US" dirty="0"/>
              <a:t> </a:t>
            </a:r>
            <a:r>
              <a:rPr lang="en-US" dirty="0" err="1"/>
              <a:t>Umer</a:t>
            </a:r>
            <a:r>
              <a:rPr lang="en-US" dirty="0"/>
              <a:t> </a:t>
            </a:r>
            <a:r>
              <a:rPr lang="en-US" dirty="0" err="1"/>
              <a:t>Mansha</a:t>
            </a:r>
            <a:r>
              <a:rPr lang="en-US" dirty="0"/>
              <a:t> and the chairman, </a:t>
            </a:r>
            <a:r>
              <a:rPr lang="en-US" dirty="0" err="1"/>
              <a:t>Mian</a:t>
            </a:r>
            <a:r>
              <a:rPr lang="en-US" dirty="0"/>
              <a:t> Hassan </a:t>
            </a:r>
            <a:r>
              <a:rPr lang="en-US" dirty="0" err="1"/>
              <a:t>Mansha</a:t>
            </a:r>
            <a:r>
              <a:rPr lang="en-US" dirty="0"/>
              <a:t> hold roughly 12 percent shares, </a:t>
            </a:r>
            <a:r>
              <a:rPr lang="en-US" dirty="0" smtClean="0"/>
              <a:t>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local general public owns 27 percent, followed by nearly 10 percent by </a:t>
            </a:r>
            <a:r>
              <a:rPr lang="en-US" dirty="0" err="1"/>
              <a:t>modarabas</a:t>
            </a:r>
            <a:r>
              <a:rPr lang="en-US" dirty="0"/>
              <a:t> and mutual </a:t>
            </a:r>
            <a:r>
              <a:rPr lang="en-US" dirty="0" smtClean="0"/>
              <a:t>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About </a:t>
            </a:r>
            <a:r>
              <a:rPr lang="en-US" dirty="0"/>
              <a:t>8 percent shares are held by insurance and associated companies, each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remaining 22 percent shares are with the rest of the shareholder categories.</a:t>
            </a:r>
          </a:p>
        </p:txBody>
      </p:sp>
    </p:spTree>
    <p:extLst>
      <p:ext uri="{BB962C8B-B14F-4D97-AF65-F5344CB8AC3E}">
        <p14:creationId xmlns:p14="http://schemas.microsoft.com/office/powerpoint/2010/main" val="2027921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Historical operational performance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02761" y="1796257"/>
            <a:ext cx="6715373" cy="4038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0075" y="1796257"/>
            <a:ext cx="49026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contracting consecutively for two years, revenue for the company grew by 2.6 percent during </a:t>
            </a:r>
            <a:r>
              <a:rPr lang="en-US" dirty="0" smtClean="0"/>
              <a:t>FY17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During </a:t>
            </a:r>
            <a:r>
              <a:rPr lang="en-US" dirty="0"/>
              <a:t>the year, export sales increased by a marginal 2 percent, while an additional Rs 841 million was earned in duty draw back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cost of production </a:t>
            </a:r>
            <a:r>
              <a:rPr lang="en-US" dirty="0" smtClean="0"/>
              <a:t>increase </a:t>
            </a:r>
            <a:r>
              <a:rPr lang="en-US" dirty="0"/>
              <a:t>to 89 percent of revenue did not allow for gross margins to improve, that reduced to nearly 11 percent of </a:t>
            </a:r>
            <a:r>
              <a:rPr lang="en-US" dirty="0" smtClean="0"/>
              <a:t>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was attributed to increase in minimum wages from Rs 13,000 to Rs 14,000; increase in fuel costs and a rise in raw material costs. 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effect of this was also reflected in the net margin that fell to 8.7 percent, compared to over 10 percent in the year before.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3796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44E893-34FD-49C0-8F30-FCB8376F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729C7CAE-61E3-40F8-A177-BEBC543C8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3367" y="236987"/>
            <a:ext cx="10625266" cy="638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11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B28BF9-B6F2-4F9B-96FF-2E08020AD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621333F3-3BA8-40B3-A951-38329BA50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151" y="231656"/>
            <a:ext cx="11155697" cy="639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802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B3C627-C9EA-4746-BAFE-C49F8996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EFDAD749-EFA6-46DC-8CCE-D910C38AE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0084" y="239620"/>
            <a:ext cx="8411832" cy="637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06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466</Words>
  <Application>Microsoft Office PowerPoint</Application>
  <PresentationFormat>Widescreen</PresentationFormat>
  <Paragraphs>29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Georgia</vt:lpstr>
      <vt:lpstr>Office Theme</vt:lpstr>
      <vt:lpstr>PowerPoint Presentation</vt:lpstr>
      <vt:lpstr>Introduction</vt:lpstr>
      <vt:lpstr>Shareholding pattern</vt:lpstr>
      <vt:lpstr>Historical operational performance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Kashif</cp:lastModifiedBy>
  <cp:revision>9</cp:revision>
  <dcterms:created xsi:type="dcterms:W3CDTF">2022-03-22T05:44:22Z</dcterms:created>
  <dcterms:modified xsi:type="dcterms:W3CDTF">2022-03-23T12:41:40Z</dcterms:modified>
</cp:coreProperties>
</file>