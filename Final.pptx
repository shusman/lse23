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6" r:id="rId6"/>
    <p:sldId id="257" r:id="rId7"/>
    <p:sldId id="259" r:id="rId8"/>
    <p:sldId id="260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76481" autoAdjust="0"/>
  </p:normalViewPr>
  <p:slideViewPr>
    <p:cSldViewPr snapToGrid="0">
      <p:cViewPr varScale="1">
        <p:scale>
          <a:sx n="53" d="100"/>
          <a:sy n="53" d="100"/>
        </p:scale>
        <p:origin x="13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075E-3825-4B0D-A69C-7FC70C3D08AD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D7C8D-A510-4F04-8063-85F810CC059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505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8A064-2414-4014-AF03-9E25D7612B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2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After contracting consecutively for two years, revenue for the company grew by 2.6 percent during FY17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FY18, revenue grew by 9 percent, despite the raw material prices and low international demand for textile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FY19, the company witnessed the highest growth in revenue seen since FY12, at 18 percent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was lower in FY20 by 4 percent, mostly due to the Covid-19 pandemic that brought business activity and global trade to an abrupt halt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8A064-2414-4014-AF03-9E25D7612B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2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from the graph it can be seen that the Nishat Mills share price follows the same pattern as KSE 100 index which it follows. It has seen a major decrease in the second quarter of 2020 after which along with some fluctuations it is on the increasing </a:t>
            </a:r>
          </a:p>
          <a:p>
            <a:r>
              <a:rPr lang="en-US" dirty="0"/>
              <a:t>Trajectory. This could be due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Covid-19 pandemic that brought business activity and global trade to an abrupt halt. Export sales fell for the first time since FY16, by 5 percent.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61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have increase over the </a:t>
            </a:r>
            <a:r>
              <a:rPr lang="en-US" dirty="0" err="1"/>
              <a:t>the</a:t>
            </a:r>
            <a:r>
              <a:rPr lang="en-US" dirty="0"/>
              <a:t> 13 years in context. It can be seen that Nishat Mills major share of sales come from Export.  In 2019 NM took advantage of the </a:t>
            </a:r>
          </a:p>
          <a:p>
            <a:r>
              <a:rPr lang="en-US" dirty="0"/>
              <a:t>devaluation of the currency that boosted the export sales as seen from the graph.</a:t>
            </a:r>
          </a:p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5009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increase was les than the </a:t>
            </a:r>
            <a:r>
              <a:rPr lang="en-US" dirty="0" err="1"/>
              <a:t>icrease</a:t>
            </a:r>
            <a:r>
              <a:rPr lang="en-US" dirty="0"/>
              <a:t> of CGS which decreased the GP. Overall expenses decreased but due </a:t>
            </a:r>
            <a:r>
              <a:rPr lang="en-US" dirty="0" err="1"/>
              <a:t>ti</a:t>
            </a:r>
            <a:r>
              <a:rPr lang="en-US" dirty="0"/>
              <a:t> decrease in GP </a:t>
            </a:r>
            <a:r>
              <a:rPr lang="en-US" dirty="0" err="1"/>
              <a:t>EBIt</a:t>
            </a:r>
            <a:r>
              <a:rPr lang="en-US" dirty="0"/>
              <a:t> decreased more.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lesser contribution from other income, net margin was marginally lower in 1HFY21 year on year. This should also be taken in account that 2020 was the period when COVID – 19 pandemic spread and lockdowns were initiated which leaded to decrease in the Profit margins.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1900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69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8572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8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80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5442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7336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7989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9006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485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05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3642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C5D8FA-416D-4BFE-BF0E-3AB7715064C0}" type="datetimeFigureOut">
              <a:rPr lang="x-none" smtClean="0"/>
              <a:t>3/29/2022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46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725546-3B5F-4633-BE5D-6DD05529E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8258D86-6640-4DA1-9CCE-391CA82AB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01785" y="4963886"/>
            <a:ext cx="53884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Presentation By:</a:t>
            </a:r>
            <a:br>
              <a:rPr lang="en-US" sz="2800" dirty="0"/>
            </a:br>
            <a:r>
              <a:rPr lang="en-US" sz="2800" dirty="0"/>
              <a:t>Muhammad Usman</a:t>
            </a:r>
          </a:p>
          <a:p>
            <a:pPr algn="ctr"/>
            <a:r>
              <a:rPr lang="en-US" sz="2800" dirty="0"/>
              <a:t>Mirza Kashif</a:t>
            </a:r>
          </a:p>
        </p:txBody>
      </p:sp>
    </p:spTree>
    <p:extLst>
      <p:ext uri="{BB962C8B-B14F-4D97-AF65-F5344CB8AC3E}">
        <p14:creationId xmlns:p14="http://schemas.microsoft.com/office/powerpoint/2010/main" val="189306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Nishat</a:t>
            </a:r>
            <a:r>
              <a:rPr lang="en-US" dirty="0"/>
              <a:t> Mills Limited (PSX: NML) is part of the </a:t>
            </a:r>
            <a:r>
              <a:rPr lang="en-US" dirty="0" err="1"/>
              <a:t>Nishat</a:t>
            </a:r>
            <a:r>
              <a:rPr lang="en-US" dirty="0"/>
              <a:t> group of companies</a:t>
            </a:r>
          </a:p>
          <a:p>
            <a:r>
              <a:rPr lang="en-US" dirty="0"/>
              <a:t>The company was set up in 1951</a:t>
            </a:r>
          </a:p>
          <a:p>
            <a:r>
              <a:rPr lang="en-US" dirty="0"/>
              <a:t>It is engaged in a variety of businesses; from spinning, weaving, bleaching and dyeing to dealing with yarn, cloth and other fabrics</a:t>
            </a:r>
          </a:p>
          <a:p>
            <a:r>
              <a:rPr lang="en-US" dirty="0"/>
              <a:t>Also generates, distributes and sells electricity.</a:t>
            </a:r>
          </a:p>
        </p:txBody>
      </p:sp>
    </p:spTree>
    <p:extLst>
      <p:ext uri="{BB962C8B-B14F-4D97-AF65-F5344CB8AC3E}">
        <p14:creationId xmlns:p14="http://schemas.microsoft.com/office/powerpoint/2010/main" val="223108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Shareholding pattern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97076" y="1958182"/>
            <a:ext cx="5756723" cy="3693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58182"/>
            <a:ext cx="47588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at June 30, 2020, over 25 percent of the shares are with the directors, CEO, their spouses and minor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CEO, </a:t>
            </a:r>
            <a:r>
              <a:rPr lang="en-US" dirty="0" err="1"/>
              <a:t>Mian</a:t>
            </a:r>
            <a:r>
              <a:rPr lang="en-US" dirty="0"/>
              <a:t> </a:t>
            </a:r>
            <a:r>
              <a:rPr lang="en-US" dirty="0" err="1"/>
              <a:t>Umer</a:t>
            </a:r>
            <a:r>
              <a:rPr lang="en-US" dirty="0"/>
              <a:t> </a:t>
            </a:r>
            <a:r>
              <a:rPr lang="en-US" dirty="0" err="1"/>
              <a:t>Mansha</a:t>
            </a:r>
            <a:r>
              <a:rPr lang="en-US" dirty="0"/>
              <a:t> and the chairman, </a:t>
            </a:r>
            <a:r>
              <a:rPr lang="en-US" dirty="0" err="1"/>
              <a:t>Mian</a:t>
            </a:r>
            <a:r>
              <a:rPr lang="en-US" dirty="0"/>
              <a:t> Hassan </a:t>
            </a:r>
            <a:r>
              <a:rPr lang="en-US" dirty="0" err="1"/>
              <a:t>Mansha</a:t>
            </a:r>
            <a:r>
              <a:rPr lang="en-US" dirty="0"/>
              <a:t> hold roughly 12 percent shares,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local general public owns 27 percent, followed by nearly 10 percent by </a:t>
            </a:r>
            <a:r>
              <a:rPr lang="en-US" dirty="0" err="1"/>
              <a:t>modarabas</a:t>
            </a:r>
            <a:r>
              <a:rPr lang="en-US" dirty="0"/>
              <a:t> and mutual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8 percent shares are held by insurance and associated companies,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remaining 22 percent shares are with the rest of the shareholder categories.</a:t>
            </a:r>
          </a:p>
        </p:txBody>
      </p:sp>
    </p:spTree>
    <p:extLst>
      <p:ext uri="{BB962C8B-B14F-4D97-AF65-F5344CB8AC3E}">
        <p14:creationId xmlns:p14="http://schemas.microsoft.com/office/powerpoint/2010/main" val="202792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operational performance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7280" y="1796257"/>
            <a:ext cx="10058400" cy="44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6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848406"/>
            <a:ext cx="10148330" cy="504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1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44E893-34FD-49C0-8F30-FCB8376F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</a:t>
            </a:r>
            <a:r>
              <a:rPr lang="en-US" dirty="0" smtClean="0"/>
              <a:t>e Price (2020-2021)</a:t>
            </a:r>
            <a:endParaRPr lang="x-non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729C7CAE-61E3-40F8-A177-BEBC543C8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6904" y="1737360"/>
            <a:ext cx="9059152" cy="45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11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B28BF9-B6F2-4F9B-96FF-2E08020A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21333F3-3BA8-40B3-A951-38329BA50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9472" y="286603"/>
            <a:ext cx="9974016" cy="57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0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B3C627-C9EA-4746-BAFE-C49F8996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EFDAD749-EFA6-46DC-8CCE-D910C38AE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7276" y="286603"/>
            <a:ext cx="7557448" cy="57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0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8CC9F2-9516-46D3-87C4-966B7732E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YOU!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87DA58-13C6-48A0-9B28-E3D9BF988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203892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</TotalTime>
  <Words>459</Words>
  <Application>Microsoft Office PowerPoint</Application>
  <PresentationFormat>Widescreen</PresentationFormat>
  <Paragraphs>30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Retrospect</vt:lpstr>
      <vt:lpstr>PowerPoint Presentation</vt:lpstr>
      <vt:lpstr>Introduction</vt:lpstr>
      <vt:lpstr>Shareholding pattern</vt:lpstr>
      <vt:lpstr>Historical operational performance</vt:lpstr>
      <vt:lpstr>PowerPoint Presentation</vt:lpstr>
      <vt:lpstr>Share Price (2020-2021)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Kashif</cp:lastModifiedBy>
  <cp:revision>13</cp:revision>
  <dcterms:created xsi:type="dcterms:W3CDTF">2022-03-22T05:44:22Z</dcterms:created>
  <dcterms:modified xsi:type="dcterms:W3CDTF">2022-03-29T07:02:32Z</dcterms:modified>
</cp:coreProperties>
</file>