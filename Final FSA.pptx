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1.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4" r:id="rId2"/>
    <p:sldMasterId id="2147483696" r:id="rId3"/>
    <p:sldMasterId id="2147483708" r:id="rId4"/>
    <p:sldMasterId id="2147483720" r:id="rId5"/>
  </p:sldMasterIdLst>
  <p:notesMasterIdLst>
    <p:notesMasterId r:id="rId30"/>
  </p:notesMasterIdLst>
  <p:sldIdLst>
    <p:sldId id="330" r:id="rId6"/>
    <p:sldId id="312" r:id="rId7"/>
    <p:sldId id="313" r:id="rId8"/>
    <p:sldId id="314" r:id="rId9"/>
    <p:sldId id="315" r:id="rId10"/>
    <p:sldId id="316" r:id="rId11"/>
    <p:sldId id="317" r:id="rId12"/>
    <p:sldId id="257" r:id="rId13"/>
    <p:sldId id="258" r:id="rId14"/>
    <p:sldId id="259" r:id="rId15"/>
    <p:sldId id="261" r:id="rId16"/>
    <p:sldId id="318" r:id="rId17"/>
    <p:sldId id="319" r:id="rId18"/>
    <p:sldId id="260" r:id="rId19"/>
    <p:sldId id="320" r:id="rId20"/>
    <p:sldId id="321" r:id="rId21"/>
    <p:sldId id="322" r:id="rId22"/>
    <p:sldId id="262" r:id="rId23"/>
    <p:sldId id="323" r:id="rId24"/>
    <p:sldId id="324" r:id="rId25"/>
    <p:sldId id="326" r:id="rId26"/>
    <p:sldId id="327" r:id="rId27"/>
    <p:sldId id="328" r:id="rId28"/>
    <p:sldId id="329" r:id="rId29"/>
  </p:sldIdLst>
  <p:sldSz cx="9144000" cy="5143500" type="screen16x9"/>
  <p:notesSz cx="6858000" cy="9144000"/>
  <p:embeddedFontLst>
    <p:embeddedFont>
      <p:font typeface="Assistant" panose="02000000000000000000" pitchFamily="2" charset="0"/>
      <p:regular r:id="rId31"/>
      <p:bold r:id="rId32"/>
    </p:embeddedFont>
    <p:embeddedFont>
      <p:font typeface="Calibri" panose="020F0502020204030204" pitchFamily="34" charset="0"/>
      <p:regular r:id="rId33"/>
      <p:bold r:id="rId34"/>
      <p:italic r:id="rId35"/>
      <p:boldItalic r:id="rId36"/>
    </p:embeddedFont>
    <p:embeddedFont>
      <p:font typeface="Calibri Light" panose="020F0302020204030204" pitchFamily="34" charset="0"/>
      <p:regular r:id="rId37"/>
      <p:italic r:id="rId38"/>
    </p:embeddedFont>
    <p:embeddedFont>
      <p:font typeface="Nunito Sans" pitchFamily="2" charset="0"/>
      <p:regular r:id="rId39"/>
      <p:bold r:id="rId40"/>
      <p:italic r:id="rId41"/>
      <p:boldItalic r:id="rId42"/>
    </p:embeddedFont>
    <p:embeddedFont>
      <p:font typeface="Open Sans ExtraBold" panose="020B0906030804020204" pitchFamily="34" charset="0"/>
      <p:bold r:id="rId43"/>
      <p:boldItalic r:id="rId44"/>
    </p:embeddedFont>
    <p:embeddedFont>
      <p:font typeface="Roboto" panose="02000000000000000000" pitchFamily="2" charset="0"/>
      <p:regular r:id="rId45"/>
      <p:bold r:id="rId46"/>
      <p:italic r:id="rId47"/>
      <p:boldItalic r:id="rId48"/>
    </p:embeddedFont>
    <p:embeddedFont>
      <p:font typeface="Roboto Condensed"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4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7D4A99-3AD0-4966-AF06-DF12793B5881}">
  <a:tblStyle styleId="{B97D4A99-3AD0-4966-AF06-DF12793B58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62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 /><Relationship Id="rId18" Type="http://schemas.openxmlformats.org/officeDocument/2006/relationships/slide" Target="slides/slide13.xml" /><Relationship Id="rId26" Type="http://schemas.openxmlformats.org/officeDocument/2006/relationships/slide" Target="slides/slide21.xml" /><Relationship Id="rId39" Type="http://schemas.openxmlformats.org/officeDocument/2006/relationships/font" Target="fonts/font9.fntdata" /><Relationship Id="rId21" Type="http://schemas.openxmlformats.org/officeDocument/2006/relationships/slide" Target="slides/slide16.xml" /><Relationship Id="rId34" Type="http://schemas.openxmlformats.org/officeDocument/2006/relationships/font" Target="fonts/font4.fntdata" /><Relationship Id="rId42" Type="http://schemas.openxmlformats.org/officeDocument/2006/relationships/font" Target="fonts/font12.fntdata" /><Relationship Id="rId47" Type="http://schemas.openxmlformats.org/officeDocument/2006/relationships/font" Target="fonts/font17.fntdata" /><Relationship Id="rId50" Type="http://schemas.openxmlformats.org/officeDocument/2006/relationships/font" Target="fonts/font20.fntdata" /><Relationship Id="rId55" Type="http://schemas.openxmlformats.org/officeDocument/2006/relationships/theme" Target="theme/theme1.xml" /><Relationship Id="rId7" Type="http://schemas.openxmlformats.org/officeDocument/2006/relationships/slide" Target="slides/slide2.xml" /><Relationship Id="rId12" Type="http://schemas.openxmlformats.org/officeDocument/2006/relationships/slide" Target="slides/slide7.xml" /><Relationship Id="rId17" Type="http://schemas.openxmlformats.org/officeDocument/2006/relationships/slide" Target="slides/slide12.xml" /><Relationship Id="rId25" Type="http://schemas.openxmlformats.org/officeDocument/2006/relationships/slide" Target="slides/slide20.xml" /><Relationship Id="rId33" Type="http://schemas.openxmlformats.org/officeDocument/2006/relationships/font" Target="fonts/font3.fntdata" /><Relationship Id="rId38" Type="http://schemas.openxmlformats.org/officeDocument/2006/relationships/font" Target="fonts/font8.fntdata" /><Relationship Id="rId46" Type="http://schemas.openxmlformats.org/officeDocument/2006/relationships/font" Target="fonts/font16.fntdata" /><Relationship Id="rId2" Type="http://schemas.openxmlformats.org/officeDocument/2006/relationships/slideMaster" Target="slideMasters/slideMaster2.xml" /><Relationship Id="rId16" Type="http://schemas.openxmlformats.org/officeDocument/2006/relationships/slide" Target="slides/slide11.xml" /><Relationship Id="rId20" Type="http://schemas.openxmlformats.org/officeDocument/2006/relationships/slide" Target="slides/slide15.xml" /><Relationship Id="rId29" Type="http://schemas.openxmlformats.org/officeDocument/2006/relationships/slide" Target="slides/slide24.xml" /><Relationship Id="rId41" Type="http://schemas.openxmlformats.org/officeDocument/2006/relationships/font" Target="fonts/font11.fntdata" /><Relationship Id="rId54"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1.xml" /><Relationship Id="rId11" Type="http://schemas.openxmlformats.org/officeDocument/2006/relationships/slide" Target="slides/slide6.xml" /><Relationship Id="rId24" Type="http://schemas.openxmlformats.org/officeDocument/2006/relationships/slide" Target="slides/slide19.xml" /><Relationship Id="rId32" Type="http://schemas.openxmlformats.org/officeDocument/2006/relationships/font" Target="fonts/font2.fntdata" /><Relationship Id="rId37" Type="http://schemas.openxmlformats.org/officeDocument/2006/relationships/font" Target="fonts/font7.fntdata" /><Relationship Id="rId40" Type="http://schemas.openxmlformats.org/officeDocument/2006/relationships/font" Target="fonts/font10.fntdata" /><Relationship Id="rId45" Type="http://schemas.openxmlformats.org/officeDocument/2006/relationships/font" Target="fonts/font15.fntdata" /><Relationship Id="rId53" Type="http://schemas.openxmlformats.org/officeDocument/2006/relationships/presProps" Target="presProps.xml" /><Relationship Id="rId5" Type="http://schemas.openxmlformats.org/officeDocument/2006/relationships/slideMaster" Target="slideMasters/slideMaster5.xml" /><Relationship Id="rId15" Type="http://schemas.openxmlformats.org/officeDocument/2006/relationships/slide" Target="slides/slide10.xml" /><Relationship Id="rId23" Type="http://schemas.openxmlformats.org/officeDocument/2006/relationships/slide" Target="slides/slide18.xml" /><Relationship Id="rId28" Type="http://schemas.openxmlformats.org/officeDocument/2006/relationships/slide" Target="slides/slide23.xml" /><Relationship Id="rId36" Type="http://schemas.openxmlformats.org/officeDocument/2006/relationships/font" Target="fonts/font6.fntdata" /><Relationship Id="rId49" Type="http://schemas.openxmlformats.org/officeDocument/2006/relationships/font" Target="fonts/font19.fntdata" /><Relationship Id="rId10" Type="http://schemas.openxmlformats.org/officeDocument/2006/relationships/slide" Target="slides/slide5.xml" /><Relationship Id="rId19" Type="http://schemas.openxmlformats.org/officeDocument/2006/relationships/slide" Target="slides/slide14.xml" /><Relationship Id="rId31" Type="http://schemas.openxmlformats.org/officeDocument/2006/relationships/font" Target="fonts/font1.fntdata" /><Relationship Id="rId44" Type="http://schemas.openxmlformats.org/officeDocument/2006/relationships/font" Target="fonts/font14.fntdata" /><Relationship Id="rId52" Type="http://schemas.openxmlformats.org/officeDocument/2006/relationships/font" Target="fonts/font22.fntdata" /><Relationship Id="rId4" Type="http://schemas.openxmlformats.org/officeDocument/2006/relationships/slideMaster" Target="slideMasters/slideMaster4.xml" /><Relationship Id="rId9" Type="http://schemas.openxmlformats.org/officeDocument/2006/relationships/slide" Target="slides/slide4.xml" /><Relationship Id="rId14" Type="http://schemas.openxmlformats.org/officeDocument/2006/relationships/slide" Target="slides/slide9.xml" /><Relationship Id="rId22" Type="http://schemas.openxmlformats.org/officeDocument/2006/relationships/slide" Target="slides/slide17.xml" /><Relationship Id="rId27" Type="http://schemas.openxmlformats.org/officeDocument/2006/relationships/slide" Target="slides/slide22.xml" /><Relationship Id="rId30" Type="http://schemas.openxmlformats.org/officeDocument/2006/relationships/notesMaster" Target="notesMasters/notesMaster1.xml" /><Relationship Id="rId35" Type="http://schemas.openxmlformats.org/officeDocument/2006/relationships/font" Target="fonts/font5.fntdata" /><Relationship Id="rId43" Type="http://schemas.openxmlformats.org/officeDocument/2006/relationships/font" Target="fonts/font13.fntdata" /><Relationship Id="rId48" Type="http://schemas.openxmlformats.org/officeDocument/2006/relationships/font" Target="fonts/font18.fntdata" /><Relationship Id="rId56" Type="http://schemas.openxmlformats.org/officeDocument/2006/relationships/tableStyles" Target="tableStyles.xml" /><Relationship Id="rId8" Type="http://schemas.openxmlformats.org/officeDocument/2006/relationships/slide" Target="slides/slide3.xml" /><Relationship Id="rId51" Type="http://schemas.openxmlformats.org/officeDocument/2006/relationships/font" Target="fonts/font21.fntdata" /><Relationship Id="rId3" Type="http://schemas.openxmlformats.org/officeDocument/2006/relationships/slideMaster" Target="slideMasters/slideMaster3.xml" /></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1fbb86b216254a95/Uni/Semester%206/FSA/Project/Final/FSA%20Project%20A%20(2)%20(1).xlsx" TargetMode="External" /><Relationship Id="rId2" Type="http://schemas.microsoft.com/office/2011/relationships/chartColorStyle" Target="colors1.xml" /><Relationship Id="rId1" Type="http://schemas.microsoft.com/office/2011/relationships/chartStyle" Target="style1.xml" /></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fbb86b216254a95/Uni/Semester%206/FSA/Project/Final/FSA%20Project%20A%20(2)%20(1).xlsx" TargetMode="External" /><Relationship Id="rId2" Type="http://schemas.microsoft.com/office/2011/relationships/chartColorStyle" Target="colors2.xml" /><Relationship Id="rId1" Type="http://schemas.microsoft.com/office/2011/relationships/chartStyle" Target="style2.xml" /></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fbb86b216254a95/Uni/Semester%206/FSA/Project/Final/FSA%20Project%20A%20(2)%20(1).xlsx" TargetMode="External" /><Relationship Id="rId2" Type="http://schemas.microsoft.com/office/2011/relationships/chartColorStyle" Target="colors3.xml" /><Relationship Id="rId1" Type="http://schemas.microsoft.com/office/2011/relationships/chartStyle" Target="style3.xml" /></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fbb86b216254a95/Uni/Semester%206/FSA/Project/Final/FSA%20Project%20A%20(2)%20(1).xlsx" TargetMode="External" /><Relationship Id="rId2" Type="http://schemas.microsoft.com/office/2011/relationships/chartColorStyle" Target="colors4.xml" /><Relationship Id="rId1" Type="http://schemas.microsoft.com/office/2011/relationships/chartStyle" Target="style4.xml" /></Relationships>
</file>

<file path=ppt/charts/_rels/chart5.xml.rels><?xml version="1.0" encoding="UTF-8" standalone="yes"?>
<Relationships xmlns="http://schemas.openxmlformats.org/package/2006/relationships"><Relationship Id="rId3" Type="http://schemas.openxmlformats.org/officeDocument/2006/relationships/oleObject" Target="file:///C:\Users\student\Desktop\Abdr\FSA%20Project%20A%20(2)%20(1).xlsx" TargetMode="External" /><Relationship Id="rId2" Type="http://schemas.microsoft.com/office/2011/relationships/chartColorStyle" Target="colors5.xml" /><Relationship Id="rId1" Type="http://schemas.microsoft.com/office/2011/relationships/chartStyle" Target="style5.xml" /></Relationships>
</file>

<file path=ppt/charts/_rels/chart6.xml.rels><?xml version="1.0" encoding="UTF-8" standalone="yes"?>
<Relationships xmlns="http://schemas.openxmlformats.org/package/2006/relationships"><Relationship Id="rId3" Type="http://schemas.openxmlformats.org/officeDocument/2006/relationships/oleObject" Target="file:///C:\Users\student\Desktop\Abdr\FSA%20Project%20A%20(2)%20(1).xlsx" TargetMode="External" /><Relationship Id="rId2" Type="http://schemas.microsoft.com/office/2011/relationships/chartColorStyle" Target="colors6.xml" /><Relationship Id="rId1" Type="http://schemas.microsoft.com/office/2011/relationships/chartStyle" Target="style6.xml" /></Relationships>
</file>

<file path=ppt/charts/_rels/chart7.xml.rels><?xml version="1.0" encoding="UTF-8" standalone="yes"?>
<Relationships xmlns="http://schemas.openxmlformats.org/package/2006/relationships"><Relationship Id="rId3" Type="http://schemas.openxmlformats.org/officeDocument/2006/relationships/oleObject" Target="file:///C:\Users\student\Desktop\Abdr\FSA%20Project%20A%20(2)%20(1).xlsx" TargetMode="External" /><Relationship Id="rId2" Type="http://schemas.microsoft.com/office/2011/relationships/chartColorStyle" Target="colors7.xml" /><Relationship Id="rId1" Type="http://schemas.microsoft.com/office/2011/relationships/chartStyle" Target="style7.xml" /></Relationships>
</file>

<file path=ppt/charts/_rels/chart8.xml.rels><?xml version="1.0" encoding="UTF-8" standalone="yes"?>
<Relationships xmlns="http://schemas.openxmlformats.org/package/2006/relationships"><Relationship Id="rId3" Type="http://schemas.openxmlformats.org/officeDocument/2006/relationships/oleObject" Target="file:///C:\Users\z\Desktop\FSA%20Project%20A%20(2)%20(1).xlsx" TargetMode="External" /><Relationship Id="rId2" Type="http://schemas.microsoft.com/office/2011/relationships/chartColorStyle" Target="colors8.xml" /><Relationship Id="rId1" Type="http://schemas.microsoft.com/office/2011/relationships/chartStyle" Target="style8.xml" /></Relationships>
</file>

<file path=ppt/charts/_rels/chart9.xml.rels><?xml version="1.0" encoding="UTF-8" standalone="yes"?>
<Relationships xmlns="http://schemas.openxmlformats.org/package/2006/relationships"><Relationship Id="rId3" Type="http://schemas.openxmlformats.org/officeDocument/2006/relationships/oleObject" Target="file:///C:\Users\z\Desktop\FSA%20Project%20A%20(2)%20(1).xlsx" TargetMode="External" /><Relationship Id="rId2" Type="http://schemas.microsoft.com/office/2011/relationships/chartColorStyle" Target="colors9.xml" /><Relationship Id="rId1" Type="http://schemas.microsoft.com/office/2011/relationships/chartStyle" Target="style9.xml" /></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xlsx" /><Relationship Id="rId2" Type="http://schemas.microsoft.com/office/2011/relationships/chartColorStyle" Target="colors10.xml" /><Relationship Id="rId1" Type="http://schemas.microsoft.com/office/2011/relationships/chartStyle" Target="style10.xml" /></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xlsx" /><Relationship Id="rId2" Type="http://schemas.microsoft.com/office/2011/relationships/chartColorStyle" Target="colors11.xml" /><Relationship Id="rId1" Type="http://schemas.microsoft.com/office/2011/relationships/chartStyle" Target="style11.xml" /></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2.xlsx" /><Relationship Id="rId2" Type="http://schemas.microsoft.com/office/2011/relationships/chartColorStyle" Target="colors12.xml" /><Relationship Id="rId1" Type="http://schemas.microsoft.com/office/2011/relationships/chartStyle" Target="style12.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r>
              <a:rPr lang="en-US" sz="2000"/>
              <a:t>Current Ratio</a:t>
            </a:r>
          </a:p>
        </c:rich>
      </c:tx>
      <c:overlay val="0"/>
      <c:spPr>
        <a:noFill/>
        <a:ln>
          <a:noFill/>
        </a:ln>
        <a:effectLst/>
      </c:spPr>
      <c:txPr>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2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5'!$C$103:$G$103</c:f>
              <c:numCache>
                <c:formatCode>0.00</c:formatCode>
                <c:ptCount val="5"/>
                <c:pt idx="0">
                  <c:v>1.4621940929982027</c:v>
                </c:pt>
                <c:pt idx="1">
                  <c:v>1.5377742113933561</c:v>
                </c:pt>
                <c:pt idx="2">
                  <c:v>1.3925179521311561</c:v>
                </c:pt>
                <c:pt idx="3">
                  <c:v>1.0943480426974275</c:v>
                </c:pt>
                <c:pt idx="4">
                  <c:v>1.3405573555453181</c:v>
                </c:pt>
              </c:numCache>
            </c:numRef>
          </c:val>
          <c:extLst>
            <c:ext xmlns:c16="http://schemas.microsoft.com/office/drawing/2014/chart" uri="{C3380CC4-5D6E-409C-BE32-E72D297353CC}">
              <c16:uniqueId val="{00000000-8742-4A1C-A75E-7DB42EA41AFF}"/>
            </c:ext>
          </c:extLst>
        </c:ser>
        <c:dLbls>
          <c:dLblPos val="outEnd"/>
          <c:showLegendKey val="0"/>
          <c:showVal val="1"/>
          <c:showCatName val="0"/>
          <c:showSerName val="0"/>
          <c:showPercent val="0"/>
          <c:showBubbleSize val="0"/>
        </c:dLbls>
        <c:gapWidth val="444"/>
        <c:overlap val="-90"/>
        <c:axId val="480624192"/>
        <c:axId val="480622880"/>
      </c:barChart>
      <c:catAx>
        <c:axId val="480624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cap="all" spc="120" normalizeH="0" baseline="0">
                <a:solidFill>
                  <a:schemeClr val="tx1">
                    <a:lumMod val="65000"/>
                    <a:lumOff val="35000"/>
                  </a:schemeClr>
                </a:solidFill>
                <a:latin typeface="+mn-lt"/>
                <a:ea typeface="+mn-ea"/>
                <a:cs typeface="+mn-cs"/>
              </a:defRPr>
            </a:pPr>
            <a:endParaRPr lang="en-US"/>
          </a:p>
        </c:txPr>
        <c:crossAx val="480622880"/>
        <c:crosses val="autoZero"/>
        <c:auto val="1"/>
        <c:lblAlgn val="ctr"/>
        <c:lblOffset val="100"/>
        <c:noMultiLvlLbl val="0"/>
      </c:catAx>
      <c:valAx>
        <c:axId val="480622880"/>
        <c:scaling>
          <c:orientation val="minMax"/>
        </c:scaling>
        <c:delete val="1"/>
        <c:axPos val="l"/>
        <c:numFmt formatCode="0.00" sourceLinked="1"/>
        <c:majorTickMark val="none"/>
        <c:minorTickMark val="none"/>
        <c:tickLblPos val="nextTo"/>
        <c:crossAx val="480624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r>
              <a:rPr lang="en-US" sz="2000"/>
              <a:t>Acid Test Ratio</a:t>
            </a:r>
          </a:p>
        </c:rich>
      </c:tx>
      <c:overlay val="0"/>
      <c:spPr>
        <a:noFill/>
        <a:ln>
          <a:noFill/>
        </a:ln>
        <a:effectLst/>
      </c:spPr>
      <c:txPr>
        <a:bodyPr rot="0" spcFirstLastPara="1" vertOverflow="ellipsis" vert="horz" wrap="square" anchor="ctr" anchorCtr="1"/>
        <a:lstStyle/>
        <a:p>
          <a:pPr>
            <a:defRPr sz="20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0555555555555555E-2"/>
          <c:y val="0.16388888888888889"/>
          <c:w val="0.93888888888888888"/>
          <c:h val="0.72721456692913389"/>
        </c:manualLayout>
      </c:layout>
      <c:barChart>
        <c:barDir val="col"/>
        <c:grouping val="clustered"/>
        <c:varyColors val="0"/>
        <c:ser>
          <c:idx val="0"/>
          <c:order val="0"/>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20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5'!$C$104:$G$104</c:f>
              <c:numCache>
                <c:formatCode>0.00</c:formatCode>
                <c:ptCount val="5"/>
                <c:pt idx="0">
                  <c:v>0.76253916629617291</c:v>
                </c:pt>
                <c:pt idx="1">
                  <c:v>0.69137522286692576</c:v>
                </c:pt>
                <c:pt idx="2">
                  <c:v>0.79191560555999951</c:v>
                </c:pt>
                <c:pt idx="3">
                  <c:v>0.5294362560416167</c:v>
                </c:pt>
                <c:pt idx="4">
                  <c:v>0.57527922193877834</c:v>
                </c:pt>
              </c:numCache>
            </c:numRef>
          </c:val>
          <c:extLst>
            <c:ext xmlns:c16="http://schemas.microsoft.com/office/drawing/2014/chart" uri="{C3380CC4-5D6E-409C-BE32-E72D297353CC}">
              <c16:uniqueId val="{00000000-918E-4307-BF0A-7127CBF867BA}"/>
            </c:ext>
          </c:extLst>
        </c:ser>
        <c:dLbls>
          <c:dLblPos val="outEnd"/>
          <c:showLegendKey val="0"/>
          <c:showVal val="1"/>
          <c:showCatName val="0"/>
          <c:showSerName val="0"/>
          <c:showPercent val="0"/>
          <c:showBubbleSize val="0"/>
        </c:dLbls>
        <c:gapWidth val="444"/>
        <c:overlap val="-90"/>
        <c:axId val="286836424"/>
        <c:axId val="286842000"/>
      </c:barChart>
      <c:catAx>
        <c:axId val="28683642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cap="all" spc="120" normalizeH="0" baseline="0">
                <a:solidFill>
                  <a:schemeClr val="tx1">
                    <a:lumMod val="65000"/>
                    <a:lumOff val="35000"/>
                  </a:schemeClr>
                </a:solidFill>
                <a:latin typeface="+mn-lt"/>
                <a:ea typeface="+mn-ea"/>
                <a:cs typeface="+mn-cs"/>
              </a:defRPr>
            </a:pPr>
            <a:endParaRPr lang="en-US"/>
          </a:p>
        </c:txPr>
        <c:crossAx val="286842000"/>
        <c:crosses val="autoZero"/>
        <c:auto val="1"/>
        <c:lblAlgn val="ctr"/>
        <c:lblOffset val="100"/>
        <c:noMultiLvlLbl val="0"/>
      </c:catAx>
      <c:valAx>
        <c:axId val="286842000"/>
        <c:scaling>
          <c:orientation val="minMax"/>
        </c:scaling>
        <c:delete val="1"/>
        <c:axPos val="l"/>
        <c:numFmt formatCode="0.00" sourceLinked="1"/>
        <c:majorTickMark val="none"/>
        <c:minorTickMark val="none"/>
        <c:tickLblPos val="nextTo"/>
        <c:crossAx val="2868364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2400" b="1">
                <a:latin typeface="Times New Roman" panose="02020603050405020304" pitchFamily="18" charset="0"/>
                <a:cs typeface="Times New Roman" panose="02020603050405020304" pitchFamily="18" charset="0"/>
              </a:rPr>
              <a:t>Days Sales in Recievable</a:t>
            </a:r>
          </a:p>
        </c:rich>
      </c:tx>
      <c:overlay val="0"/>
      <c:spPr>
        <a:noFill/>
        <a:ln>
          <a:noFill/>
        </a:ln>
        <a:effectLst/>
      </c:spPr>
      <c:txPr>
        <a:bodyPr rot="0" spcFirstLastPara="1" vertOverflow="ellipsis" vert="horz" wrap="square" anchor="ctr" anchorCtr="1"/>
        <a:lstStyle/>
        <a:p>
          <a:pPr>
            <a:defRPr sz="2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dLbls>
            <c:dLbl>
              <c:idx val="0"/>
              <c:layout>
                <c:manualLayout>
                  <c:x val="-6.3222222222222221E-2"/>
                  <c:y val="-5.09259259259260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866-4435-8799-E12BCC20E82C}"/>
                </c:ext>
              </c:extLst>
            </c:dLbl>
            <c:dLbl>
              <c:idx val="1"/>
              <c:layout>
                <c:manualLayout>
                  <c:x val="-6.8777777777777827E-2"/>
                  <c:y val="4.62962962962962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866-4435-8799-E12BCC20E82C}"/>
                </c:ext>
              </c:extLst>
            </c:dLbl>
            <c:dLbl>
              <c:idx val="2"/>
              <c:layout>
                <c:manualLayout>
                  <c:x val="-4.9333333333333333E-2"/>
                  <c:y val="-4.62962962962962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866-4435-8799-E12BCC20E82C}"/>
                </c:ext>
              </c:extLst>
            </c:dLbl>
            <c:dLbl>
              <c:idx val="3"/>
              <c:layout>
                <c:manualLayout>
                  <c:x val="-6.0444444444444446E-2"/>
                  <c:y val="5.09259259259259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866-4435-8799-E12BCC20E82C}"/>
                </c:ext>
              </c:extLst>
            </c:dLbl>
            <c:dLbl>
              <c:idx val="4"/>
              <c:layout>
                <c:manualLayout>
                  <c:x val="-4.9333333333333437E-2"/>
                  <c:y val="-6.9444444444444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866-4435-8799-E12BCC20E82C}"/>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5'!$C$105:$G$105</c:f>
              <c:numCache>
                <c:formatCode>0.00</c:formatCode>
                <c:ptCount val="5"/>
                <c:pt idx="0">
                  <c:v>25.790502614241678</c:v>
                </c:pt>
                <c:pt idx="1">
                  <c:v>20.461798969346681</c:v>
                </c:pt>
                <c:pt idx="2">
                  <c:v>38.58303421975878</c:v>
                </c:pt>
                <c:pt idx="3">
                  <c:v>28.768422856751698</c:v>
                </c:pt>
                <c:pt idx="4">
                  <c:v>42.099379401923755</c:v>
                </c:pt>
              </c:numCache>
            </c:numRef>
          </c:val>
          <c:smooth val="0"/>
          <c:extLst>
            <c:ext xmlns:c16="http://schemas.microsoft.com/office/drawing/2014/chart" uri="{C3380CC4-5D6E-409C-BE32-E72D297353CC}">
              <c16:uniqueId val="{00000005-C866-4435-8799-E12BCC20E82C}"/>
            </c:ext>
          </c:extLst>
        </c:ser>
        <c:dLbls>
          <c:dLblPos val="ctr"/>
          <c:showLegendKey val="0"/>
          <c:showVal val="1"/>
          <c:showCatName val="0"/>
          <c:showSerName val="0"/>
          <c:showPercent val="0"/>
          <c:showBubbleSize val="0"/>
        </c:dLbls>
        <c:smooth val="0"/>
        <c:axId val="619477800"/>
        <c:axId val="619478128"/>
      </c:lineChart>
      <c:catAx>
        <c:axId val="619477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619478128"/>
        <c:crosses val="autoZero"/>
        <c:auto val="1"/>
        <c:lblAlgn val="ctr"/>
        <c:lblOffset val="100"/>
        <c:noMultiLvlLbl val="0"/>
      </c:catAx>
      <c:valAx>
        <c:axId val="61947812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94778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2400" b="1" dirty="0">
                <a:latin typeface="Times New Roman" panose="02020603050405020304" pitchFamily="18" charset="0"/>
                <a:cs typeface="Times New Roman" panose="02020603050405020304" pitchFamily="18" charset="0"/>
              </a:rPr>
              <a:t>Inventory Turnover</a:t>
            </a: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0"/>
              <c:layout>
                <c:manualLayout>
                  <c:x val="-5.0715441819772555E-2"/>
                  <c:y val="6.94444444444443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CA3-41AB-8C37-4051CD5A61E7}"/>
                </c:ext>
              </c:extLst>
            </c:dLbl>
            <c:dLbl>
              <c:idx val="1"/>
              <c:layout>
                <c:manualLayout>
                  <c:x val="-5.0715441819772528E-2"/>
                  <c:y val="6.01851851851851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CA3-41AB-8C37-4051CD5A61E7}"/>
                </c:ext>
              </c:extLst>
            </c:dLbl>
            <c:dLbl>
              <c:idx val="2"/>
              <c:layout>
                <c:manualLayout>
                  <c:x val="-4.5159886264216971E-2"/>
                  <c:y val="-6.01851851851851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CA3-41AB-8C37-4051CD5A61E7}"/>
                </c:ext>
              </c:extLst>
            </c:dLbl>
            <c:dLbl>
              <c:idx val="3"/>
              <c:layout>
                <c:manualLayout>
                  <c:x val="-5.3493219597550407E-2"/>
                  <c:y val="6.9444444444444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CA3-41AB-8C37-4051CD5A61E7}"/>
                </c:ext>
              </c:extLst>
            </c:dLbl>
            <c:dLbl>
              <c:idx val="4"/>
              <c:layout>
                <c:manualLayout>
                  <c:x val="-3.4048775153105865E-2"/>
                  <c:y val="4.62962962962962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CA3-41AB-8C37-4051CD5A61E7}"/>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5'!$C$106:$G$106</c:f>
              <c:numCache>
                <c:formatCode>0.00</c:formatCode>
                <c:ptCount val="5"/>
                <c:pt idx="0">
                  <c:v>2.8956821244548241</c:v>
                </c:pt>
                <c:pt idx="1">
                  <c:v>2.7303153461892351</c:v>
                </c:pt>
                <c:pt idx="2">
                  <c:v>4.0524563944415846</c:v>
                </c:pt>
                <c:pt idx="3">
                  <c:v>3.1195201192843092</c:v>
                </c:pt>
                <c:pt idx="4">
                  <c:v>2.648054674097188</c:v>
                </c:pt>
              </c:numCache>
            </c:numRef>
          </c:val>
          <c:smooth val="0"/>
          <c:extLst>
            <c:ext xmlns:c16="http://schemas.microsoft.com/office/drawing/2014/chart" uri="{C3380CC4-5D6E-409C-BE32-E72D297353CC}">
              <c16:uniqueId val="{00000005-3CA3-41AB-8C37-4051CD5A61E7}"/>
            </c:ext>
          </c:extLst>
        </c:ser>
        <c:dLbls>
          <c:dLblPos val="ctr"/>
          <c:showLegendKey val="0"/>
          <c:showVal val="1"/>
          <c:showCatName val="0"/>
          <c:showSerName val="0"/>
          <c:showPercent val="0"/>
          <c:showBubbleSize val="0"/>
        </c:dLbls>
        <c:marker val="1"/>
        <c:smooth val="0"/>
        <c:axId val="619646296"/>
        <c:axId val="619644984"/>
      </c:lineChart>
      <c:catAx>
        <c:axId val="619646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en-US"/>
          </a:p>
        </c:txPr>
        <c:crossAx val="619644984"/>
        <c:crosses val="autoZero"/>
        <c:auto val="1"/>
        <c:lblAlgn val="ctr"/>
        <c:lblOffset val="100"/>
        <c:noMultiLvlLbl val="0"/>
      </c:catAx>
      <c:valAx>
        <c:axId val="6196449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9646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US" sz="2400" b="1" dirty="0"/>
              <a:t>TOTAL DEBT RATIO</a:t>
            </a:r>
          </a:p>
        </c:rich>
      </c:tx>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lineChart>
        <c:grouping val="standard"/>
        <c:varyColors val="0"/>
        <c:ser>
          <c:idx val="0"/>
          <c:order val="0"/>
          <c:spPr>
            <a:ln w="38100" cap="rnd">
              <a:solidFill>
                <a:schemeClr val="accent1"/>
              </a:solidFill>
              <a:round/>
            </a:ln>
            <a:effectLst/>
          </c:spPr>
          <c:marker>
            <c:symbol val="none"/>
          </c:marker>
          <c:dLbls>
            <c:dLbl>
              <c:idx val="0"/>
              <c:layout>
                <c:manualLayout>
                  <c:x val="-5.3493219597550309E-2"/>
                  <c:y val="6.481481481481472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D9-4588-BEFA-668CEDEE8FE6}"/>
                </c:ext>
              </c:extLst>
            </c:dLbl>
            <c:dLbl>
              <c:idx val="1"/>
              <c:layout>
                <c:manualLayout>
                  <c:x val="-4.7937664041994753E-2"/>
                  <c:y val="6.48148148148148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D9-4588-BEFA-668CEDEE8FE6}"/>
                </c:ext>
              </c:extLst>
            </c:dLbl>
            <c:dLbl>
              <c:idx val="2"/>
              <c:layout>
                <c:manualLayout>
                  <c:x val="-4.7937664041994753E-2"/>
                  <c:y val="6.48148148148148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D9-4588-BEFA-668CEDEE8FE6}"/>
                </c:ext>
              </c:extLst>
            </c:dLbl>
            <c:dLbl>
              <c:idx val="3"/>
              <c:layout>
                <c:manualLayout>
                  <c:x val="-5.4378810212129279E-2"/>
                  <c:y val="-8.2796297922310358E-2"/>
                </c:manualLayout>
              </c:layout>
              <c:spPr>
                <a:noFill/>
                <a:ln>
                  <a:noFill/>
                </a:ln>
                <a:effectLst/>
              </c:spPr>
              <c:txPr>
                <a:bodyPr rot="0" spcFirstLastPara="1" vertOverflow="ellipsis" vert="horz" wrap="square" lIns="38100" tIns="19050" rIns="38100" bIns="19050" anchor="ctr" anchorCtr="1">
                  <a:noAutofit/>
                </a:bodyPr>
                <a:lstStyle/>
                <a:p>
                  <a:pPr>
                    <a:defRPr sz="2000" b="1"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9.4305095920980894E-2"/>
                      <c:h val="6.0306345572121244E-2"/>
                    </c:manualLayout>
                  </c15:layout>
                </c:ext>
                <c:ext xmlns:c16="http://schemas.microsoft.com/office/drawing/2014/chart" uri="{C3380CC4-5D6E-409C-BE32-E72D297353CC}">
                  <c16:uniqueId val="{00000003-48D9-4588-BEFA-668CEDEE8FE6}"/>
                </c:ext>
              </c:extLst>
            </c:dLbl>
            <c:dLbl>
              <c:idx val="4"/>
              <c:layout>
                <c:manualLayout>
                  <c:x val="-3.4932195975504081E-3"/>
                  <c:y val="1.388888888888884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D9-4588-BEFA-668CEDEE8FE6}"/>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5'!$D$103:$H$103</c:f>
              <c:numCache>
                <c:formatCode>0.00</c:formatCode>
                <c:ptCount val="5"/>
                <c:pt idx="0">
                  <c:v>0.4807248163855542</c:v>
                </c:pt>
                <c:pt idx="1">
                  <c:v>0.50357466039538679</c:v>
                </c:pt>
                <c:pt idx="2">
                  <c:v>0.60449142613996332</c:v>
                </c:pt>
                <c:pt idx="3">
                  <c:v>0.70077228743782416</c:v>
                </c:pt>
                <c:pt idx="4">
                  <c:v>0.62735826616744583</c:v>
                </c:pt>
              </c:numCache>
            </c:numRef>
          </c:val>
          <c:smooth val="0"/>
          <c:extLst>
            <c:ext xmlns:c16="http://schemas.microsoft.com/office/drawing/2014/chart" uri="{C3380CC4-5D6E-409C-BE32-E72D297353CC}">
              <c16:uniqueId val="{00000005-48D9-4588-BEFA-668CEDEE8FE6}"/>
            </c:ext>
          </c:extLst>
        </c:ser>
        <c:dLbls>
          <c:dLblPos val="ctr"/>
          <c:showLegendKey val="0"/>
          <c:showVal val="1"/>
          <c:showCatName val="0"/>
          <c:showSerName val="0"/>
          <c:showPercent val="0"/>
          <c:showBubbleSize val="0"/>
        </c:dLbls>
        <c:smooth val="0"/>
        <c:axId val="180649120"/>
        <c:axId val="180643296"/>
      </c:lineChart>
      <c:catAx>
        <c:axId val="18064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n-lt"/>
                <a:ea typeface="+mn-ea"/>
                <a:cs typeface="+mn-cs"/>
              </a:defRPr>
            </a:pPr>
            <a:endParaRPr lang="en-US"/>
          </a:p>
        </c:txPr>
        <c:crossAx val="180643296"/>
        <c:crosses val="autoZero"/>
        <c:auto val="1"/>
        <c:lblAlgn val="ctr"/>
        <c:lblOffset val="100"/>
        <c:noMultiLvlLbl val="0"/>
      </c:catAx>
      <c:valAx>
        <c:axId val="18064329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6491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j-lt"/>
                <a:ea typeface="+mj-ea"/>
                <a:cs typeface="+mj-cs"/>
              </a:defRPr>
            </a:pPr>
            <a:r>
              <a:rPr lang="en-US" b="1"/>
              <a:t>TOTAL DEBT TO EQUITY CAPITAL </a:t>
            </a:r>
          </a:p>
        </c:rich>
      </c:tx>
      <c:overlay val="0"/>
      <c:spPr>
        <a:noFill/>
        <a:ln>
          <a:noFill/>
        </a:ln>
        <a:effectLst/>
      </c:spPr>
      <c:txPr>
        <a:bodyPr rot="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lineChart>
        <c:grouping val="standard"/>
        <c:varyColors val="0"/>
        <c:ser>
          <c:idx val="0"/>
          <c:order val="0"/>
          <c:spPr>
            <a:ln w="38100" cap="rnd">
              <a:solidFill>
                <a:schemeClr val="accent1"/>
              </a:solidFill>
              <a:round/>
            </a:ln>
            <a:effectLst/>
          </c:spPr>
          <c:marker>
            <c:symbol val="none"/>
          </c:marker>
          <c:dLbls>
            <c:dLbl>
              <c:idx val="0"/>
              <c:layout>
                <c:manualLayout>
                  <c:x val="-4.9846654123986714E-2"/>
                  <c:y val="5.44614594813479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77-4F04-B3FB-55D0A001D7F0}"/>
                </c:ext>
              </c:extLst>
            </c:dLbl>
            <c:dLbl>
              <c:idx val="1"/>
              <c:layout>
                <c:manualLayout>
                  <c:x val="-7.10855921770841E-2"/>
                  <c:y val="5.05713552326803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77-4F04-B3FB-55D0A001D7F0}"/>
                </c:ext>
              </c:extLst>
            </c:dLbl>
            <c:dLbl>
              <c:idx val="2"/>
              <c:layout>
                <c:manualLayout>
                  <c:x val="-5.2206536129886419E-2"/>
                  <c:y val="8.16921892220220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77-4F04-B3FB-55D0A001D7F0}"/>
                </c:ext>
              </c:extLst>
            </c:dLbl>
            <c:dLbl>
              <c:idx val="3"/>
              <c:layout>
                <c:manualLayout>
                  <c:x val="-5.4566418135786207E-2"/>
                  <c:y val="-4.27911467353449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77-4F04-B3FB-55D0A001D7F0}"/>
                </c:ext>
              </c:extLst>
            </c:dLbl>
            <c:dLbl>
              <c:idx val="4"/>
              <c:layout>
                <c:manualLayout>
                  <c:x val="-4.7486772118087009E-2"/>
                  <c:y val="5.83515637300157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77-4F04-B3FB-55D0A001D7F0}"/>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5'!$D$104:$H$104</c:f>
              <c:numCache>
                <c:formatCode>0.00</c:formatCode>
                <c:ptCount val="5"/>
                <c:pt idx="0">
                  <c:v>0.9257611985988633</c:v>
                </c:pt>
                <c:pt idx="1">
                  <c:v>1.0144016032631773</c:v>
                </c:pt>
                <c:pt idx="2">
                  <c:v>1.5283901945293403</c:v>
                </c:pt>
                <c:pt idx="3">
                  <c:v>2.3419364517991044</c:v>
                </c:pt>
                <c:pt idx="4">
                  <c:v>1.6835426878121709</c:v>
                </c:pt>
              </c:numCache>
            </c:numRef>
          </c:val>
          <c:smooth val="0"/>
          <c:extLst>
            <c:ext xmlns:c16="http://schemas.microsoft.com/office/drawing/2014/chart" uri="{C3380CC4-5D6E-409C-BE32-E72D297353CC}">
              <c16:uniqueId val="{00000005-0C77-4F04-B3FB-55D0A001D7F0}"/>
            </c:ext>
          </c:extLst>
        </c:ser>
        <c:dLbls>
          <c:dLblPos val="ctr"/>
          <c:showLegendKey val="0"/>
          <c:showVal val="1"/>
          <c:showCatName val="0"/>
          <c:showSerName val="0"/>
          <c:showPercent val="0"/>
          <c:showBubbleSize val="0"/>
        </c:dLbls>
        <c:smooth val="0"/>
        <c:axId val="194232912"/>
        <c:axId val="194239568"/>
      </c:lineChart>
      <c:catAx>
        <c:axId val="19423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mn-lt"/>
                <a:ea typeface="+mn-ea"/>
                <a:cs typeface="+mn-cs"/>
              </a:defRPr>
            </a:pPr>
            <a:endParaRPr lang="en-US"/>
          </a:p>
        </c:txPr>
        <c:crossAx val="194239568"/>
        <c:crosses val="autoZero"/>
        <c:auto val="1"/>
        <c:lblAlgn val="ctr"/>
        <c:lblOffset val="100"/>
        <c:noMultiLvlLbl val="0"/>
      </c:catAx>
      <c:valAx>
        <c:axId val="19423956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2329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j-lt"/>
                <a:ea typeface="+mj-ea"/>
                <a:cs typeface="+mj-cs"/>
              </a:defRPr>
            </a:pPr>
            <a:r>
              <a:rPr lang="en-US" b="1"/>
              <a:t>LONG TERM DEBT TO EQUITY CAPITAL </a:t>
            </a:r>
          </a:p>
        </c:rich>
      </c:tx>
      <c:overlay val="0"/>
      <c:spPr>
        <a:noFill/>
        <a:ln>
          <a:noFill/>
        </a:ln>
        <a:effectLst/>
      </c:spPr>
      <c:txPr>
        <a:bodyPr rot="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lineChart>
        <c:grouping val="standard"/>
        <c:varyColors val="0"/>
        <c:ser>
          <c:idx val="0"/>
          <c:order val="0"/>
          <c:spPr>
            <a:ln w="38100" cap="rnd">
              <a:solidFill>
                <a:schemeClr val="accent1"/>
              </a:solidFill>
              <a:round/>
            </a:ln>
            <a:effectLst/>
          </c:spPr>
          <c:marker>
            <c:symbol val="none"/>
          </c:marker>
          <c:dLbls>
            <c:dLbl>
              <c:idx val="0"/>
              <c:layout>
                <c:manualLayout>
                  <c:x val="-6.7382108486439191E-2"/>
                  <c:y val="-6.48148148148148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3C-412A-937A-1F20C4997085}"/>
                </c:ext>
              </c:extLst>
            </c:dLbl>
            <c:dLbl>
              <c:idx val="1"/>
              <c:layout>
                <c:manualLayout>
                  <c:x val="-3.4048775153105865E-2"/>
                  <c:y val="5.55555555555555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3C-412A-937A-1F20C4997085}"/>
                </c:ext>
              </c:extLst>
            </c:dLbl>
            <c:dLbl>
              <c:idx val="2"/>
              <c:layout>
                <c:manualLayout>
                  <c:x val="-7.5715441819772522E-2"/>
                  <c:y val="-4.16666666666666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3C-412A-937A-1F20C4997085}"/>
                </c:ext>
              </c:extLst>
            </c:dLbl>
            <c:dLbl>
              <c:idx val="3"/>
              <c:layout>
                <c:manualLayout>
                  <c:x val="-4.793766404199485E-2"/>
                  <c:y val="-5.55555555555555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3C-412A-937A-1F20C4997085}"/>
                </c:ext>
              </c:extLst>
            </c:dLbl>
            <c:dLbl>
              <c:idx val="4"/>
              <c:layout>
                <c:manualLayout>
                  <c:x val="-3.9604330708661623E-2"/>
                  <c:y val="-4.629629629629629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A3C-412A-937A-1F20C499708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Lit>
              <c:formatCode>General</c:formatCode>
              <c:ptCount val="5"/>
              <c:pt idx="0">
                <c:v>2017</c:v>
              </c:pt>
              <c:pt idx="1">
                <c:v>2018</c:v>
              </c:pt>
              <c:pt idx="2">
                <c:v>2019</c:v>
              </c:pt>
              <c:pt idx="3">
                <c:v>2020</c:v>
              </c:pt>
              <c:pt idx="4">
                <c:v>2021</c:v>
              </c:pt>
            </c:numLit>
          </c:cat>
          <c:val>
            <c:numRef>
              <c:f>'[FSA Project A (2) (1).xlsx]Module 5'!$D$105:$H$105</c:f>
              <c:numCache>
                <c:formatCode>0.00</c:formatCode>
                <c:ptCount val="5"/>
                <c:pt idx="0">
                  <c:v>2.2838298866856843E-2</c:v>
                </c:pt>
                <c:pt idx="1">
                  <c:v>0.16216324127008425</c:v>
                </c:pt>
                <c:pt idx="2">
                  <c:v>0.38179341564260783</c:v>
                </c:pt>
                <c:pt idx="3">
                  <c:v>0.48361812768928908</c:v>
                </c:pt>
                <c:pt idx="4">
                  <c:v>0.44643390994192572</c:v>
                </c:pt>
              </c:numCache>
            </c:numRef>
          </c:val>
          <c:smooth val="0"/>
          <c:extLst>
            <c:ext xmlns:c16="http://schemas.microsoft.com/office/drawing/2014/chart" uri="{C3380CC4-5D6E-409C-BE32-E72D297353CC}">
              <c16:uniqueId val="{00000005-EA3C-412A-937A-1F20C4997085}"/>
            </c:ext>
          </c:extLst>
        </c:ser>
        <c:dLbls>
          <c:dLblPos val="ctr"/>
          <c:showLegendKey val="0"/>
          <c:showVal val="1"/>
          <c:showCatName val="0"/>
          <c:showSerName val="0"/>
          <c:showPercent val="0"/>
          <c:showBubbleSize val="0"/>
        </c:dLbls>
        <c:smooth val="0"/>
        <c:axId val="180647872"/>
        <c:axId val="180648704"/>
      </c:lineChart>
      <c:catAx>
        <c:axId val="180647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mn-lt"/>
                <a:ea typeface="+mn-ea"/>
                <a:cs typeface="+mn-cs"/>
              </a:defRPr>
            </a:pPr>
            <a:endParaRPr lang="en-US"/>
          </a:p>
        </c:txPr>
        <c:crossAx val="180648704"/>
        <c:crosses val="autoZero"/>
        <c:auto val="1"/>
        <c:lblAlgn val="ctr"/>
        <c:lblOffset val="100"/>
        <c:noMultiLvlLbl val="0"/>
      </c:catAx>
      <c:valAx>
        <c:axId val="18064870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6478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en-US"/>
              <a:t>Operating Perfomance </a:t>
            </a: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lineChart>
        <c:grouping val="standard"/>
        <c:varyColors val="0"/>
        <c:ser>
          <c:idx val="0"/>
          <c:order val="0"/>
          <c:tx>
            <c:v>Gross Profit Ratio</c:v>
          </c:tx>
          <c:spPr>
            <a:ln w="2222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'Module 5'!$G$73:$K$73</c:f>
              <c:numCache>
                <c:formatCode>General</c:formatCode>
                <c:ptCount val="5"/>
                <c:pt idx="0">
                  <c:v>2021</c:v>
                </c:pt>
                <c:pt idx="1">
                  <c:v>2020</c:v>
                </c:pt>
                <c:pt idx="2">
                  <c:v>2019</c:v>
                </c:pt>
                <c:pt idx="3">
                  <c:v>2018</c:v>
                </c:pt>
                <c:pt idx="4">
                  <c:v>2017</c:v>
                </c:pt>
              </c:numCache>
            </c:numRef>
          </c:cat>
          <c:val>
            <c:numRef>
              <c:f>'Module 5'!$G$74:$K$74</c:f>
              <c:numCache>
                <c:formatCode>0%</c:formatCode>
                <c:ptCount val="5"/>
                <c:pt idx="0">
                  <c:v>0.14879019259256995</c:v>
                </c:pt>
                <c:pt idx="1">
                  <c:v>9.5859711363293007E-2</c:v>
                </c:pt>
                <c:pt idx="2">
                  <c:v>0.10344441431764079</c:v>
                </c:pt>
                <c:pt idx="3">
                  <c:v>0.1257280405877047</c:v>
                </c:pt>
                <c:pt idx="4">
                  <c:v>0.10452941242082806</c:v>
                </c:pt>
              </c:numCache>
            </c:numRef>
          </c:val>
          <c:smooth val="0"/>
          <c:extLst>
            <c:ext xmlns:c16="http://schemas.microsoft.com/office/drawing/2014/chart" uri="{C3380CC4-5D6E-409C-BE32-E72D297353CC}">
              <c16:uniqueId val="{00000000-BCF7-46F7-A686-F26486EF5E28}"/>
            </c:ext>
          </c:extLst>
        </c:ser>
        <c:ser>
          <c:idx val="1"/>
          <c:order val="1"/>
          <c:tx>
            <c:v>Operating Profit Ratio</c:v>
          </c:tx>
          <c:spPr>
            <a:ln w="2222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'Module 5'!$G$73:$K$73</c:f>
              <c:numCache>
                <c:formatCode>General</c:formatCode>
                <c:ptCount val="5"/>
                <c:pt idx="0">
                  <c:v>2021</c:v>
                </c:pt>
                <c:pt idx="1">
                  <c:v>2020</c:v>
                </c:pt>
                <c:pt idx="2">
                  <c:v>2019</c:v>
                </c:pt>
                <c:pt idx="3">
                  <c:v>2018</c:v>
                </c:pt>
                <c:pt idx="4">
                  <c:v>2017</c:v>
                </c:pt>
              </c:numCache>
            </c:numRef>
          </c:cat>
          <c:val>
            <c:numRef>
              <c:f>'Module 5'!$G$75:$K$75</c:f>
              <c:numCache>
                <c:formatCode>0%</c:formatCode>
                <c:ptCount val="5"/>
                <c:pt idx="0">
                  <c:v>0.12449139588889123</c:v>
                </c:pt>
                <c:pt idx="1">
                  <c:v>7.7908875481241993E-2</c:v>
                </c:pt>
                <c:pt idx="2">
                  <c:v>8.2838422703639614E-2</c:v>
                </c:pt>
                <c:pt idx="3">
                  <c:v>9.8648776815497885E-2</c:v>
                </c:pt>
                <c:pt idx="4">
                  <c:v>8.0457439483345133E-2</c:v>
                </c:pt>
              </c:numCache>
            </c:numRef>
          </c:val>
          <c:smooth val="0"/>
          <c:extLst>
            <c:ext xmlns:c16="http://schemas.microsoft.com/office/drawing/2014/chart" uri="{C3380CC4-5D6E-409C-BE32-E72D297353CC}">
              <c16:uniqueId val="{00000001-BCF7-46F7-A686-F26486EF5E28}"/>
            </c:ext>
          </c:extLst>
        </c:ser>
        <c:ser>
          <c:idx val="2"/>
          <c:order val="2"/>
          <c:tx>
            <c:v>EBT</c:v>
          </c:tx>
          <c:spPr>
            <a:ln w="2222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'Module 5'!$G$73:$K$73</c:f>
              <c:numCache>
                <c:formatCode>General</c:formatCode>
                <c:ptCount val="5"/>
                <c:pt idx="0">
                  <c:v>2021</c:v>
                </c:pt>
                <c:pt idx="1">
                  <c:v>2020</c:v>
                </c:pt>
                <c:pt idx="2">
                  <c:v>2019</c:v>
                </c:pt>
                <c:pt idx="3">
                  <c:v>2018</c:v>
                </c:pt>
                <c:pt idx="4">
                  <c:v>2017</c:v>
                </c:pt>
              </c:numCache>
            </c:numRef>
          </c:cat>
          <c:val>
            <c:numRef>
              <c:f>'Module 5'!$G$76:$K$76</c:f>
              <c:numCache>
                <c:formatCode>0%</c:formatCode>
                <c:ptCount val="5"/>
                <c:pt idx="0">
                  <c:v>9.2535421460660114E-2</c:v>
                </c:pt>
                <c:pt idx="1">
                  <c:v>2.0279332392007587E-2</c:v>
                </c:pt>
                <c:pt idx="2">
                  <c:v>5.6358448720603735E-2</c:v>
                </c:pt>
                <c:pt idx="3">
                  <c:v>7.2156001719632087E-2</c:v>
                </c:pt>
                <c:pt idx="4">
                  <c:v>6.5006120210451074E-2</c:v>
                </c:pt>
              </c:numCache>
            </c:numRef>
          </c:val>
          <c:smooth val="0"/>
          <c:extLst>
            <c:ext xmlns:c16="http://schemas.microsoft.com/office/drawing/2014/chart" uri="{C3380CC4-5D6E-409C-BE32-E72D297353CC}">
              <c16:uniqueId val="{00000002-BCF7-46F7-A686-F26486EF5E28}"/>
            </c:ext>
          </c:extLst>
        </c:ser>
        <c:ser>
          <c:idx val="3"/>
          <c:order val="3"/>
          <c:tx>
            <c:v>Net Profit Ratio</c:v>
          </c:tx>
          <c:spPr>
            <a:ln w="2222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'Module 5'!$G$73:$K$73</c:f>
              <c:numCache>
                <c:formatCode>General</c:formatCode>
                <c:ptCount val="5"/>
                <c:pt idx="0">
                  <c:v>2021</c:v>
                </c:pt>
                <c:pt idx="1">
                  <c:v>2020</c:v>
                </c:pt>
                <c:pt idx="2">
                  <c:v>2019</c:v>
                </c:pt>
                <c:pt idx="3">
                  <c:v>2018</c:v>
                </c:pt>
                <c:pt idx="4">
                  <c:v>2017</c:v>
                </c:pt>
              </c:numCache>
            </c:numRef>
          </c:cat>
          <c:val>
            <c:numRef>
              <c:f>'Module 5'!$G$77:$K$77</c:f>
              <c:numCache>
                <c:formatCode>0%</c:formatCode>
                <c:ptCount val="5"/>
                <c:pt idx="0">
                  <c:v>7.6251049313671396E-2</c:v>
                </c:pt>
                <c:pt idx="1">
                  <c:v>2.1712955627295954E-2</c:v>
                </c:pt>
                <c:pt idx="2">
                  <c:v>4.4535072820456226E-2</c:v>
                </c:pt>
                <c:pt idx="3">
                  <c:v>5.8050214604534391E-2</c:v>
                </c:pt>
                <c:pt idx="4">
                  <c:v>5.2692117065490658E-2</c:v>
                </c:pt>
              </c:numCache>
            </c:numRef>
          </c:val>
          <c:smooth val="0"/>
          <c:extLst>
            <c:ext xmlns:c16="http://schemas.microsoft.com/office/drawing/2014/chart" uri="{C3380CC4-5D6E-409C-BE32-E72D297353CC}">
              <c16:uniqueId val="{00000003-BCF7-46F7-A686-F26486EF5E28}"/>
            </c:ext>
          </c:extLst>
        </c:ser>
        <c:dLbls>
          <c:dLblPos val="ctr"/>
          <c:showLegendKey val="0"/>
          <c:showVal val="1"/>
          <c:showCatName val="0"/>
          <c:showSerName val="0"/>
          <c:showPercent val="0"/>
          <c:showBubbleSize val="0"/>
        </c:dLbls>
        <c:smooth val="0"/>
        <c:axId val="1297763375"/>
        <c:axId val="1297763791"/>
      </c:lineChart>
      <c:catAx>
        <c:axId val="1297763375"/>
        <c:scaling>
          <c:orientation val="minMax"/>
        </c:scaling>
        <c:delete val="0"/>
        <c:axPos val="b"/>
        <c:majorGridlines>
          <c:spPr>
            <a:ln w="9525" cap="flat" cmpd="sng" algn="ctr">
              <a:solidFill>
                <a:schemeClr val="dk1">
                  <a:lumMod val="15000"/>
                  <a:lumOff val="85000"/>
                  <a:alpha val="54000"/>
                </a:schemeClr>
              </a:solidFill>
              <a:round/>
            </a:ln>
            <a:effectLst/>
          </c:spPr>
        </c:majorGridlines>
        <c:minorGridlines>
          <c:spPr>
            <a:ln w="9525" cap="flat" cmpd="sng" algn="ctr">
              <a:solidFill>
                <a:schemeClr val="dk1">
                  <a:lumMod val="15000"/>
                  <a:lumOff val="85000"/>
                  <a:alpha val="51000"/>
                </a:schemeClr>
              </a:solidFill>
              <a:round/>
            </a:ln>
            <a:effectLst/>
          </c:spPr>
        </c:min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1297763791"/>
        <c:crosses val="autoZero"/>
        <c:auto val="1"/>
        <c:lblAlgn val="ctr"/>
        <c:lblOffset val="100"/>
        <c:noMultiLvlLbl val="0"/>
      </c:catAx>
      <c:valAx>
        <c:axId val="1297763791"/>
        <c:scaling>
          <c:orientation val="minMax"/>
        </c:scaling>
        <c:delete val="0"/>
        <c:axPos val="l"/>
        <c:majorGridlines>
          <c:spPr>
            <a:ln w="9525" cap="flat" cmpd="sng" algn="ctr">
              <a:solidFill>
                <a:schemeClr val="dk1">
                  <a:lumMod val="15000"/>
                  <a:lumOff val="85000"/>
                  <a:alpha val="54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297763375"/>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Return on Investment</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lotArea>
      <c:layout/>
      <c:lineChart>
        <c:grouping val="standard"/>
        <c:varyColors val="0"/>
        <c:ser>
          <c:idx val="0"/>
          <c:order val="0"/>
          <c:tx>
            <c:strRef>
              <c:f>'Module 5'!$B$67:$F$67</c:f>
              <c:strCache>
                <c:ptCount val="5"/>
                <c:pt idx="0">
                  <c:v>ROCE </c:v>
                </c:pt>
              </c:strCache>
            </c:strRef>
          </c:tx>
          <c:spPr>
            <a:ln w="31750" cap="rnd">
              <a:solidFill>
                <a:schemeClr val="accent6"/>
              </a:solidFill>
              <a:round/>
            </a:ln>
            <a:effectLst/>
          </c:spPr>
          <c:marker>
            <c:symbol val="none"/>
          </c:marker>
          <c:cat>
            <c:numRef>
              <c:f>'Module 5'!$G$66:$K$66</c:f>
              <c:numCache>
                <c:formatCode>General</c:formatCode>
                <c:ptCount val="5"/>
                <c:pt idx="0">
                  <c:v>2021</c:v>
                </c:pt>
                <c:pt idx="1">
                  <c:v>2020</c:v>
                </c:pt>
                <c:pt idx="2">
                  <c:v>2019</c:v>
                </c:pt>
                <c:pt idx="3">
                  <c:v>2018</c:v>
                </c:pt>
                <c:pt idx="4">
                  <c:v>2017</c:v>
                </c:pt>
              </c:numCache>
            </c:numRef>
          </c:cat>
          <c:val>
            <c:numRef>
              <c:f>'Module 5'!$G$67:$K$67</c:f>
              <c:numCache>
                <c:formatCode>0%</c:formatCode>
                <c:ptCount val="5"/>
                <c:pt idx="0">
                  <c:v>0.22457600206520112</c:v>
                </c:pt>
                <c:pt idx="1">
                  <c:v>7.8645098264362751E-2</c:v>
                </c:pt>
                <c:pt idx="2">
                  <c:v>0.13862483384886184</c:v>
                </c:pt>
                <c:pt idx="3">
                  <c:v>0.13076945244383256</c:v>
                </c:pt>
              </c:numCache>
            </c:numRef>
          </c:val>
          <c:smooth val="0"/>
          <c:extLst>
            <c:ext xmlns:c16="http://schemas.microsoft.com/office/drawing/2014/chart" uri="{C3380CC4-5D6E-409C-BE32-E72D297353CC}">
              <c16:uniqueId val="{00000000-87AF-4F30-AA17-FB1C913EFDCB}"/>
            </c:ext>
          </c:extLst>
        </c:ser>
        <c:ser>
          <c:idx val="1"/>
          <c:order val="1"/>
          <c:tx>
            <c:strRef>
              <c:f>'Module 5'!$B$68:$F$68</c:f>
              <c:strCache>
                <c:ptCount val="5"/>
                <c:pt idx="0">
                  <c:v>RNOA</c:v>
                </c:pt>
              </c:strCache>
            </c:strRef>
          </c:tx>
          <c:spPr>
            <a:ln w="31750" cap="rnd">
              <a:solidFill>
                <a:schemeClr val="accent5"/>
              </a:solidFill>
              <a:round/>
            </a:ln>
            <a:effectLst/>
          </c:spPr>
          <c:marker>
            <c:symbol val="none"/>
          </c:marker>
          <c:cat>
            <c:numRef>
              <c:f>'Module 5'!$G$66:$K$66</c:f>
              <c:numCache>
                <c:formatCode>General</c:formatCode>
                <c:ptCount val="5"/>
                <c:pt idx="0">
                  <c:v>2021</c:v>
                </c:pt>
                <c:pt idx="1">
                  <c:v>2020</c:v>
                </c:pt>
                <c:pt idx="2">
                  <c:v>2019</c:v>
                </c:pt>
                <c:pt idx="3">
                  <c:v>2018</c:v>
                </c:pt>
                <c:pt idx="4">
                  <c:v>2017</c:v>
                </c:pt>
              </c:numCache>
            </c:numRef>
          </c:cat>
          <c:val>
            <c:numRef>
              <c:f>'Module 5'!$G$68:$K$68</c:f>
              <c:numCache>
                <c:formatCode>0%</c:formatCode>
                <c:ptCount val="5"/>
                <c:pt idx="0">
                  <c:v>0.11948141636219783</c:v>
                </c:pt>
                <c:pt idx="1">
                  <c:v>2.5162777441103092E-2</c:v>
                </c:pt>
                <c:pt idx="2">
                  <c:v>6.8088708384152902E-2</c:v>
                </c:pt>
                <c:pt idx="3">
                  <c:v>7.7613010704984664E-2</c:v>
                </c:pt>
              </c:numCache>
            </c:numRef>
          </c:val>
          <c:smooth val="0"/>
          <c:extLst>
            <c:ext xmlns:c16="http://schemas.microsoft.com/office/drawing/2014/chart" uri="{C3380CC4-5D6E-409C-BE32-E72D297353CC}">
              <c16:uniqueId val="{00000001-87AF-4F30-AA17-FB1C913EFDCB}"/>
            </c:ext>
          </c:extLst>
        </c:ser>
        <c:ser>
          <c:idx val="2"/>
          <c:order val="2"/>
          <c:tx>
            <c:strRef>
              <c:f>'Module 5'!$B$69:$F$69</c:f>
              <c:strCache>
                <c:ptCount val="5"/>
                <c:pt idx="0">
                  <c:v>ROA</c:v>
                </c:pt>
              </c:strCache>
            </c:strRef>
          </c:tx>
          <c:spPr>
            <a:ln w="31750" cap="rnd">
              <a:solidFill>
                <a:schemeClr val="accent4"/>
              </a:solidFill>
              <a:round/>
            </a:ln>
            <a:effectLst/>
          </c:spPr>
          <c:marker>
            <c:symbol val="none"/>
          </c:marker>
          <c:cat>
            <c:numRef>
              <c:f>'Module 5'!$G$66:$K$66</c:f>
              <c:numCache>
                <c:formatCode>General</c:formatCode>
                <c:ptCount val="5"/>
                <c:pt idx="0">
                  <c:v>2021</c:v>
                </c:pt>
                <c:pt idx="1">
                  <c:v>2020</c:v>
                </c:pt>
                <c:pt idx="2">
                  <c:v>2019</c:v>
                </c:pt>
                <c:pt idx="3">
                  <c:v>2018</c:v>
                </c:pt>
                <c:pt idx="4">
                  <c:v>2017</c:v>
                </c:pt>
              </c:numCache>
            </c:numRef>
          </c:cat>
          <c:val>
            <c:numRef>
              <c:f>'Module 5'!$G$69:$K$69</c:f>
              <c:numCache>
                <c:formatCode>0.00%</c:formatCode>
                <c:ptCount val="5"/>
                <c:pt idx="0">
                  <c:v>8.3686390786759823E-2</c:v>
                </c:pt>
                <c:pt idx="1">
                  <c:v>2.3532792857872804E-2</c:v>
                </c:pt>
                <c:pt idx="2">
                  <c:v>5.4827310337147883E-2</c:v>
                </c:pt>
                <c:pt idx="3">
                  <c:v>6.491726983933889E-2</c:v>
                </c:pt>
                <c:pt idx="4">
                  <c:v>5.8765635323402871E-2</c:v>
                </c:pt>
              </c:numCache>
            </c:numRef>
          </c:val>
          <c:smooth val="0"/>
          <c:extLst>
            <c:ext xmlns:c16="http://schemas.microsoft.com/office/drawing/2014/chart" uri="{C3380CC4-5D6E-409C-BE32-E72D297353CC}">
              <c16:uniqueId val="{00000002-87AF-4F30-AA17-FB1C913EFDCB}"/>
            </c:ext>
          </c:extLst>
        </c:ser>
        <c:dLbls>
          <c:showLegendKey val="0"/>
          <c:showVal val="0"/>
          <c:showCatName val="0"/>
          <c:showSerName val="0"/>
          <c:showPercent val="0"/>
          <c:showBubbleSize val="0"/>
        </c:dLbls>
        <c:smooth val="0"/>
        <c:axId val="1316295343"/>
        <c:axId val="1316289519"/>
      </c:lineChart>
      <c:catAx>
        <c:axId val="1316295343"/>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316289519"/>
        <c:crosses val="autoZero"/>
        <c:auto val="1"/>
        <c:lblAlgn val="ctr"/>
        <c:lblOffset val="100"/>
        <c:noMultiLvlLbl val="0"/>
      </c:catAx>
      <c:valAx>
        <c:axId val="1316289519"/>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3162953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Sheet1!$B$2</c:f>
              <c:strCache>
                <c:ptCount val="1"/>
                <c:pt idx="0">
                  <c:v>ACCOUNT RECEIVABLE TURNOVER</c:v>
                </c:pt>
              </c:strCache>
            </c:strRef>
          </c:tx>
          <c:spPr>
            <a:solidFill>
              <a:schemeClr val="accent2"/>
            </a:solidFill>
            <a:ln>
              <a:noFill/>
            </a:ln>
            <a:effectLst/>
          </c:spPr>
          <c:invertIfNegative val="0"/>
          <c:cat>
            <c:strRef>
              <c:f>Sheet1!$C$1:$G$1</c:f>
              <c:strCache>
                <c:ptCount val="5"/>
                <c:pt idx="0">
                  <c:v>2021</c:v>
                </c:pt>
                <c:pt idx="1">
                  <c:v>2020</c:v>
                </c:pt>
                <c:pt idx="2">
                  <c:v>2019</c:v>
                </c:pt>
                <c:pt idx="3">
                  <c:v>2018</c:v>
                </c:pt>
                <c:pt idx="4">
                  <c:v>2017</c:v>
                </c:pt>
              </c:strCache>
            </c:strRef>
          </c:cat>
          <c:val>
            <c:numRef>
              <c:f>Sheet1!$C$2:$G$2</c:f>
              <c:numCache>
                <c:formatCode>General</c:formatCode>
                <c:ptCount val="5"/>
                <c:pt idx="0">
                  <c:v>8.5500000000000007</c:v>
                </c:pt>
                <c:pt idx="1">
                  <c:v>12.51</c:v>
                </c:pt>
                <c:pt idx="2">
                  <c:v>9.33</c:v>
                </c:pt>
                <c:pt idx="3">
                  <c:v>17.59</c:v>
                </c:pt>
                <c:pt idx="4">
                  <c:v>13.96</c:v>
                </c:pt>
              </c:numCache>
            </c:numRef>
          </c:val>
          <c:extLst>
            <c:ext xmlns:c16="http://schemas.microsoft.com/office/drawing/2014/chart" uri="{C3380CC4-5D6E-409C-BE32-E72D297353CC}">
              <c16:uniqueId val="{00000007-0383-42F2-ADEC-CB2CDE902E52}"/>
            </c:ext>
          </c:extLst>
        </c:ser>
        <c:ser>
          <c:idx val="1"/>
          <c:order val="1"/>
          <c:tx>
            <c:strRef>
              <c:f>Sheet1!$B$3</c:f>
              <c:strCache>
                <c:ptCount val="1"/>
                <c:pt idx="0">
                  <c:v>INVENTORY TURNOVER</c:v>
                </c:pt>
              </c:strCache>
            </c:strRef>
          </c:tx>
          <c:spPr>
            <a:solidFill>
              <a:schemeClr val="accent4"/>
            </a:solidFill>
            <a:ln>
              <a:noFill/>
            </a:ln>
            <a:effectLst/>
          </c:spPr>
          <c:invertIfNegative val="0"/>
          <c:cat>
            <c:strRef>
              <c:f>Sheet1!$C$1:$G$1</c:f>
              <c:strCache>
                <c:ptCount val="5"/>
                <c:pt idx="0">
                  <c:v>2021</c:v>
                </c:pt>
                <c:pt idx="1">
                  <c:v>2020</c:v>
                </c:pt>
                <c:pt idx="2">
                  <c:v>2019</c:v>
                </c:pt>
                <c:pt idx="3">
                  <c:v>2018</c:v>
                </c:pt>
                <c:pt idx="4">
                  <c:v>2017</c:v>
                </c:pt>
              </c:strCache>
            </c:strRef>
          </c:cat>
          <c:val>
            <c:numRef>
              <c:f>Sheet1!$C$3:$G$3</c:f>
              <c:numCache>
                <c:formatCode>General</c:formatCode>
                <c:ptCount val="5"/>
                <c:pt idx="0">
                  <c:v>2.65</c:v>
                </c:pt>
                <c:pt idx="1">
                  <c:v>3.12</c:v>
                </c:pt>
                <c:pt idx="2">
                  <c:v>4.05</c:v>
                </c:pt>
                <c:pt idx="3">
                  <c:v>2.73</c:v>
                </c:pt>
                <c:pt idx="4">
                  <c:v>2.9</c:v>
                </c:pt>
              </c:numCache>
            </c:numRef>
          </c:val>
          <c:extLst>
            <c:ext xmlns:c16="http://schemas.microsoft.com/office/drawing/2014/chart" uri="{C3380CC4-5D6E-409C-BE32-E72D297353CC}">
              <c16:uniqueId val="{00000009-0383-42F2-ADEC-CB2CDE902E52}"/>
            </c:ext>
          </c:extLst>
        </c:ser>
        <c:ser>
          <c:idx val="2"/>
          <c:order val="2"/>
          <c:tx>
            <c:strRef>
              <c:f>Sheet1!$B$4</c:f>
              <c:strCache>
                <c:ptCount val="1"/>
                <c:pt idx="0">
                  <c:v>AVREAGE OPERATING ASSET TURNOVER</c:v>
                </c:pt>
              </c:strCache>
            </c:strRef>
          </c:tx>
          <c:spPr>
            <a:solidFill>
              <a:schemeClr val="accent6"/>
            </a:solidFill>
            <a:ln>
              <a:noFill/>
            </a:ln>
            <a:effectLst/>
          </c:spPr>
          <c:invertIfNegative val="0"/>
          <c:cat>
            <c:strRef>
              <c:f>Sheet1!$C$1:$G$1</c:f>
              <c:strCache>
                <c:ptCount val="5"/>
                <c:pt idx="0">
                  <c:v>2021</c:v>
                </c:pt>
                <c:pt idx="1">
                  <c:v>2020</c:v>
                </c:pt>
                <c:pt idx="2">
                  <c:v>2019</c:v>
                </c:pt>
                <c:pt idx="3">
                  <c:v>2018</c:v>
                </c:pt>
                <c:pt idx="4">
                  <c:v>2017</c:v>
                </c:pt>
              </c:strCache>
            </c:strRef>
          </c:cat>
          <c:val>
            <c:numRef>
              <c:f>Sheet1!$C$4:$G$4</c:f>
              <c:numCache>
                <c:formatCode>General</c:formatCode>
                <c:ptCount val="5"/>
                <c:pt idx="0">
                  <c:v>1.37</c:v>
                </c:pt>
                <c:pt idx="1">
                  <c:v>1.1000000000000001</c:v>
                </c:pt>
                <c:pt idx="2">
                  <c:v>1.4</c:v>
                </c:pt>
                <c:pt idx="3">
                  <c:v>1.23</c:v>
                </c:pt>
                <c:pt idx="4">
                  <c:v>0</c:v>
                </c:pt>
              </c:numCache>
            </c:numRef>
          </c:val>
          <c:extLst>
            <c:ext xmlns:c16="http://schemas.microsoft.com/office/drawing/2014/chart" uri="{C3380CC4-5D6E-409C-BE32-E72D297353CC}">
              <c16:uniqueId val="{0000000A-0383-42F2-ADEC-CB2CDE902E52}"/>
            </c:ext>
          </c:extLst>
        </c:ser>
        <c:ser>
          <c:idx val="3"/>
          <c:order val="3"/>
          <c:tx>
            <c:strRef>
              <c:f>Sheet1!$B$5</c:f>
              <c:strCache>
                <c:ptCount val="1"/>
                <c:pt idx="0">
                  <c:v>ASSET TURNOVER = (Sales/AvgAssets)</c:v>
                </c:pt>
              </c:strCache>
            </c:strRef>
          </c:tx>
          <c:spPr>
            <a:solidFill>
              <a:schemeClr val="accent2">
                <a:lumMod val="60000"/>
              </a:schemeClr>
            </a:solidFill>
            <a:ln>
              <a:noFill/>
            </a:ln>
            <a:effectLst/>
          </c:spPr>
          <c:invertIfNegative val="0"/>
          <c:cat>
            <c:strRef>
              <c:f>Sheet1!$C$1:$G$1</c:f>
              <c:strCache>
                <c:ptCount val="5"/>
                <c:pt idx="0">
                  <c:v>2021</c:v>
                </c:pt>
                <c:pt idx="1">
                  <c:v>2020</c:v>
                </c:pt>
                <c:pt idx="2">
                  <c:v>2019</c:v>
                </c:pt>
                <c:pt idx="3">
                  <c:v>2018</c:v>
                </c:pt>
                <c:pt idx="4">
                  <c:v>2017</c:v>
                </c:pt>
              </c:strCache>
            </c:strRef>
          </c:cat>
          <c:val>
            <c:numRef>
              <c:f>Sheet1!$C$5:$G$5</c:f>
              <c:numCache>
                <c:formatCode>General</c:formatCode>
                <c:ptCount val="5"/>
                <c:pt idx="0">
                  <c:v>1.36</c:v>
                </c:pt>
                <c:pt idx="1">
                  <c:v>1.0900000000000001</c:v>
                </c:pt>
                <c:pt idx="2">
                  <c:v>1.37</c:v>
                </c:pt>
                <c:pt idx="3">
                  <c:v>1.21</c:v>
                </c:pt>
                <c:pt idx="4">
                  <c:v>2.23</c:v>
                </c:pt>
              </c:numCache>
            </c:numRef>
          </c:val>
          <c:extLst>
            <c:ext xmlns:c16="http://schemas.microsoft.com/office/drawing/2014/chart" uri="{C3380CC4-5D6E-409C-BE32-E72D297353CC}">
              <c16:uniqueId val="{0000000B-0383-42F2-ADEC-CB2CDE902E52}"/>
            </c:ext>
          </c:extLst>
        </c:ser>
        <c:dLbls>
          <c:showLegendKey val="0"/>
          <c:showVal val="0"/>
          <c:showCatName val="0"/>
          <c:showSerName val="0"/>
          <c:showPercent val="0"/>
          <c:showBubbleSize val="0"/>
        </c:dLbls>
        <c:gapWidth val="219"/>
        <c:overlap val="-27"/>
        <c:axId val="491718424"/>
        <c:axId val="491722032"/>
      </c:barChart>
      <c:catAx>
        <c:axId val="491718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1722032"/>
        <c:crosses val="autoZero"/>
        <c:auto val="1"/>
        <c:lblAlgn val="ctr"/>
        <c:lblOffset val="100"/>
        <c:noMultiLvlLbl val="0"/>
      </c:catAx>
      <c:valAx>
        <c:axId val="491722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17184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Sheet1!$A$2</c:f>
              <c:strCache>
                <c:ptCount val="1"/>
                <c:pt idx="0">
                  <c:v>ACCOUNT RECEIVABLE TURNOVER</c:v>
                </c:pt>
              </c:strCache>
            </c:strRef>
          </c:tx>
          <c:spPr>
            <a:ln w="28575" cap="rnd">
              <a:solidFill>
                <a:schemeClr val="accent1"/>
              </a:solidFill>
              <a:round/>
            </a:ln>
            <a:effectLst/>
          </c:spPr>
          <c:marker>
            <c:symbol val="none"/>
          </c:marker>
          <c:cat>
            <c:numRef>
              <c:f>Sheet1!$B$1:$F$1</c:f>
              <c:numCache>
                <c:formatCode>General</c:formatCode>
                <c:ptCount val="5"/>
                <c:pt idx="0">
                  <c:v>2021</c:v>
                </c:pt>
                <c:pt idx="1">
                  <c:v>2020</c:v>
                </c:pt>
                <c:pt idx="2">
                  <c:v>2019</c:v>
                </c:pt>
                <c:pt idx="3">
                  <c:v>2018</c:v>
                </c:pt>
                <c:pt idx="4">
                  <c:v>2017</c:v>
                </c:pt>
              </c:numCache>
            </c:numRef>
          </c:cat>
          <c:val>
            <c:numRef>
              <c:f>Sheet1!$B$2:$F$2</c:f>
              <c:numCache>
                <c:formatCode>General</c:formatCode>
                <c:ptCount val="5"/>
                <c:pt idx="0">
                  <c:v>8.5500000000000007</c:v>
                </c:pt>
                <c:pt idx="1">
                  <c:v>12.51</c:v>
                </c:pt>
                <c:pt idx="2">
                  <c:v>9.33</c:v>
                </c:pt>
                <c:pt idx="3">
                  <c:v>17.59</c:v>
                </c:pt>
                <c:pt idx="4">
                  <c:v>13.96</c:v>
                </c:pt>
              </c:numCache>
            </c:numRef>
          </c:val>
          <c:smooth val="0"/>
          <c:extLst>
            <c:ext xmlns:c16="http://schemas.microsoft.com/office/drawing/2014/chart" uri="{C3380CC4-5D6E-409C-BE32-E72D297353CC}">
              <c16:uniqueId val="{00000004-6963-486F-857F-66158D43497C}"/>
            </c:ext>
          </c:extLst>
        </c:ser>
        <c:dLbls>
          <c:showLegendKey val="0"/>
          <c:showVal val="0"/>
          <c:showCatName val="0"/>
          <c:showSerName val="0"/>
          <c:showPercent val="0"/>
          <c:showBubbleSize val="0"/>
        </c:dLbls>
        <c:smooth val="0"/>
        <c:axId val="389409400"/>
        <c:axId val="389405792"/>
      </c:lineChart>
      <c:catAx>
        <c:axId val="389409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9405792"/>
        <c:crosses val="autoZero"/>
        <c:auto val="1"/>
        <c:lblAlgn val="ctr"/>
        <c:lblOffset val="100"/>
        <c:noMultiLvlLbl val="0"/>
      </c:catAx>
      <c:valAx>
        <c:axId val="389405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940940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EPS</c:v>
                </c:pt>
              </c:strCache>
            </c:strRef>
          </c:tx>
          <c:spPr>
            <a:ln w="28575" cap="rnd">
              <a:solidFill>
                <a:schemeClr val="accent1"/>
              </a:solidFill>
              <a:round/>
            </a:ln>
            <a:effectLst/>
          </c:spPr>
          <c:marker>
            <c:symbol val="none"/>
          </c:marker>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4.2</c:v>
                </c:pt>
                <c:pt idx="1">
                  <c:v>5.13</c:v>
                </c:pt>
                <c:pt idx="2">
                  <c:v>5.46</c:v>
                </c:pt>
                <c:pt idx="3">
                  <c:v>2.25</c:v>
                </c:pt>
                <c:pt idx="4">
                  <c:v>12.85</c:v>
                </c:pt>
              </c:numCache>
            </c:numRef>
          </c:val>
          <c:smooth val="0"/>
          <c:extLst>
            <c:ext xmlns:c16="http://schemas.microsoft.com/office/drawing/2014/chart" uri="{C3380CC4-5D6E-409C-BE32-E72D297353CC}">
              <c16:uniqueId val="{00000000-0813-4908-BFD0-405F9B327202}"/>
            </c:ext>
          </c:extLst>
        </c:ser>
        <c:dLbls>
          <c:showLegendKey val="0"/>
          <c:showVal val="0"/>
          <c:showCatName val="0"/>
          <c:showSerName val="0"/>
          <c:showPercent val="0"/>
          <c:showBubbleSize val="0"/>
        </c:dLbls>
        <c:smooth val="0"/>
        <c:axId val="405568864"/>
        <c:axId val="405570832"/>
      </c:lineChart>
      <c:catAx>
        <c:axId val="405568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5570832"/>
        <c:crosses val="autoZero"/>
        <c:auto val="1"/>
        <c:lblAlgn val="ctr"/>
        <c:lblOffset val="100"/>
        <c:noMultiLvlLbl val="0"/>
      </c:catAx>
      <c:valAx>
        <c:axId val="405570832"/>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5568864"/>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9.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f89bbd41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f89bbd41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6619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graph below shows the relationship between Profit for the year and Total Comprehensive Income for the year in years 2021 and 2017 of the common size analysis showing that the Profit for the year 2021 as a % of Net sales was a maximum of about 7.63% in 2021 and minimum in 2020 mainly due to low sales due to Covid aftershocks and economy in the recession session. The total comprehensive income for the year was maximum in 2021 of about 15.29% and minimum in 2020 of about 2.28% impacted by related deferred taxes of benefit obligation and revaluation of fixed assets.</a:t>
            </a:r>
          </a:p>
        </p:txBody>
      </p:sp>
      <p:sp>
        <p:nvSpPr>
          <p:cNvPr id="4" name="Slide Number Placeholder 3"/>
          <p:cNvSpPr>
            <a:spLocks noGrp="1"/>
          </p:cNvSpPr>
          <p:nvPr>
            <p:ph type="sldNum" sz="quarter" idx="5"/>
          </p:nvPr>
        </p:nvSpPr>
        <p:spPr/>
        <p:txBody>
          <a:bodyPr/>
          <a:lstStyle/>
          <a:p>
            <a:fld id="{983487A1-DEEF-462E-B6F0-65049D121879}" type="slidenum">
              <a:rPr lang="en-US" smtClean="0"/>
              <a:t>3</a:t>
            </a:fld>
            <a:endParaRPr lang="en-US"/>
          </a:p>
        </p:txBody>
      </p:sp>
    </p:spTree>
    <p:extLst>
      <p:ext uri="{BB962C8B-B14F-4D97-AF65-F5344CB8AC3E}">
        <p14:creationId xmlns:p14="http://schemas.microsoft.com/office/powerpoint/2010/main" val="1221542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graph above shows the comparison of the actual figures for Gross profit and Net Profit. The gross profits and net profits have increased in the years 2017, 2018, and 2019 however they decreased in 2020 and increased again very significantly in the year 2021. The profits went down in the year 2020 majorly due to lower net sales because of covid lockdown restrictions as well as very high finance costs as the long-term debt was highest in 2020 as compared to previous years. Overall, we can see that net profit has stayed around 40-50% of the gross profit except for in the year 2020. </a:t>
            </a:r>
          </a:p>
        </p:txBody>
      </p:sp>
      <p:sp>
        <p:nvSpPr>
          <p:cNvPr id="4" name="Slide Number Placeholder 3"/>
          <p:cNvSpPr>
            <a:spLocks noGrp="1"/>
          </p:cNvSpPr>
          <p:nvPr>
            <p:ph type="sldNum" sz="quarter" idx="5"/>
          </p:nvPr>
        </p:nvSpPr>
        <p:spPr/>
        <p:txBody>
          <a:bodyPr/>
          <a:lstStyle/>
          <a:p>
            <a:fld id="{983487A1-DEEF-462E-B6F0-65049D121879}" type="slidenum">
              <a:rPr lang="en-US" smtClean="0"/>
              <a:t>4</a:t>
            </a:fld>
            <a:endParaRPr lang="en-US"/>
          </a:p>
        </p:txBody>
      </p:sp>
    </p:spTree>
    <p:extLst>
      <p:ext uri="{BB962C8B-B14F-4D97-AF65-F5344CB8AC3E}">
        <p14:creationId xmlns:p14="http://schemas.microsoft.com/office/powerpoint/2010/main" val="572637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Around 60-65% of the Total Assets is contributed by Current Assets. Inventory holds the major share of the current assets around 20-35%. Of the inventories Raw Material in transit and in hand contribute the most. In 2019 when Inventories decreased to 25%, Cash and Bank Balances increased to 14% keeping the percentage of overall Current Assets almost constant throughout the five years. Although Current Assets have increased over the years, the percentage of inventories have remained almost the same over the years. Cash and Bank Balances are around 5-12% of the Total Assets. </a:t>
            </a:r>
            <a:r>
              <a:rPr lang="en-US"/>
              <a:t>Dues from the Government have also seen some fluctuations and are subject to variation in Sales</a:t>
            </a:r>
          </a:p>
        </p:txBody>
      </p:sp>
      <p:sp>
        <p:nvSpPr>
          <p:cNvPr id="4" name="Slide Number Placeholder 3"/>
          <p:cNvSpPr>
            <a:spLocks noGrp="1"/>
          </p:cNvSpPr>
          <p:nvPr>
            <p:ph type="sldNum" sz="quarter" idx="5"/>
          </p:nvPr>
        </p:nvSpPr>
        <p:spPr/>
        <p:txBody>
          <a:bodyPr/>
          <a:lstStyle/>
          <a:p>
            <a:fld id="{983487A1-DEEF-462E-B6F0-65049D121879}" type="slidenum">
              <a:rPr lang="en-US" smtClean="0"/>
              <a:t>5</a:t>
            </a:fld>
            <a:endParaRPr lang="en-US"/>
          </a:p>
        </p:txBody>
      </p:sp>
    </p:spTree>
    <p:extLst>
      <p:ext uri="{BB962C8B-B14F-4D97-AF65-F5344CB8AC3E}">
        <p14:creationId xmlns:p14="http://schemas.microsoft.com/office/powerpoint/2010/main" val="1540826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Profit Before Taxation and Net Sales of the Company in the Trend Analysis as compared to the previous years. The Profit Before Taxation was the Highest in the year 2021-2020 of about 652% whereas the Net Sales grew by 65% in 2021-2020 showing that both of them had a positive growth in 2021-2020. It can be due to charging customer inflation adjusted prices and getting economies of scale which reduced the expenses of the company. 2020-2019 was the year of negative growth in Profit before tax of about -68% and Net Sales of -11% which could be due to Covid factor and a high inflation rate in the country.</a:t>
            </a:r>
          </a:p>
        </p:txBody>
      </p:sp>
      <p:sp>
        <p:nvSpPr>
          <p:cNvPr id="4" name="Slide Number Placeholder 3"/>
          <p:cNvSpPr>
            <a:spLocks noGrp="1"/>
          </p:cNvSpPr>
          <p:nvPr>
            <p:ph type="sldNum" sz="quarter" idx="5"/>
          </p:nvPr>
        </p:nvSpPr>
        <p:spPr/>
        <p:txBody>
          <a:bodyPr/>
          <a:lstStyle/>
          <a:p>
            <a:fld id="{983487A1-DEEF-462E-B6F0-65049D121879}" type="slidenum">
              <a:rPr lang="en-US" smtClean="0"/>
              <a:t>6</a:t>
            </a:fld>
            <a:endParaRPr lang="en-US"/>
          </a:p>
        </p:txBody>
      </p:sp>
    </p:spTree>
    <p:extLst>
      <p:ext uri="{BB962C8B-B14F-4D97-AF65-F5344CB8AC3E}">
        <p14:creationId xmlns:p14="http://schemas.microsoft.com/office/powerpoint/2010/main" val="566352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Sales and Cost of Goods sold: There was a major decrease in the year 2019-2020 which could be due to the COVID-19 pandemic and lockdowns that took place. As it can be seen in the graph above, gross Profit has seen various fluctuations over the five years. It increased at a decreasing rate in the years 2017-2019. In the year the lockdown took place Gross Profit change went negative but in the subsequent year it increased majorly by an increase in export sales by 156%</a:t>
            </a:r>
          </a:p>
        </p:txBody>
      </p:sp>
      <p:sp>
        <p:nvSpPr>
          <p:cNvPr id="4" name="Slide Number Placeholder 3"/>
          <p:cNvSpPr>
            <a:spLocks noGrp="1"/>
          </p:cNvSpPr>
          <p:nvPr>
            <p:ph type="sldNum" sz="quarter" idx="5"/>
          </p:nvPr>
        </p:nvSpPr>
        <p:spPr/>
        <p:txBody>
          <a:bodyPr/>
          <a:lstStyle/>
          <a:p>
            <a:fld id="{983487A1-DEEF-462E-B6F0-65049D121879}" type="slidenum">
              <a:rPr lang="en-US" smtClean="0"/>
              <a:t>7</a:t>
            </a:fld>
            <a:endParaRPr lang="en-US"/>
          </a:p>
        </p:txBody>
      </p:sp>
    </p:spTree>
    <p:extLst>
      <p:ext uri="{BB962C8B-B14F-4D97-AF65-F5344CB8AC3E}">
        <p14:creationId xmlns:p14="http://schemas.microsoft.com/office/powerpoint/2010/main" val="2396098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Current Ratio </a:t>
            </a:r>
            <a:r>
              <a:rPr lang="en-US" dirty="0"/>
              <a:t>is the Current Assets/ Current Liabilities, it has a decreasing trend as it fell from 1.46 times 2017 to 1.34 times in 2021 it rose to a maximum in 2018 to 1.54  times even though the current assets fell from 73.32 to 63.69 the  Current ratio still increased to 1.54.  and the minimum was in year 2020 at 1.09 times </a:t>
            </a:r>
            <a:r>
              <a:rPr lang="en-US" b="1" dirty="0"/>
              <a:t>because of increase in working Capital requirement.</a:t>
            </a:r>
          </a:p>
          <a:p>
            <a:r>
              <a:rPr lang="en-US" b="1" dirty="0"/>
              <a:t>Acid Test Ratio:</a:t>
            </a:r>
            <a:r>
              <a:rPr lang="en-US" b="0" dirty="0"/>
              <a:t> It compares a companies short term assets to short term liabilities to see if the company has enough cash to pay back its immediate liabilities. It also had a decreasing trend form .76 times in 2017 to .58 times in 2021 with max in year </a:t>
            </a:r>
            <a:r>
              <a:rPr lang="en-US" b="1" dirty="0"/>
              <a:t>2019 at .79 times Both Current Assets and Current Liabilities decreased but Liabilities decreased more so Current ratio increased in 2019 and minimum at year 2020 at .53 as current liabilities increased due to increase in working capital requirement</a:t>
            </a:r>
            <a:r>
              <a:rPr lang="en-US" b="0" dirty="0"/>
              <a:t>.</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8E2DEA-5D57-4C5E-9BA7-7B0C0B4516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4461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1" dirty="0"/>
              <a:t>Days Sales in Receivable </a:t>
            </a:r>
            <a:r>
              <a:rPr lang="en-US" sz="1200" b="0" dirty="0"/>
              <a:t>is calculated by dividing the number of days in the year by the accounts receivable turnover ratio   has also an increasing Trend as the Days Increased from 25 to 42 between 2017-2021 having the </a:t>
            </a:r>
            <a:r>
              <a:rPr lang="en-US" sz="1200" b="1" dirty="0"/>
              <a:t>maximum no of days in 2021 at 42 because in 2021 it had a 141.02% increase in trade debts and mainly due to increase in overall sales revenue and sales rate causing the days to rise to 42. </a:t>
            </a:r>
            <a:r>
              <a:rPr lang="en-US" sz="1200" b="0" dirty="0"/>
              <a:t>all of them are good indicators as below 45days the turnover is good further more the days sales in receivables is lowest in 2018 at 20 days because </a:t>
            </a:r>
            <a:r>
              <a:rPr lang="en-US" sz="1200" b="1" dirty="0"/>
              <a:t>there are many trade debtors of the company that none of them have more than 10% of outstanding trade debts  and majority are long term customers for more than 5 years with no bad debts.</a:t>
            </a:r>
          </a:p>
          <a:p>
            <a:r>
              <a:rPr lang="en-US" sz="1200" b="1" dirty="0"/>
              <a:t>Inventory Turnover</a:t>
            </a:r>
            <a:r>
              <a:rPr lang="en-US" sz="1200" b="0" dirty="0"/>
              <a:t> is </a:t>
            </a:r>
            <a:r>
              <a:rPr lang="en-US" b="0" i="0" dirty="0">
                <a:solidFill>
                  <a:srgbClr val="202124"/>
                </a:solidFill>
                <a:effectLst/>
                <a:latin typeface="arial" panose="020B0604020202020204" pitchFamily="34" charset="0"/>
              </a:rPr>
              <a:t>the rate that inventory stock is sold, or used, and replaced. It had an decreasing but somewhat consistent trend as it only rose greatly in 2019 to 4.05 times but was between 2.5 and 3.5 times in 17-21. It </a:t>
            </a:r>
            <a:r>
              <a:rPr lang="en-US" b="1" i="0" dirty="0">
                <a:solidFill>
                  <a:srgbClr val="202124"/>
                </a:solidFill>
                <a:effectLst/>
                <a:latin typeface="arial" panose="020B0604020202020204" pitchFamily="34" charset="0"/>
              </a:rPr>
              <a:t>rose that much in 2019 because majority raw material inventory was converted in finished goods </a:t>
            </a:r>
            <a:r>
              <a:rPr lang="en-US" b="1" i="0" dirty="0" err="1">
                <a:solidFill>
                  <a:srgbClr val="202124"/>
                </a:solidFill>
                <a:effectLst/>
                <a:latin typeface="arial" panose="020B0604020202020204" pitchFamily="34" charset="0"/>
              </a:rPr>
              <a:t>incventory</a:t>
            </a:r>
            <a:r>
              <a:rPr lang="en-US" b="1" i="0" dirty="0">
                <a:solidFill>
                  <a:srgbClr val="202124"/>
                </a:solidFill>
                <a:effectLst/>
                <a:latin typeface="arial" panose="020B0604020202020204" pitchFamily="34" charset="0"/>
              </a:rPr>
              <a:t> and sold in the market as inventory decreased from 5917 million to 5620 million  </a:t>
            </a:r>
            <a:endParaRPr lang="en-US" sz="1200"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8E2DEA-5D57-4C5E-9BA7-7B0C0B4516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893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The Total debt ratio </a:t>
            </a:r>
            <a:r>
              <a:rPr lang="en-US" b="0" i="0" dirty="0">
                <a:solidFill>
                  <a:srgbClr val="202124"/>
                </a:solidFill>
                <a:effectLst/>
                <a:latin typeface="arial" panose="020B0604020202020204" pitchFamily="34" charset="0"/>
              </a:rPr>
              <a:t>measures the amount of leverage used by a company in terms of total debt to total assets. It had an increasing trend between 2017 to 2021 as it rose from .48 times to .63 times, highest in 2020 at .70 </a:t>
            </a:r>
            <a:r>
              <a:rPr lang="en-US" b="1" i="0" dirty="0">
                <a:solidFill>
                  <a:srgbClr val="202124"/>
                </a:solidFill>
                <a:effectLst/>
                <a:latin typeface="arial" panose="020B0604020202020204" pitchFamily="34" charset="0"/>
              </a:rPr>
              <a:t>due to never defaulting in any payments of its debtor likely to default in future so getting more debt easily</a:t>
            </a:r>
            <a:r>
              <a:rPr lang="en-US" b="0" i="0" dirty="0">
                <a:solidFill>
                  <a:srgbClr val="202124"/>
                </a:solidFill>
                <a:effectLst/>
                <a:latin typeface="arial" panose="020B0604020202020204" pitchFamily="34" charset="0"/>
              </a:rPr>
              <a:t> and minimum at year 2017.</a:t>
            </a:r>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8E2DEA-5D57-4C5E-9BA7-7B0C0B4516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71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Total debt to equity capital shows the company financial leverage with an increasing trend from .93 times in 2017 to 1.68 in 2021 with max in 2.34 times in </a:t>
            </a:r>
            <a:r>
              <a:rPr lang="en-US" b="1" dirty="0"/>
              <a:t>2020 as the company is in the process of expansion and investing huge amounts in terms of capital expenditure so Long Term Debts. </a:t>
            </a:r>
            <a:r>
              <a:rPr lang="en-US" b="0" dirty="0"/>
              <a:t>The long term debt to Equity capital ratio also having a increasing trend and it also is maximum in 2020 </a:t>
            </a:r>
            <a:r>
              <a:rPr lang="en-US" b="1" dirty="0"/>
              <a:t>as the company has never defaulted ever so investors are confident and give debt or capital for expansion.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8E2DEA-5D57-4C5E-9BA7-7B0C0B4516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2344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solidFill>
                  <a:srgbClr val="677788"/>
                </a:solidFill>
                <a:effectLst/>
                <a:latin typeface="AvenirNextLTW01-Regular"/>
              </a:rPr>
              <a:t>Asset utilization is a ratio that measures how efficient an organization is in using the assets to make money and turn a profit. In a manufacturing facility, it would measure how well you are using your installed production capacity. </a:t>
            </a:r>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5B2CD-E686-4EB7-AE35-E342593FDA06}" type="slidenum">
              <a:rPr kumimoji="0" lang="en-A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1883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t>Asset Turnover ratio</a:t>
            </a:r>
            <a:r>
              <a:rPr lang="en-US" sz="3200" b="0" dirty="0"/>
              <a:t>: measures the value of a company's sales or revenues relative to the value of its assets. The asset turnover ratio can be used as an indicator of the efficiency of how a company is using its assets to generate revenue. The higher the asset turnover ratio, the more efficient a company is at generating revenue from its assets and vice versa. For every rupee in assets, Mughal steel generated 1.4 rupees in sales in 2021. They have this ratio to a maximum of 2.2 in 2017. This has fallen since and currently is at 1.4. the decrease in 2021 could be attributed to procurement of new plant in 2021 and increasing of inventories due to fall in sales in the year 2020 has increased the total Assets by 65% which is quite a lot. </a:t>
            </a:r>
            <a:endParaRPr lang="en-US" sz="3200" b="1" dirty="0"/>
          </a:p>
          <a:p>
            <a:endParaRPr lang="en-US" sz="3200" b="1" dirty="0"/>
          </a:p>
          <a:p>
            <a:r>
              <a:rPr lang="en-US" sz="3200" b="1" dirty="0"/>
              <a:t>Inventory Turnover: </a:t>
            </a:r>
            <a:r>
              <a:rPr lang="en-US" sz="3200" b="0" dirty="0"/>
              <a:t>is a financial ratio showing how many times a company has sold and replaced inventory during a given period. Since Mughal Steels produces a bulky, heavy and high cost product therefore it has gone to a maximum to 4.1 times in 2019 and has remain around 3-2.5 over the other years. </a:t>
            </a:r>
          </a:p>
          <a:p>
            <a:endParaRPr lang="en-US" sz="3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t>Average OA turnover</a:t>
            </a:r>
            <a:r>
              <a:rPr lang="en-US" sz="3200" b="0" dirty="0"/>
              <a:t>: The operating asset turnover ratio is an efficiency ratio that identifies the revenue generation capabilities of a company’s operating assets. It shows for every 1 rupee invested in Operating Assets how much sales the company is able to generate. The </a:t>
            </a:r>
            <a:r>
              <a:rPr lang="en-US" sz="3200" b="0" i="0" u="none" strike="noStrike" dirty="0">
                <a:solidFill>
                  <a:srgbClr val="000000"/>
                </a:solidFill>
                <a:effectLst/>
                <a:latin typeface="Calibri" panose="020F0502020204030204" pitchFamily="34" charset="0"/>
              </a:rPr>
              <a:t>AVREAGE OPERATING ASSET TURNOVER for Mughal steel stayed between</a:t>
            </a:r>
            <a:r>
              <a:rPr lang="en-US" sz="3200" b="0" dirty="0"/>
              <a:t> 1.2-1.4 times. The increase in avg operating asset turnover from 1.1 in 2020 to 1.37 in 2021 could be due to increase in sales by 65%. The lowest avg operating asset turnover in 2020 could be due to major decrease in sales by 11%.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5B2CD-E686-4EB7-AE35-E342593FDA06}" type="slidenum">
              <a:rPr kumimoji="0" lang="en-A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771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sz="1000" b="1" dirty="0"/>
              <a:t>Account receivable turnover</a:t>
            </a:r>
            <a:r>
              <a:rPr lang="en-US" sz="1000" b="0" dirty="0"/>
              <a:t>: </a:t>
            </a:r>
            <a:r>
              <a:rPr lang="en-US" sz="1200" b="0" i="0" dirty="0">
                <a:solidFill>
                  <a:srgbClr val="BDC1C6"/>
                </a:solidFill>
                <a:effectLst/>
                <a:latin typeface="arial" panose="020B0604020202020204" pitchFamily="34" charset="0"/>
              </a:rPr>
              <a:t>Accounts receivable turnover shows the number of times per year that a business collects its average accounts receivable.</a:t>
            </a:r>
            <a:r>
              <a:rPr lang="en-US" sz="1000" b="0" dirty="0"/>
              <a:t> T</a:t>
            </a:r>
            <a:r>
              <a:rPr lang="en-US" sz="1200" b="0" i="0" dirty="0">
                <a:solidFill>
                  <a:srgbClr val="555555"/>
                </a:solidFill>
                <a:effectLst/>
                <a:latin typeface="Nunito Sans" panose="020B0604020202020204" pitchFamily="2" charset="0"/>
              </a:rPr>
              <a:t>he general rule of thumb is that the higher the accounts receivable turnover rate the better. A higher ratio, therefore, can mean:</a:t>
            </a:r>
          </a:p>
          <a:p>
            <a:pPr algn="l">
              <a:buFont typeface="Arial" panose="020B0604020202020204" pitchFamily="34" charset="0"/>
              <a:buChar char="•"/>
            </a:pPr>
            <a:r>
              <a:rPr lang="en-US" sz="1200" b="0" i="0" dirty="0">
                <a:solidFill>
                  <a:srgbClr val="555555"/>
                </a:solidFill>
                <a:effectLst/>
                <a:latin typeface="Nunito Sans" panose="020B0604020202020204" pitchFamily="2" charset="0"/>
              </a:rPr>
              <a:t>You receive payment for debts</a:t>
            </a:r>
          </a:p>
          <a:p>
            <a:pPr algn="l">
              <a:buFont typeface="Arial" panose="020B0604020202020204" pitchFamily="34" charset="0"/>
              <a:buChar char="•"/>
            </a:pPr>
            <a:r>
              <a:rPr lang="en-US" sz="1200" b="0" i="0" dirty="0">
                <a:solidFill>
                  <a:srgbClr val="555555"/>
                </a:solidFill>
                <a:effectLst/>
                <a:latin typeface="Nunito Sans" panose="020B0604020202020204" pitchFamily="2" charset="0"/>
              </a:rPr>
              <a:t>Your collections methods are effective.</a:t>
            </a:r>
          </a:p>
          <a:p>
            <a:pPr algn="l">
              <a:buFont typeface="Arial" panose="020B0604020202020204" pitchFamily="34" charset="0"/>
              <a:buChar char="•"/>
            </a:pPr>
            <a:r>
              <a:rPr lang="en-US" sz="1200" b="0" i="0" dirty="0">
                <a:solidFill>
                  <a:srgbClr val="555555"/>
                </a:solidFill>
                <a:effectLst/>
                <a:latin typeface="Nunito Sans" panose="020B0604020202020204" pitchFamily="2" charset="0"/>
              </a:rPr>
              <a:t>Lesser chances of bad debt.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dirty="0"/>
              <a:t>The turnover ratio was quite high until 2018 which fell in 2019 and 2020 exponentially probably because  the debtors were unable to repay their debts due to bad business conditions in the covid period. However, the acc rec turnover ratio did not improve in 2021 as well probably because Mughal steel have started giving</a:t>
            </a:r>
            <a:r>
              <a:rPr lang="en-US" sz="1200" b="0" i="0" dirty="0">
                <a:solidFill>
                  <a:srgbClr val="555555"/>
                </a:solidFill>
                <a:effectLst/>
                <a:latin typeface="Nunito Sans" pitchFamily="2" charset="0"/>
              </a:rPr>
              <a:t> credit too leniently.</a:t>
            </a:r>
          </a:p>
          <a:p>
            <a:endParaRPr lang="en-AE" dirty="0"/>
          </a:p>
          <a:p>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5B2CD-E686-4EB7-AE35-E342593FDA06}" type="slidenum">
              <a:rPr kumimoji="0" lang="en-A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6891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solidFill>
                  <a:srgbClr val="BDC1C6"/>
                </a:solidFill>
                <a:effectLst/>
                <a:latin typeface="arial" panose="020B0604020202020204" pitchFamily="34" charset="0"/>
              </a:rPr>
              <a:t>Market measure ratios show the relationship between the firm's market value that is measured by the current stock price and certain accounting values to asses the risk and return related with the firm</a:t>
            </a:r>
            <a:endParaRPr lang="en-US" b="0" dirty="0"/>
          </a:p>
          <a:p>
            <a:endParaRPr lang="en-US" dirty="0"/>
          </a:p>
          <a:p>
            <a:r>
              <a:rPr lang="en-US" dirty="0"/>
              <a:t>Price to earnings ratio: is the ratio for valuing a company that measures its current share price relative to its earnings per share (EPS). </a:t>
            </a:r>
            <a:r>
              <a:rPr lang="en-US" b="0" i="0" dirty="0">
                <a:solidFill>
                  <a:srgbClr val="FFFFFF"/>
                </a:solidFill>
                <a:effectLst/>
                <a:latin typeface="Roboto" panose="02000000000000000000" pitchFamily="2" charset="0"/>
              </a:rPr>
              <a:t>The Metal and Mining industry was trading at a PE ratio of 6.9 as of 31</a:t>
            </a:r>
            <a:r>
              <a:rPr lang="en-US" b="0" i="0" baseline="30000" dirty="0">
                <a:solidFill>
                  <a:srgbClr val="FFFFFF"/>
                </a:solidFill>
                <a:effectLst/>
                <a:latin typeface="Roboto" panose="02000000000000000000" pitchFamily="2" charset="0"/>
              </a:rPr>
              <a:t>st</a:t>
            </a:r>
            <a:r>
              <a:rPr lang="en-US" b="0" i="0" dirty="0">
                <a:solidFill>
                  <a:srgbClr val="FFFFFF"/>
                </a:solidFill>
                <a:effectLst/>
                <a:latin typeface="Roboto" panose="02000000000000000000" pitchFamily="2" charset="0"/>
              </a:rPr>
              <a:t> December 2021 which tells us that the shares of Mughal Steel were preforming better than the industry.</a:t>
            </a:r>
          </a:p>
          <a:p>
            <a:endParaRPr lang="en-US" dirty="0"/>
          </a:p>
          <a:p>
            <a:r>
              <a:rPr lang="en-US" dirty="0"/>
              <a:t>Earning Yield: Against each one rupee charged by the shareholders, Rs. 0.12, Rs. 0.06, Rs. 0.22, Rs. 0.08 and Rs. 0.05 of net income is earned by each share in the years 2021, 2020, 2019, 2018 and 2017 respectively. The earning yield for Mughal Steel increased in the years 2017 and 2018 due to higher PE ratio in its net income. For the year 2019, the earning yield increased to Rs. 0.22 due to lower PE ratio which was due to lower sales and hence net income. Since the EPS decreased in the year 2020 because of lower net income due lesser sales owing to Covid-19, the earning yield also fell. Lastly, in the year 2022, the earning yield increased again due to higher PE ratio because of higher net income. </a:t>
            </a:r>
          </a:p>
          <a:p>
            <a:endParaRPr lang="en-US" dirty="0"/>
          </a:p>
          <a:p>
            <a:r>
              <a:rPr lang="en-US" dirty="0"/>
              <a:t>Dividend Yield: Against each one rupee invested by the shareholders, Rs. 0.03, Rs. 0, Rs. 0.05, Rs. 0.04 and Rs. 0.03 of dividends has been earned by each share in the years 2021, 2020, 2019, 2018 and 2017 respectively. The dividend yield for Mughal Steel increased in the years 2017 and 2018 due to increase in the DPS. The dividend yield for Mughal Steel also increased in the year 2019 despite a lower DPS due to a huge decrease in its stock price from Rs. 62.57 in 2018 to Rs. 25.16 in 2019. However, the dividend yield for Mughal Steel decreased in the year 2021 due to high stock price as the stock price for Mughal Steel jumped from Rs. 39.88 in 2020 to Rs. 104.40 in 2021.</a:t>
            </a:r>
          </a:p>
          <a:p>
            <a:endParaRPr lang="en-US" dirty="0"/>
          </a:p>
          <a:p>
            <a:r>
              <a:rPr lang="en-US" dirty="0"/>
              <a:t>DPS: The company has paid a dividend of Rs. 3, Rs. 0, Rs. 1.2, Rs. 2.2 and Rs. 2.6 for every common stock outstanding in the years 2021, 2020, 2019, 2018 and 2017 respectively. The company paid a dividend of Rs. 0 in the year 2020 since it had lowest ever profited from the last 10 years due to Covid-19. On the other side, the company paid a dividend of Rs. 3 in the year 2021 since it had the highest profit . The company increased it’s DPS from the year 2017 to 2018 due to an increase in its net income.</a:t>
            </a:r>
          </a:p>
          <a:p>
            <a:endParaRPr lang="en-US" dirty="0"/>
          </a:p>
          <a:p>
            <a:r>
              <a:rPr lang="en-US" dirty="0"/>
              <a:t>Dividend Pay-out Ratio: The company distributed 23%, 0%, 22%, 43% and 62% of it’s net income as dividends in the years 2021, 2020, 2019, 2018 and 2017 respectively. The company had increased dividend pay-out ratio due to high DPS in the year 2017 and 2018. In the year 2019, since the DPS was low, therefore the dividend pay-out ratio was also low. In 2020, since there were no dividends the dividend pay-out ratio was also 0. Lastly, in the year 2021, although the dividends were higher than the previous 5 years, however, the dividend pay-out ratio came out to be lower due to very high net income</a:t>
            </a:r>
          </a:p>
          <a:p>
            <a:endParaRPr lang="en-US" dirty="0"/>
          </a:p>
          <a:p>
            <a:r>
              <a:rPr lang="en-US" dirty="0"/>
              <a:t>Capital Yield: Capital yield is the percentage price appreciation or depreciation on an investment. The capital yield for Mughal Steel was 161.79%, 58.51%, -59.79%, -22.49% and 20.15% for the years 2021, 2020, 2019, 2018 and 2017 respectively. This shows the gain/loss if the shares for Mughal Steel were traded in the following years.</a:t>
            </a:r>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5B2CD-E686-4EB7-AE35-E342593FDA06}" type="slidenum">
              <a:rPr kumimoji="0" lang="en-A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10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EPS: The EPS m</a:t>
            </a:r>
            <a:r>
              <a:rPr lang="en-US" b="0" i="0" dirty="0">
                <a:solidFill>
                  <a:srgbClr val="BDC1C6"/>
                </a:solidFill>
                <a:effectLst/>
                <a:latin typeface="arial" panose="020B0604020202020204" pitchFamily="34" charset="0"/>
              </a:rPr>
              <a:t>easures the amount of net income less preferred dividends earned per share.</a:t>
            </a:r>
            <a:r>
              <a:rPr lang="en-US" dirty="0"/>
              <a:t> There has been a drastic increase in the company’s earnings per share as it has increased from Rs. 2.25 to 12.85 from 2017 to 2021. The EPS increased from the year 2017 to 2019 majorly due to an increase in the net profit and decreased in 2020 due to lower net income and increased again in 2021 exponentially due to and exponential increase in net income. </a:t>
            </a:r>
          </a:p>
          <a:p>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5B2CD-E686-4EB7-AE35-E342593FDA06}" type="slidenum">
              <a:rPr kumimoji="0" lang="en-A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A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8714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From an investors point of view we would focus on market measures to base a decision of investing or not. The price of Mughal steel share has been more than 20 but has fluctuated around 40 and 100. The price earning ratio for has been decreasing which could mean that the company’s stock is highly undervalued. Eps has increased and earning is also growing with a shock in 2020 due to pandemic.  DPS has also increased, Capital yield has also increased significantly in 2021 and the dividend payout ratio is also a decent number which as an investor could mean a stream of income. </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From an investors POV, Mughal steel seems very promising and could be a good investment.</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D885D9-EB11-4B6C-AD2E-7A872225014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9162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800" dirty="0">
                <a:effectLst/>
                <a:latin typeface="Calibri" panose="020F0502020204030204" pitchFamily="34" charset="0"/>
                <a:ea typeface="Calibri" panose="020F0502020204030204" pitchFamily="34" charset="0"/>
                <a:cs typeface="Times New Roman" panose="02020603050405020304" pitchFamily="18" charset="0"/>
              </a:rPr>
              <a:t>Liquidity refers to the ability of an enterprise to meet its short-term financial obligations. </a:t>
            </a:r>
            <a:r>
              <a:rPr lang="en-US" sz="1800" dirty="0">
                <a:effectLst/>
                <a:latin typeface="Calibri" panose="020F0502020204030204" pitchFamily="34" charset="0"/>
                <a:ea typeface="Calibri" panose="020F0502020204030204" pitchFamily="34" charset="0"/>
                <a:cs typeface="Times New Roman" panose="02020603050405020304" pitchFamily="18" charset="0"/>
              </a:rPr>
              <a:t>First of all looking at the net working capital it is positive for all years therefore they had enough current assets to cover their short term obligations which is also reassured by current ratio being greater than 1. As a creditor to Mughal steel the cash to current assets ratio raises an alarm as it is quite small, also the increasing days sales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reciveables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increasing operating cycle is also a matter of concern as this could be an indicator of a weak recovery department. Day sales in inventory could be justified with the large scale of production they carry out so it could be high. Net trade cycle also has increased significantly from  36 to 105 days which is also reduces confidence in giving Mughal Steel credit. They have also generated very less cash against current liabilities as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depected</a:t>
            </a:r>
            <a:r>
              <a:rPr lang="en-US" sz="1800" dirty="0">
                <a:effectLst/>
                <a:latin typeface="Calibri" panose="020F0502020204030204" pitchFamily="34" charset="0"/>
                <a:ea typeface="Calibri" panose="020F0502020204030204" pitchFamily="34" charset="0"/>
                <a:cs typeface="Times New Roman" panose="02020603050405020304" pitchFamily="18" charset="0"/>
              </a:rPr>
              <a:t> by Cashflow measure therefore as a Trade creditor we would not give it credit as it has low liquid assets and although current assets are more than current liabilities but cash assets are less and there is likely to delay on payments.</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D885D9-EB11-4B6C-AD2E-7A872225014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9615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786977" y="1039006"/>
            <a:ext cx="2434870" cy="629400"/>
            <a:chOff x="2948823" y="810406"/>
            <a:chExt cx="2434870" cy="629400"/>
          </a:xfrm>
        </p:grpSpPr>
        <p:sp>
          <p:nvSpPr>
            <p:cNvPr id="10" name="Google Shape;10;p2"/>
            <p:cNvSpPr/>
            <p:nvPr/>
          </p:nvSpPr>
          <p:spPr>
            <a:xfrm rot="5400000">
              <a:off x="2908473" y="850756"/>
              <a:ext cx="629400" cy="5487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5400000">
              <a:off x="3851558" y="850756"/>
              <a:ext cx="629400" cy="5487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5400000">
              <a:off x="4794643" y="850756"/>
              <a:ext cx="629400" cy="5487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13;p2"/>
          <p:cNvSpPr/>
          <p:nvPr/>
        </p:nvSpPr>
        <p:spPr>
          <a:xfrm>
            <a:off x="0" y="2400300"/>
            <a:ext cx="2743200" cy="27432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flipH="1">
            <a:off x="7458600" y="0"/>
            <a:ext cx="1685400" cy="3657600"/>
          </a:xfrm>
          <a:prstGeom prst="snip2DiagRect">
            <a:avLst>
              <a:gd name="adj1" fmla="val 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txBox="1">
            <a:spLocks noGrp="1"/>
          </p:cNvSpPr>
          <p:nvPr>
            <p:ph type="ctrTitle"/>
          </p:nvPr>
        </p:nvSpPr>
        <p:spPr>
          <a:xfrm>
            <a:off x="720004" y="1520025"/>
            <a:ext cx="4935900" cy="1920300"/>
          </a:xfrm>
          <a:prstGeom prst="rect">
            <a:avLst/>
          </a:prstGeom>
        </p:spPr>
        <p:txBody>
          <a:bodyPr spcFirstLastPara="1" wrap="square" lIns="0" tIns="0" rIns="0" bIns="0" anchor="ctr" anchorCtr="0">
            <a:noAutofit/>
          </a:bodyPr>
          <a:lstStyle>
            <a:lvl1pPr lvl="0">
              <a:lnSpc>
                <a:spcPct val="80000"/>
              </a:lnSpc>
              <a:spcBef>
                <a:spcPts val="0"/>
              </a:spcBef>
              <a:spcAft>
                <a:spcPts val="0"/>
              </a:spcAft>
              <a:buClr>
                <a:srgbClr val="191919"/>
              </a:buClr>
              <a:buSzPts val="5200"/>
              <a:buNone/>
              <a:defRPr sz="55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
        <p:nvSpPr>
          <p:cNvPr id="16" name="Google Shape;16;p2"/>
          <p:cNvSpPr txBox="1">
            <a:spLocks noGrp="1"/>
          </p:cNvSpPr>
          <p:nvPr>
            <p:ph type="subTitle" idx="1"/>
          </p:nvPr>
        </p:nvSpPr>
        <p:spPr>
          <a:xfrm>
            <a:off x="720004" y="3839975"/>
            <a:ext cx="43590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94"/>
        <p:cNvGrpSpPr/>
        <p:nvPr/>
      </p:nvGrpSpPr>
      <p:grpSpPr>
        <a:xfrm>
          <a:off x="0" y="0"/>
          <a:ext cx="0" cy="0"/>
          <a:chOff x="0" y="0"/>
          <a:chExt cx="0" cy="0"/>
        </a:xfrm>
      </p:grpSpPr>
      <p:sp>
        <p:nvSpPr>
          <p:cNvPr id="295" name="Google Shape;295;p32"/>
          <p:cNvSpPr/>
          <p:nvPr/>
        </p:nvSpPr>
        <p:spPr>
          <a:xfrm>
            <a:off x="0" y="2880175"/>
            <a:ext cx="2286000" cy="2286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2"/>
          <p:cNvSpPr/>
          <p:nvPr/>
        </p:nvSpPr>
        <p:spPr>
          <a:xfrm flipH="1">
            <a:off x="7961700" y="0"/>
            <a:ext cx="1182300" cy="2743200"/>
          </a:xfrm>
          <a:prstGeom prst="snip2DiagRect">
            <a:avLst>
              <a:gd name="adj1" fmla="val 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D15B-5A58-8E7B-424F-D4BB6305A8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84A86D-3897-4D70-577A-2BD4B5E44B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3D002-2CF7-115D-EEEC-87B65893CD24}"/>
              </a:ext>
            </a:extLst>
          </p:cNvPr>
          <p:cNvSpPr>
            <a:spLocks noGrp="1"/>
          </p:cNvSpPr>
          <p:nvPr>
            <p:ph type="dt" sz="half" idx="10"/>
          </p:nvPr>
        </p:nvSpPr>
        <p:spPr/>
        <p:txBody>
          <a:bodyPr/>
          <a:lstStyle/>
          <a:p>
            <a:fld id="{0216FA97-FB74-483C-9BD6-1CF647DC569F}" type="datetimeFigureOut">
              <a:rPr lang="en-US" smtClean="0"/>
              <a:t>5/12/2022</a:t>
            </a:fld>
            <a:endParaRPr lang="en-US"/>
          </a:p>
        </p:txBody>
      </p:sp>
      <p:sp>
        <p:nvSpPr>
          <p:cNvPr id="5" name="Footer Placeholder 4">
            <a:extLst>
              <a:ext uri="{FF2B5EF4-FFF2-40B4-BE49-F238E27FC236}">
                <a16:creationId xmlns:a16="http://schemas.microsoft.com/office/drawing/2014/main" id="{B7FD51D6-AFF9-C423-4765-310F77CBD4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FDD53-F70F-FE72-D6D8-26E1658FF9A3}"/>
              </a:ext>
            </a:extLst>
          </p:cNvPr>
          <p:cNvSpPr>
            <a:spLocks noGrp="1"/>
          </p:cNvSpPr>
          <p:nvPr>
            <p:ph type="sldNum" sz="quarter" idx="12"/>
          </p:nvPr>
        </p:nvSpPr>
        <p:spPr/>
        <p:txBody>
          <a:bodyPr/>
          <a:lstStyle/>
          <a:p>
            <a:fld id="{B0003DFB-87A7-428C-98F6-37325518D669}" type="slidenum">
              <a:rPr lang="en-US" smtClean="0"/>
              <a:t>‹#›</a:t>
            </a:fld>
            <a:endParaRPr lang="en-US"/>
          </a:p>
        </p:txBody>
      </p:sp>
    </p:spTree>
    <p:extLst>
      <p:ext uri="{BB962C8B-B14F-4D97-AF65-F5344CB8AC3E}">
        <p14:creationId xmlns:p14="http://schemas.microsoft.com/office/powerpoint/2010/main" val="991058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317C-420B-DA38-7850-BF28E60F23DE}"/>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F09513-A3AD-4A7C-7CE3-B813B78C42B9}"/>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304AAE9-65C9-2854-D734-D331944EA582}"/>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6F7FBF14-3710-EAFE-EC62-EB1EB03B6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BD3C0-2AC1-B051-CB53-627F88C36E61}"/>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7" name="Group 6">
            <a:extLst>
              <a:ext uri="{FF2B5EF4-FFF2-40B4-BE49-F238E27FC236}">
                <a16:creationId xmlns:a16="http://schemas.microsoft.com/office/drawing/2014/main" id="{B87D81D4-EC3C-A88A-CFF4-9A9C73AF67E2}"/>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9200F32A-4DEC-548B-A0CD-623205954A68}"/>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A87A3C21-4989-5BD6-C558-99C6CEC369C8}"/>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B2931317-6313-EFE2-72AB-0F5A7325C8BA}"/>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99D7AD9D-2D9C-AFC8-5BF4-3268257D1ED2}"/>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ABBE7F49-E78A-F237-30C2-A9E653F05D7A}"/>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03174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81066-E373-5B82-B8C1-4176CDA81B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F3CC3B-C714-18BF-3720-26A01CC9145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0899959-B183-ED85-3740-80A30AE65808}"/>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4206B3FC-91A8-532A-5290-2FEB98890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6F3B0-BAAE-9805-876B-3FD0357B6856}"/>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13" name="Group 12">
            <a:extLst>
              <a:ext uri="{FF2B5EF4-FFF2-40B4-BE49-F238E27FC236}">
                <a16:creationId xmlns:a16="http://schemas.microsoft.com/office/drawing/2014/main" id="{3FEAD73C-9A83-2D1A-BE85-66ECED81CCDC}"/>
              </a:ext>
            </a:extLst>
          </p:cNvPr>
          <p:cNvGrpSpPr/>
          <p:nvPr userDrawn="1"/>
        </p:nvGrpSpPr>
        <p:grpSpPr>
          <a:xfrm>
            <a:off x="-227075" y="-6976"/>
            <a:ext cx="846139" cy="916720"/>
            <a:chOff x="-227075" y="-6976"/>
            <a:chExt cx="846139" cy="916720"/>
          </a:xfrm>
        </p:grpSpPr>
        <p:grpSp>
          <p:nvGrpSpPr>
            <p:cNvPr id="7" name="Google Shape;125;p16">
              <a:extLst>
                <a:ext uri="{FF2B5EF4-FFF2-40B4-BE49-F238E27FC236}">
                  <a16:creationId xmlns:a16="http://schemas.microsoft.com/office/drawing/2014/main" id="{2751317C-95D7-1FE7-12B2-62A8A6623238}"/>
                </a:ext>
              </a:extLst>
            </p:cNvPr>
            <p:cNvGrpSpPr/>
            <p:nvPr userDrawn="1"/>
          </p:nvGrpSpPr>
          <p:grpSpPr>
            <a:xfrm flipH="1">
              <a:off x="-227075" y="-6920"/>
              <a:ext cx="846139" cy="916664"/>
              <a:chOff x="4609750" y="1462400"/>
              <a:chExt cx="1524025" cy="1671525"/>
            </a:xfrm>
          </p:grpSpPr>
          <p:sp>
            <p:nvSpPr>
              <p:cNvPr id="8" name="Google Shape;126;p16">
                <a:extLst>
                  <a:ext uri="{FF2B5EF4-FFF2-40B4-BE49-F238E27FC236}">
                    <a16:creationId xmlns:a16="http://schemas.microsoft.com/office/drawing/2014/main" id="{8675AE3C-4A39-1183-44AC-9E023B1D1E5D}"/>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p16">
                <a:extLst>
                  <a:ext uri="{FF2B5EF4-FFF2-40B4-BE49-F238E27FC236}">
                    <a16:creationId xmlns:a16="http://schemas.microsoft.com/office/drawing/2014/main" id="{F242F941-9800-8856-5B9A-04E04CB11882}"/>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8;p16">
                <a:extLst>
                  <a:ext uri="{FF2B5EF4-FFF2-40B4-BE49-F238E27FC236}">
                    <a16:creationId xmlns:a16="http://schemas.microsoft.com/office/drawing/2014/main" id="{CAA1D8D6-4615-0AEB-1284-BFEEBD4DCF01}"/>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27;p16">
              <a:extLst>
                <a:ext uri="{FF2B5EF4-FFF2-40B4-BE49-F238E27FC236}">
                  <a16:creationId xmlns:a16="http://schemas.microsoft.com/office/drawing/2014/main" id="{423EE8E5-1F5C-8A2A-20A3-C41E021A20A9}"/>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00022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52A0-4464-05FA-715A-5F0007F360E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E6DB1F0-A1BD-34CE-BFC6-A7CF74C35F81}"/>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B0A65E-67F1-D93A-15E8-CBE22C36300B}"/>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14B9604B-2BED-5C3E-7A92-F00BAE0125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B5D27E-7DD3-3591-69BC-E20B5198A701}"/>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7" name="Group 6">
            <a:extLst>
              <a:ext uri="{FF2B5EF4-FFF2-40B4-BE49-F238E27FC236}">
                <a16:creationId xmlns:a16="http://schemas.microsoft.com/office/drawing/2014/main" id="{453A8781-2289-468F-4F3D-054B47770748}"/>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C805FE30-25D0-A49B-23F0-E449AE9CAD18}"/>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19386A27-7337-00EF-1ADE-CDF2EB0F5DF6}"/>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8434CFB0-8B47-D4FD-ABED-973CC8B20F86}"/>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025DBAD6-8BCF-9D61-15A6-D0698C2B3C5E}"/>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79D88361-0580-F157-2588-109042FCF6EA}"/>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13241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C663-2600-BAC5-7BF5-16AEF5D2D2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89EFE2-B24D-664F-48C4-1E14655FA05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27BF50-CAF6-D822-5D6C-ADE700B3D8F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1883E9-0B07-235D-8FF2-3D1319020B39}"/>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6" name="Footer Placeholder 5">
            <a:extLst>
              <a:ext uri="{FF2B5EF4-FFF2-40B4-BE49-F238E27FC236}">
                <a16:creationId xmlns:a16="http://schemas.microsoft.com/office/drawing/2014/main" id="{DC3D0246-2925-70DC-A643-E00C99D870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2C094-15B8-CDC6-1F45-987C697B73B8}"/>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8" name="Group 7">
            <a:extLst>
              <a:ext uri="{FF2B5EF4-FFF2-40B4-BE49-F238E27FC236}">
                <a16:creationId xmlns:a16="http://schemas.microsoft.com/office/drawing/2014/main" id="{36947999-101F-1A2C-0A29-DD6E40717310}"/>
              </a:ext>
            </a:extLst>
          </p:cNvPr>
          <p:cNvGrpSpPr/>
          <p:nvPr userDrawn="1"/>
        </p:nvGrpSpPr>
        <p:grpSpPr>
          <a:xfrm>
            <a:off x="-227075" y="-6976"/>
            <a:ext cx="846139" cy="916720"/>
            <a:chOff x="-227075" y="-6976"/>
            <a:chExt cx="846139" cy="916720"/>
          </a:xfrm>
        </p:grpSpPr>
        <p:grpSp>
          <p:nvGrpSpPr>
            <p:cNvPr id="9" name="Google Shape;125;p16">
              <a:extLst>
                <a:ext uri="{FF2B5EF4-FFF2-40B4-BE49-F238E27FC236}">
                  <a16:creationId xmlns:a16="http://schemas.microsoft.com/office/drawing/2014/main" id="{68C01B48-D7B4-E42A-DA44-DFD9617D9C69}"/>
                </a:ext>
              </a:extLst>
            </p:cNvPr>
            <p:cNvGrpSpPr/>
            <p:nvPr userDrawn="1"/>
          </p:nvGrpSpPr>
          <p:grpSpPr>
            <a:xfrm flipH="1">
              <a:off x="-227075" y="-6920"/>
              <a:ext cx="846139" cy="916664"/>
              <a:chOff x="4609750" y="1462400"/>
              <a:chExt cx="1524025" cy="1671525"/>
            </a:xfrm>
          </p:grpSpPr>
          <p:sp>
            <p:nvSpPr>
              <p:cNvPr id="11" name="Google Shape;126;p16">
                <a:extLst>
                  <a:ext uri="{FF2B5EF4-FFF2-40B4-BE49-F238E27FC236}">
                    <a16:creationId xmlns:a16="http://schemas.microsoft.com/office/drawing/2014/main" id="{21D7D885-0E12-FF9F-D61D-72878BF22FEB}"/>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p16">
                <a:extLst>
                  <a:ext uri="{FF2B5EF4-FFF2-40B4-BE49-F238E27FC236}">
                    <a16:creationId xmlns:a16="http://schemas.microsoft.com/office/drawing/2014/main" id="{E422EDBD-2A88-CE37-1F1A-ECF8E777AD41}"/>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8;p16">
                <a:extLst>
                  <a:ext uri="{FF2B5EF4-FFF2-40B4-BE49-F238E27FC236}">
                    <a16:creationId xmlns:a16="http://schemas.microsoft.com/office/drawing/2014/main" id="{15E89D97-57CF-CBF2-1CA6-527769C97237}"/>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27;p16">
              <a:extLst>
                <a:ext uri="{FF2B5EF4-FFF2-40B4-BE49-F238E27FC236}">
                  <a16:creationId xmlns:a16="http://schemas.microsoft.com/office/drawing/2014/main" id="{468B2E78-C08F-B8F3-507C-CEC664B4979D}"/>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72694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13D63-24EB-1A9A-3B7A-890E3F5670BF}"/>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70402A-C682-665C-2971-A9EA3F3BAE5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6DDA8C2-BCB6-AC15-3FAA-A3EECFA19CBE}"/>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C2924D-A2AF-42BF-CD37-3BAD2697AA6E}"/>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776EA76-D4D6-D7C8-EA2A-C54686E676D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1201C5-078B-FB73-47E4-FA1F570C8DB4}"/>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8" name="Footer Placeholder 7">
            <a:extLst>
              <a:ext uri="{FF2B5EF4-FFF2-40B4-BE49-F238E27FC236}">
                <a16:creationId xmlns:a16="http://schemas.microsoft.com/office/drawing/2014/main" id="{B8809490-48CA-1651-9868-D72C543C83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2B9158-5CBA-B811-D2C6-A4445544E2AD}"/>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10" name="Group 9">
            <a:extLst>
              <a:ext uri="{FF2B5EF4-FFF2-40B4-BE49-F238E27FC236}">
                <a16:creationId xmlns:a16="http://schemas.microsoft.com/office/drawing/2014/main" id="{5AEA794D-49C3-EB7B-3EED-5B3A66D7D221}"/>
              </a:ext>
            </a:extLst>
          </p:cNvPr>
          <p:cNvGrpSpPr/>
          <p:nvPr userDrawn="1"/>
        </p:nvGrpSpPr>
        <p:grpSpPr>
          <a:xfrm>
            <a:off x="-227075" y="-6976"/>
            <a:ext cx="846139" cy="916720"/>
            <a:chOff x="-227075" y="-6976"/>
            <a:chExt cx="846139" cy="916720"/>
          </a:xfrm>
        </p:grpSpPr>
        <p:grpSp>
          <p:nvGrpSpPr>
            <p:cNvPr id="11" name="Google Shape;125;p16">
              <a:extLst>
                <a:ext uri="{FF2B5EF4-FFF2-40B4-BE49-F238E27FC236}">
                  <a16:creationId xmlns:a16="http://schemas.microsoft.com/office/drawing/2014/main" id="{B751B11C-587E-9882-A348-7F18E48E466C}"/>
                </a:ext>
              </a:extLst>
            </p:cNvPr>
            <p:cNvGrpSpPr/>
            <p:nvPr userDrawn="1"/>
          </p:nvGrpSpPr>
          <p:grpSpPr>
            <a:xfrm flipH="1">
              <a:off x="-227075" y="-6920"/>
              <a:ext cx="846139" cy="916664"/>
              <a:chOff x="4609750" y="1462400"/>
              <a:chExt cx="1524025" cy="1671525"/>
            </a:xfrm>
          </p:grpSpPr>
          <p:sp>
            <p:nvSpPr>
              <p:cNvPr id="13" name="Google Shape;126;p16">
                <a:extLst>
                  <a:ext uri="{FF2B5EF4-FFF2-40B4-BE49-F238E27FC236}">
                    <a16:creationId xmlns:a16="http://schemas.microsoft.com/office/drawing/2014/main" id="{919B7B27-E23C-B118-2396-7A423479E2EA}"/>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7;p16">
                <a:extLst>
                  <a:ext uri="{FF2B5EF4-FFF2-40B4-BE49-F238E27FC236}">
                    <a16:creationId xmlns:a16="http://schemas.microsoft.com/office/drawing/2014/main" id="{C0365986-9127-AD97-69F6-FA83F4D0E146}"/>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8;p16">
                <a:extLst>
                  <a:ext uri="{FF2B5EF4-FFF2-40B4-BE49-F238E27FC236}">
                    <a16:creationId xmlns:a16="http://schemas.microsoft.com/office/drawing/2014/main" id="{93B0C514-FE5E-DC3A-C768-C34DE43D6112}"/>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27;p16">
              <a:extLst>
                <a:ext uri="{FF2B5EF4-FFF2-40B4-BE49-F238E27FC236}">
                  <a16:creationId xmlns:a16="http://schemas.microsoft.com/office/drawing/2014/main" id="{8EC18D87-EE1E-2221-4E4C-35B174886343}"/>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4049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3279-EE44-9D2C-1FFF-95373A9B42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3024D0-4CB6-ECFC-B772-BBEED4195035}"/>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4" name="Footer Placeholder 3">
            <a:extLst>
              <a:ext uri="{FF2B5EF4-FFF2-40B4-BE49-F238E27FC236}">
                <a16:creationId xmlns:a16="http://schemas.microsoft.com/office/drawing/2014/main" id="{17DEC7C5-16DE-2BD4-3109-5FF0BEA557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1AFA7F-DA4B-79E4-A17D-16F8507F1063}"/>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6" name="Group 5">
            <a:extLst>
              <a:ext uri="{FF2B5EF4-FFF2-40B4-BE49-F238E27FC236}">
                <a16:creationId xmlns:a16="http://schemas.microsoft.com/office/drawing/2014/main" id="{F4FE9B65-E767-E19E-98CF-C5DDE2F42F66}"/>
              </a:ext>
            </a:extLst>
          </p:cNvPr>
          <p:cNvGrpSpPr/>
          <p:nvPr userDrawn="1"/>
        </p:nvGrpSpPr>
        <p:grpSpPr>
          <a:xfrm>
            <a:off x="-227075" y="-6976"/>
            <a:ext cx="846139" cy="916720"/>
            <a:chOff x="-227075" y="-6976"/>
            <a:chExt cx="846139" cy="916720"/>
          </a:xfrm>
        </p:grpSpPr>
        <p:grpSp>
          <p:nvGrpSpPr>
            <p:cNvPr id="7" name="Google Shape;125;p16">
              <a:extLst>
                <a:ext uri="{FF2B5EF4-FFF2-40B4-BE49-F238E27FC236}">
                  <a16:creationId xmlns:a16="http://schemas.microsoft.com/office/drawing/2014/main" id="{FCB3EA53-AC69-9CD2-AD2E-FC668E307C0F}"/>
                </a:ext>
              </a:extLst>
            </p:cNvPr>
            <p:cNvGrpSpPr/>
            <p:nvPr userDrawn="1"/>
          </p:nvGrpSpPr>
          <p:grpSpPr>
            <a:xfrm flipH="1">
              <a:off x="-227075" y="-6920"/>
              <a:ext cx="846139" cy="916664"/>
              <a:chOff x="4609750" y="1462400"/>
              <a:chExt cx="1524025" cy="1671525"/>
            </a:xfrm>
          </p:grpSpPr>
          <p:sp>
            <p:nvSpPr>
              <p:cNvPr id="9" name="Google Shape;126;p16">
                <a:extLst>
                  <a:ext uri="{FF2B5EF4-FFF2-40B4-BE49-F238E27FC236}">
                    <a16:creationId xmlns:a16="http://schemas.microsoft.com/office/drawing/2014/main" id="{71D8B6BE-E35F-FE1F-99F0-DAB2B8833406}"/>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7;p16">
                <a:extLst>
                  <a:ext uri="{FF2B5EF4-FFF2-40B4-BE49-F238E27FC236}">
                    <a16:creationId xmlns:a16="http://schemas.microsoft.com/office/drawing/2014/main" id="{5969BAE9-168D-06FF-8D77-DC3B7812A54A}"/>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8;p16">
                <a:extLst>
                  <a:ext uri="{FF2B5EF4-FFF2-40B4-BE49-F238E27FC236}">
                    <a16:creationId xmlns:a16="http://schemas.microsoft.com/office/drawing/2014/main" id="{A92B480F-B573-CCE7-CB65-54E9A5B7F34D}"/>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127;p16">
              <a:extLst>
                <a:ext uri="{FF2B5EF4-FFF2-40B4-BE49-F238E27FC236}">
                  <a16:creationId xmlns:a16="http://schemas.microsoft.com/office/drawing/2014/main" id="{489225E8-D58D-5EF1-BE34-BA5286593FB1}"/>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57827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A542B7-3064-950A-0C3A-B9C1FDE0EE14}"/>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3" name="Footer Placeholder 2">
            <a:extLst>
              <a:ext uri="{FF2B5EF4-FFF2-40B4-BE49-F238E27FC236}">
                <a16:creationId xmlns:a16="http://schemas.microsoft.com/office/drawing/2014/main" id="{12EFE17A-361D-9BBB-5414-E98D0F7DF7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C3ECE2-6028-A6C0-3019-415B2286CCCD}"/>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5" name="Group 4">
            <a:extLst>
              <a:ext uri="{FF2B5EF4-FFF2-40B4-BE49-F238E27FC236}">
                <a16:creationId xmlns:a16="http://schemas.microsoft.com/office/drawing/2014/main" id="{8A39A31D-B783-9515-D0DD-C2001E2554D6}"/>
              </a:ext>
            </a:extLst>
          </p:cNvPr>
          <p:cNvGrpSpPr/>
          <p:nvPr userDrawn="1"/>
        </p:nvGrpSpPr>
        <p:grpSpPr>
          <a:xfrm>
            <a:off x="-227075" y="-6976"/>
            <a:ext cx="846139" cy="916720"/>
            <a:chOff x="-227075" y="-6976"/>
            <a:chExt cx="846139" cy="916720"/>
          </a:xfrm>
        </p:grpSpPr>
        <p:grpSp>
          <p:nvGrpSpPr>
            <p:cNvPr id="6" name="Google Shape;125;p16">
              <a:extLst>
                <a:ext uri="{FF2B5EF4-FFF2-40B4-BE49-F238E27FC236}">
                  <a16:creationId xmlns:a16="http://schemas.microsoft.com/office/drawing/2014/main" id="{93A5402C-B6C8-BE74-8F46-14B089ABD23B}"/>
                </a:ext>
              </a:extLst>
            </p:cNvPr>
            <p:cNvGrpSpPr/>
            <p:nvPr userDrawn="1"/>
          </p:nvGrpSpPr>
          <p:grpSpPr>
            <a:xfrm flipH="1">
              <a:off x="-227075" y="-6920"/>
              <a:ext cx="846139" cy="916664"/>
              <a:chOff x="4609750" y="1462400"/>
              <a:chExt cx="1524025" cy="1671525"/>
            </a:xfrm>
          </p:grpSpPr>
          <p:sp>
            <p:nvSpPr>
              <p:cNvPr id="8" name="Google Shape;126;p16">
                <a:extLst>
                  <a:ext uri="{FF2B5EF4-FFF2-40B4-BE49-F238E27FC236}">
                    <a16:creationId xmlns:a16="http://schemas.microsoft.com/office/drawing/2014/main" id="{CBD09178-C3C2-B40F-C20C-363F55B13A84}"/>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7;p16">
                <a:extLst>
                  <a:ext uri="{FF2B5EF4-FFF2-40B4-BE49-F238E27FC236}">
                    <a16:creationId xmlns:a16="http://schemas.microsoft.com/office/drawing/2014/main" id="{65669799-B25D-1A9E-1FE4-68B207FA5D8F}"/>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8;p16">
                <a:extLst>
                  <a:ext uri="{FF2B5EF4-FFF2-40B4-BE49-F238E27FC236}">
                    <a16:creationId xmlns:a16="http://schemas.microsoft.com/office/drawing/2014/main" id="{111760E0-F8FA-ECB3-BA90-C4FE9C87CA9E}"/>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27;p16">
              <a:extLst>
                <a:ext uri="{FF2B5EF4-FFF2-40B4-BE49-F238E27FC236}">
                  <a16:creationId xmlns:a16="http://schemas.microsoft.com/office/drawing/2014/main" id="{9AD10C89-71C5-6396-7EBE-7E4A9396601F}"/>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11411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95DA-76BB-3327-6C91-44DE2C38B18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068DD6B-5F51-F415-F214-C5DD8CAB950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6F9F85-7AB4-AC13-154B-C259871E060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BBE511A-5B5B-C17D-0E8F-CF07A18A498A}"/>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6" name="Footer Placeholder 5">
            <a:extLst>
              <a:ext uri="{FF2B5EF4-FFF2-40B4-BE49-F238E27FC236}">
                <a16:creationId xmlns:a16="http://schemas.microsoft.com/office/drawing/2014/main" id="{626D464D-69F5-4AB0-0B9F-CC53E86529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97897-AA47-DD1D-A9D1-BAAA339D0DDA}"/>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8" name="Group 7">
            <a:extLst>
              <a:ext uri="{FF2B5EF4-FFF2-40B4-BE49-F238E27FC236}">
                <a16:creationId xmlns:a16="http://schemas.microsoft.com/office/drawing/2014/main" id="{943EFAE8-91D4-1980-7A5D-98C0D5944E66}"/>
              </a:ext>
            </a:extLst>
          </p:cNvPr>
          <p:cNvGrpSpPr/>
          <p:nvPr userDrawn="1"/>
        </p:nvGrpSpPr>
        <p:grpSpPr>
          <a:xfrm>
            <a:off x="-227075" y="-6976"/>
            <a:ext cx="846139" cy="916720"/>
            <a:chOff x="-227075" y="-6976"/>
            <a:chExt cx="846139" cy="916720"/>
          </a:xfrm>
        </p:grpSpPr>
        <p:grpSp>
          <p:nvGrpSpPr>
            <p:cNvPr id="9" name="Google Shape;125;p16">
              <a:extLst>
                <a:ext uri="{FF2B5EF4-FFF2-40B4-BE49-F238E27FC236}">
                  <a16:creationId xmlns:a16="http://schemas.microsoft.com/office/drawing/2014/main" id="{CCFEBC6D-01BA-DEF0-A885-D2A9C3108DB1}"/>
                </a:ext>
              </a:extLst>
            </p:cNvPr>
            <p:cNvGrpSpPr/>
            <p:nvPr userDrawn="1"/>
          </p:nvGrpSpPr>
          <p:grpSpPr>
            <a:xfrm flipH="1">
              <a:off x="-227075" y="-6920"/>
              <a:ext cx="846139" cy="916664"/>
              <a:chOff x="4609750" y="1462400"/>
              <a:chExt cx="1524025" cy="1671525"/>
            </a:xfrm>
          </p:grpSpPr>
          <p:sp>
            <p:nvSpPr>
              <p:cNvPr id="11" name="Google Shape;126;p16">
                <a:extLst>
                  <a:ext uri="{FF2B5EF4-FFF2-40B4-BE49-F238E27FC236}">
                    <a16:creationId xmlns:a16="http://schemas.microsoft.com/office/drawing/2014/main" id="{1B2D4283-84A7-1124-D832-CCC6D474D0DA}"/>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p16">
                <a:extLst>
                  <a:ext uri="{FF2B5EF4-FFF2-40B4-BE49-F238E27FC236}">
                    <a16:creationId xmlns:a16="http://schemas.microsoft.com/office/drawing/2014/main" id="{EC45E5DB-AFED-BD86-8A28-EEB85922F99F}"/>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8;p16">
                <a:extLst>
                  <a:ext uri="{FF2B5EF4-FFF2-40B4-BE49-F238E27FC236}">
                    <a16:creationId xmlns:a16="http://schemas.microsoft.com/office/drawing/2014/main" id="{4C11D369-9332-FC83-F7EF-1D1E4C16EAD8}"/>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27;p16">
              <a:extLst>
                <a:ext uri="{FF2B5EF4-FFF2-40B4-BE49-F238E27FC236}">
                  <a16:creationId xmlns:a16="http://schemas.microsoft.com/office/drawing/2014/main" id="{57EF3B69-FE18-99A5-7C45-015F96BE1971}"/>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46437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C761-78B5-E85B-257A-2704870A90C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55D9333-5DC8-78C7-77D1-DFBD09D00E5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7C49410-C3BA-BA53-D0D5-B734018BA4E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7386D35-6FB6-63C3-B69C-BAD51D1B92BD}"/>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6" name="Footer Placeholder 5">
            <a:extLst>
              <a:ext uri="{FF2B5EF4-FFF2-40B4-BE49-F238E27FC236}">
                <a16:creationId xmlns:a16="http://schemas.microsoft.com/office/drawing/2014/main" id="{175970C9-6F78-9C2C-F797-D66A8D4CB8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C4023A-5FB7-F3E4-C3CA-2CF908A3BEC9}"/>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8" name="Group 7">
            <a:extLst>
              <a:ext uri="{FF2B5EF4-FFF2-40B4-BE49-F238E27FC236}">
                <a16:creationId xmlns:a16="http://schemas.microsoft.com/office/drawing/2014/main" id="{7F2B566F-E8AC-ABF2-2F68-67370420A187}"/>
              </a:ext>
            </a:extLst>
          </p:cNvPr>
          <p:cNvGrpSpPr/>
          <p:nvPr userDrawn="1"/>
        </p:nvGrpSpPr>
        <p:grpSpPr>
          <a:xfrm>
            <a:off x="-227075" y="-6976"/>
            <a:ext cx="846139" cy="916720"/>
            <a:chOff x="-227075" y="-6976"/>
            <a:chExt cx="846139" cy="916720"/>
          </a:xfrm>
        </p:grpSpPr>
        <p:grpSp>
          <p:nvGrpSpPr>
            <p:cNvPr id="9" name="Google Shape;125;p16">
              <a:extLst>
                <a:ext uri="{FF2B5EF4-FFF2-40B4-BE49-F238E27FC236}">
                  <a16:creationId xmlns:a16="http://schemas.microsoft.com/office/drawing/2014/main" id="{1436A859-6644-7755-3667-D4F7BE9D72A8}"/>
                </a:ext>
              </a:extLst>
            </p:cNvPr>
            <p:cNvGrpSpPr/>
            <p:nvPr userDrawn="1"/>
          </p:nvGrpSpPr>
          <p:grpSpPr>
            <a:xfrm flipH="1">
              <a:off x="-227075" y="-6920"/>
              <a:ext cx="846139" cy="916664"/>
              <a:chOff x="4609750" y="1462400"/>
              <a:chExt cx="1524025" cy="1671525"/>
            </a:xfrm>
          </p:grpSpPr>
          <p:sp>
            <p:nvSpPr>
              <p:cNvPr id="11" name="Google Shape;126;p16">
                <a:extLst>
                  <a:ext uri="{FF2B5EF4-FFF2-40B4-BE49-F238E27FC236}">
                    <a16:creationId xmlns:a16="http://schemas.microsoft.com/office/drawing/2014/main" id="{6F6DF47F-096B-4CC8-F8D9-6104BE8C9E60}"/>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p16">
                <a:extLst>
                  <a:ext uri="{FF2B5EF4-FFF2-40B4-BE49-F238E27FC236}">
                    <a16:creationId xmlns:a16="http://schemas.microsoft.com/office/drawing/2014/main" id="{8CE535B8-12D5-AE43-41B6-49FCD23A2646}"/>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8;p16">
                <a:extLst>
                  <a:ext uri="{FF2B5EF4-FFF2-40B4-BE49-F238E27FC236}">
                    <a16:creationId xmlns:a16="http://schemas.microsoft.com/office/drawing/2014/main" id="{79DFAE28-646B-BCE1-3870-1F213A4CACAF}"/>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27;p16">
              <a:extLst>
                <a:ext uri="{FF2B5EF4-FFF2-40B4-BE49-F238E27FC236}">
                  <a16:creationId xmlns:a16="http://schemas.microsoft.com/office/drawing/2014/main" id="{41629DF7-39B7-535F-8380-D5609C0D62B3}"/>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89635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285F4-CBF6-BFD5-0CE5-582C5D0280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195728-1F24-E3B7-C98C-377F00D42A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537A52-6750-4175-B399-731D4772044A}"/>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B8FC4F77-0585-CF78-9F66-26607BAE8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B2159-6E6B-556F-E199-6AB2E301EE2B}"/>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7" name="Group 6">
            <a:extLst>
              <a:ext uri="{FF2B5EF4-FFF2-40B4-BE49-F238E27FC236}">
                <a16:creationId xmlns:a16="http://schemas.microsoft.com/office/drawing/2014/main" id="{6B8418C0-7117-5D4C-FDFB-B9C3B0BEC9F1}"/>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289AF684-07DF-AC17-6635-172735C44D5A}"/>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0E5BDE11-7876-985C-8A42-68AE2F9DEF0E}"/>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716C6C8D-316A-3520-CB40-608D86875C81}"/>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7FA8C318-73E1-DD6F-C414-FE7B21F36A19}"/>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C1961602-BDF4-5123-AF94-37D9FFBD8DBE}"/>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46679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E37498-06F7-10DC-30B7-AED08DEE7D8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89CB9C-74FE-463A-44AB-E78F9B73C0E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0EC0C7-8A54-56E8-83A1-DCE0196960D2}"/>
              </a:ext>
            </a:extLst>
          </p:cNvPr>
          <p:cNvSpPr>
            <a:spLocks noGrp="1"/>
          </p:cNvSpPr>
          <p:nvPr>
            <p:ph type="dt" sz="half" idx="10"/>
          </p:nvPr>
        </p:nvSpPr>
        <p:spPr/>
        <p:txBody>
          <a:body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1868D360-AD92-9CB1-4E3C-1F33A0FE9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591ED7-75BA-265C-D200-E67607F24FB9}"/>
              </a:ext>
            </a:extLst>
          </p:cNvPr>
          <p:cNvSpPr>
            <a:spLocks noGrp="1"/>
          </p:cNvSpPr>
          <p:nvPr>
            <p:ph type="sldNum" sz="quarter" idx="12"/>
          </p:nvPr>
        </p:nvSpPr>
        <p:spPr/>
        <p:txBody>
          <a:bodyPr/>
          <a:lstStyle/>
          <a:p>
            <a:fld id="{34ED0566-C0BB-4C44-A0A1-499E3926C5A9}" type="slidenum">
              <a:rPr lang="en-US" smtClean="0"/>
              <a:t>‹#›</a:t>
            </a:fld>
            <a:endParaRPr lang="en-US"/>
          </a:p>
        </p:txBody>
      </p:sp>
      <p:grpSp>
        <p:nvGrpSpPr>
          <p:cNvPr id="7" name="Group 6">
            <a:extLst>
              <a:ext uri="{FF2B5EF4-FFF2-40B4-BE49-F238E27FC236}">
                <a16:creationId xmlns:a16="http://schemas.microsoft.com/office/drawing/2014/main" id="{6C3E8848-CBC6-4E45-0E80-7F45956912FE}"/>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B00314CC-7566-6553-89AB-100924E059B2}"/>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6D570F4B-D1FF-F2D9-E338-BE28CC1CFE9A}"/>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849447E1-79FB-5DEC-D696-77868F391278}"/>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C22B49A2-35C1-6671-198D-654B999F1993}"/>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5C443FDC-EBDE-A2DB-FE46-F79202CFE309}"/>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89413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8A16EF42-BA0B-4418-A76F-585BD2E4CB10}"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C915-F498-4EE3-9510-9F11BDF13CAC}" type="slidenum">
              <a:rPr lang="en-US" smtClean="0"/>
              <a:t>‹#›</a:t>
            </a:fld>
            <a:endParaRPr lang="en-US"/>
          </a:p>
        </p:txBody>
      </p:sp>
      <p:grpSp>
        <p:nvGrpSpPr>
          <p:cNvPr id="7" name="Group 6">
            <a:extLst>
              <a:ext uri="{FF2B5EF4-FFF2-40B4-BE49-F238E27FC236}">
                <a16:creationId xmlns:a16="http://schemas.microsoft.com/office/drawing/2014/main" id="{24703C0A-B76F-5A8E-5127-6E8B585A287F}"/>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8F808467-7E4D-77EC-4262-5E9A02FF28A5}"/>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CF417821-81D2-1818-2312-B06F847FFAA6}"/>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0AD507A1-5199-4733-A728-558F65A82CE3}"/>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010DC4F9-AFA1-9BA2-17A4-0A2E4DB389B4}"/>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B59AB267-CF98-760D-59A9-24E48041848C}"/>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85771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16EF42-BA0B-4418-A76F-585BD2E4CB10}"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162854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16EF42-BA0B-4418-A76F-585BD2E4CB10}"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121477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16EF42-BA0B-4418-A76F-585BD2E4CB10}"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26151496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16EF42-BA0B-4418-A76F-585BD2E4CB10}" type="datetimeFigureOut">
              <a:rPr lang="en-US" smtClean="0"/>
              <a:t>5/12/2022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93511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16EF42-BA0B-4418-A76F-585BD2E4CB10}" type="datetimeFigureOut">
              <a:rPr lang="en-US" smtClean="0"/>
              <a:t>5/12/2022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1048727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16EF42-BA0B-4418-A76F-585BD2E4CB10}" type="datetimeFigureOut">
              <a:rPr lang="en-US" smtClean="0"/>
              <a:t>5/12/2022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6135881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A16EF42-BA0B-4418-A76F-585BD2E4CB10}"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976681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A16EF42-BA0B-4418-A76F-585BD2E4CB10}" type="datetimeFigureOut">
              <a:rPr lang="en-US" smtClean="0"/>
              <a:t>5/12/2022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1376707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16EF42-BA0B-4418-A76F-585BD2E4CB10}"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26852882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16EF42-BA0B-4418-A76F-585BD2E4CB10}" type="datetimeFigureOut">
              <a:rPr lang="en-US" smtClean="0"/>
              <a:t>5/12/2022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FC915-F498-4EE3-9510-9F11BDF13CAC}" type="slidenum">
              <a:rPr lang="en-US" smtClean="0"/>
              <a:t>‹#›</a:t>
            </a:fld>
            <a:endParaRPr lang="en-US"/>
          </a:p>
        </p:txBody>
      </p:sp>
    </p:spTree>
    <p:extLst>
      <p:ext uri="{BB962C8B-B14F-4D97-AF65-F5344CB8AC3E}">
        <p14:creationId xmlns:p14="http://schemas.microsoft.com/office/powerpoint/2010/main" val="2407865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4C9B1-F8BF-852E-B0CB-8A2D83D8FF4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AE"/>
          </a:p>
        </p:txBody>
      </p:sp>
      <p:sp>
        <p:nvSpPr>
          <p:cNvPr id="3" name="Subtitle 2">
            <a:extLst>
              <a:ext uri="{FF2B5EF4-FFF2-40B4-BE49-F238E27FC236}">
                <a16:creationId xmlns:a16="http://schemas.microsoft.com/office/drawing/2014/main" id="{40D67628-7F5B-B83B-825A-9EEAD2EBF03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9E61150F-42FE-3EF7-A97E-6A58316D06CD}"/>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C0CF7C45-0901-509A-5AC2-BF0BA4AE962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AD211252-2E5A-C47D-0D64-C32E0BF08903}"/>
              </a:ext>
            </a:extLst>
          </p:cNvPr>
          <p:cNvSpPr>
            <a:spLocks noGrp="1"/>
          </p:cNvSpPr>
          <p:nvPr>
            <p:ph type="sldNum" sz="quarter" idx="12"/>
          </p:nvPr>
        </p:nvSpPr>
        <p:spPr/>
        <p:txBody>
          <a:bodyPr/>
          <a:lstStyle/>
          <a:p>
            <a:fld id="{0D291E04-24F2-4CC5-AA85-1281F192BC08}" type="slidenum">
              <a:rPr lang="en-AE" smtClean="0"/>
              <a:t>‹#›</a:t>
            </a:fld>
            <a:endParaRPr lang="en-AE"/>
          </a:p>
        </p:txBody>
      </p:sp>
      <p:grpSp>
        <p:nvGrpSpPr>
          <p:cNvPr id="7" name="Group 6">
            <a:extLst>
              <a:ext uri="{FF2B5EF4-FFF2-40B4-BE49-F238E27FC236}">
                <a16:creationId xmlns:a16="http://schemas.microsoft.com/office/drawing/2014/main" id="{C2CAF36E-8A8B-A503-0EB9-955B8AF6B06E}"/>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8AAF82AB-786B-7689-3D77-6042A5596515}"/>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76C2AF3F-7FC3-9E98-051E-F2CBE7C8D4D7}"/>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46CEDD2D-5D69-D833-AC67-A27E776E56E1}"/>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9D6F123D-FF18-50B7-1EB2-F711BBC95DB3}"/>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19C83647-7BDC-3439-A1D7-E886431F02B5}"/>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568138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78D8B-F194-CE7B-2581-77B048A0EBA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B2F781BA-5488-3932-D789-BBD552DEA5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2F370841-13F6-45B5-962D-DDDAB9766125}"/>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AE856187-1BD5-BC06-16E9-194C4F123F9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512E1A3-5436-7AE3-CF6D-530415FDFCCF}"/>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32732979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5C17-5A73-FAB0-D77C-55F2BEA0252F}"/>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308C583E-4D4C-134E-5C1E-C205C2B30C82}"/>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A41DD9-16EE-0150-74F6-3B681FAC5887}"/>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2D08392F-65E1-92E0-8456-D6959AAF112A}"/>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71E0306-4A6F-8A5B-1884-C3590D72BD64}"/>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15468099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DCA6-7790-8C8E-B653-57F69075C25B}"/>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E45F54C9-331B-BE56-D5BF-F1290397B11F}"/>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FC115570-E8C6-66DB-A728-875929E2F3E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21658891-7641-1B29-F731-CA896E712663}"/>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6" name="Footer Placeholder 5">
            <a:extLst>
              <a:ext uri="{FF2B5EF4-FFF2-40B4-BE49-F238E27FC236}">
                <a16:creationId xmlns:a16="http://schemas.microsoft.com/office/drawing/2014/main" id="{C1A7F1FF-0CED-8E7D-D790-58ADF6B69A89}"/>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35DCE045-BCFB-69E5-1ACA-C27B312E1549}"/>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32107590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8A8AD-E266-3C10-3BBF-B3E9808B8F1E}"/>
              </a:ext>
            </a:extLst>
          </p:cNvPr>
          <p:cNvSpPr>
            <a:spLocks noGrp="1"/>
          </p:cNvSpPr>
          <p:nvPr>
            <p:ph type="title"/>
          </p:nvPr>
        </p:nvSpPr>
        <p:spPr>
          <a:xfrm>
            <a:off x="629841" y="273844"/>
            <a:ext cx="7886700" cy="994172"/>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1CED4F81-18AC-86A3-1B13-2AA407E5408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71E7C4F-2A79-BAD0-7986-52094A1E338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741F8CB5-8437-91EE-5A79-D549CE8CA3D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417CE14-3D51-9DA4-4272-8B63B13157D6}"/>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B9D6C93E-0909-EB43-0A5B-E1657C2771EC}"/>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8" name="Footer Placeholder 7">
            <a:extLst>
              <a:ext uri="{FF2B5EF4-FFF2-40B4-BE49-F238E27FC236}">
                <a16:creationId xmlns:a16="http://schemas.microsoft.com/office/drawing/2014/main" id="{02EFB234-C7C5-3E26-E7CB-A1CAC99236BB}"/>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56C3799C-1F56-61DF-40C8-5CD3F1DFCE9E}"/>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2597030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7E8D7-CEC9-8E75-CF06-37C18AFDB230}"/>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A918F218-951B-FF59-6065-939F268454BE}"/>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4" name="Footer Placeholder 3">
            <a:extLst>
              <a:ext uri="{FF2B5EF4-FFF2-40B4-BE49-F238E27FC236}">
                <a16:creationId xmlns:a16="http://schemas.microsoft.com/office/drawing/2014/main" id="{B738159D-CE3F-AC3E-FB90-F59DFEF28532}"/>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06600603-B38B-2B80-56F7-59171DBF61FB}"/>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617491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84CF13-44CF-838C-00AD-3A50C9DD2377}"/>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3" name="Footer Placeholder 2">
            <a:extLst>
              <a:ext uri="{FF2B5EF4-FFF2-40B4-BE49-F238E27FC236}">
                <a16:creationId xmlns:a16="http://schemas.microsoft.com/office/drawing/2014/main" id="{DED20B92-A759-EAC3-1704-840D38D7FDA8}"/>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DD5118E1-A327-73FD-2EA3-DB37EC637DBD}"/>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33298604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55264-5AAD-86CB-D287-112D42222FD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F5CB8A73-FC35-5189-BD7C-D065FB01A4C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DC3D0413-426E-EE99-E27E-A486EFD450F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02E4171-CE71-F3CF-09CA-DFBB62FAE60C}"/>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6" name="Footer Placeholder 5">
            <a:extLst>
              <a:ext uri="{FF2B5EF4-FFF2-40B4-BE49-F238E27FC236}">
                <a16:creationId xmlns:a16="http://schemas.microsoft.com/office/drawing/2014/main" id="{59F007CE-A46A-7D77-A346-E7CE332A30EA}"/>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75F84530-BA33-0267-33DE-38D0A17AB7D6}"/>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12697833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55CB-128D-8905-276B-9C14C75BBCA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59BD4043-EC26-BBCD-A1FD-2DC941AA35D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E"/>
          </a:p>
        </p:txBody>
      </p:sp>
      <p:sp>
        <p:nvSpPr>
          <p:cNvPr id="4" name="Text Placeholder 3">
            <a:extLst>
              <a:ext uri="{FF2B5EF4-FFF2-40B4-BE49-F238E27FC236}">
                <a16:creationId xmlns:a16="http://schemas.microsoft.com/office/drawing/2014/main" id="{D91CC031-8AA2-75A4-D61A-CA625ADF8AE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4F6CCDE-B8E6-2DD8-A6C6-0334601E5582}"/>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6" name="Footer Placeholder 5">
            <a:extLst>
              <a:ext uri="{FF2B5EF4-FFF2-40B4-BE49-F238E27FC236}">
                <a16:creationId xmlns:a16="http://schemas.microsoft.com/office/drawing/2014/main" id="{CEFBDAD8-22C9-B2FD-F921-753DB3420494}"/>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956E450D-3652-D664-2FF3-66F55016595E}"/>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16947656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65A6-4568-DFD8-5A25-2876366FA974}"/>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5F4439CD-3210-1805-AFA4-7994AD93E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8B4F0639-7B4A-78CC-1E20-0EDB33B41F06}"/>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91F3BE9F-35A1-293C-C561-B86F3179826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C5DFBA2A-2975-086C-57C4-F847ACA3CE3C}"/>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1703701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52A005-026D-3FD5-1921-3510B4E21602}"/>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D34476D4-5639-A87E-6466-6AFBF814BDB1}"/>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7B89A07-49CC-5B37-4DFF-1BF7C6A13CED}"/>
              </a:ext>
            </a:extLst>
          </p:cNvPr>
          <p:cNvSpPr>
            <a:spLocks noGrp="1"/>
          </p:cNvSpPr>
          <p:nvPr>
            <p:ph type="dt" sz="half" idx="10"/>
          </p:nvPr>
        </p:nvSpPr>
        <p:spPr/>
        <p:txBody>
          <a:body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38985290-8768-5659-1926-CCA9FA26282A}"/>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D164C32-1ACB-4A14-B8CD-FC47DCAD71E7}"/>
              </a:ext>
            </a:extLst>
          </p:cNvPr>
          <p:cNvSpPr>
            <a:spLocks noGrp="1"/>
          </p:cNvSpPr>
          <p:nvPr>
            <p:ph type="sldNum" sz="quarter" idx="12"/>
          </p:nvPr>
        </p:nvSpPr>
        <p:spPr/>
        <p:txBody>
          <a:bodyPr/>
          <a:lstStyle/>
          <a:p>
            <a:fld id="{0D291E04-24F2-4CC5-AA85-1281F192BC08}" type="slidenum">
              <a:rPr lang="en-AE" smtClean="0"/>
              <a:t>‹#›</a:t>
            </a:fld>
            <a:endParaRPr lang="en-AE"/>
          </a:p>
        </p:txBody>
      </p:sp>
    </p:spTree>
    <p:extLst>
      <p:ext uri="{BB962C8B-B14F-4D97-AF65-F5344CB8AC3E}">
        <p14:creationId xmlns:p14="http://schemas.microsoft.com/office/powerpoint/2010/main" val="14098700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7188E-F6EB-442A-365E-96DCF7AED27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944FD9E0-CF97-30EE-5E60-171A22A834A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85F9155-811A-E97B-E352-48C3C4137D12}"/>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C953BADD-7F8A-27C5-0655-4271A29EE00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833B134-6DBC-F74E-B379-31478ABC401B}"/>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308484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22D2-5110-8BFA-8FB7-A0528CDE94A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D931B01-4F36-9F1F-D89B-455638B1F9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6BAA672-C416-5004-5676-23E1B03CA64A}"/>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F135644A-4DA6-E00B-A7EC-5BCB1AFF125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EE6FA3B-55C4-F09A-1DDD-C54A7092D273}"/>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7610655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7464-DFA0-C34B-15C2-18E2896A22A3}"/>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B03972B-17E9-BC77-D00D-D09ACDB6CB5D}"/>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00FCD3-95B4-BAC9-BB16-D01EBC2838E8}"/>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45CA3BBC-A7C5-0F6D-6E9A-98473369253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18B4EA3-74FF-EC4F-EC78-AD25D14B9DCA}"/>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7750178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33478-D851-CF4F-9961-186C63CCB4E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F726D41-A816-6F31-003C-ECB0D3A7282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82E2BF0-05EA-156B-4CD7-64FF869B4F75}"/>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0A2F8D3-820E-A932-0628-4284FF1FD0AD}"/>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6" name="Footer Placeholder 5">
            <a:extLst>
              <a:ext uri="{FF2B5EF4-FFF2-40B4-BE49-F238E27FC236}">
                <a16:creationId xmlns:a16="http://schemas.microsoft.com/office/drawing/2014/main" id="{4775994F-D31A-8248-FC6D-85D3C8CE672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230067C-55E4-5FAC-55FF-5532EDA10CBA}"/>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0730070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DEEEF-8FA6-2E4C-5402-762DCA7A4C5C}"/>
              </a:ext>
            </a:extLst>
          </p:cNvPr>
          <p:cNvSpPr>
            <a:spLocks noGrp="1"/>
          </p:cNvSpPr>
          <p:nvPr>
            <p:ph type="title"/>
          </p:nvPr>
        </p:nvSpPr>
        <p:spPr>
          <a:xfrm>
            <a:off x="629841" y="273844"/>
            <a:ext cx="7886700" cy="994172"/>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C92A511-A50A-91B8-4E6A-D0FA7F9EFE46}"/>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9C160B9-3E35-8E21-7125-E5E3965CE9E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97AF2F09-0687-9D46-DC27-FE309AA45DD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7DD07E7-E558-EEB2-B3EB-1FF38BF297D0}"/>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63711EA6-5C30-520C-C431-67DF4102F3DC}"/>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8" name="Footer Placeholder 7">
            <a:extLst>
              <a:ext uri="{FF2B5EF4-FFF2-40B4-BE49-F238E27FC236}">
                <a16:creationId xmlns:a16="http://schemas.microsoft.com/office/drawing/2014/main" id="{89974BA4-CBBD-ED5D-62E0-5A74BBB786FB}"/>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F9E2BEF5-4570-ACFF-54C9-1AF2289E5158}"/>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2955712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B94F0-0FEB-3100-FAFC-E5510E58E4C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A14C54CF-29FB-E372-44F6-D6D56A088C74}"/>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4" name="Footer Placeholder 3">
            <a:extLst>
              <a:ext uri="{FF2B5EF4-FFF2-40B4-BE49-F238E27FC236}">
                <a16:creationId xmlns:a16="http://schemas.microsoft.com/office/drawing/2014/main" id="{2C323170-31D1-A993-812B-33E7A64BEFA5}"/>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D6456A5C-65C9-343D-8CD5-FADBBC3EA890}"/>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37295998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B00419-ED6C-0719-883E-5D9A6933830B}"/>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3" name="Footer Placeholder 2">
            <a:extLst>
              <a:ext uri="{FF2B5EF4-FFF2-40B4-BE49-F238E27FC236}">
                <a16:creationId xmlns:a16="http://schemas.microsoft.com/office/drawing/2014/main" id="{D73271FC-87A1-BA7B-98C2-8564139EE8E5}"/>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94F9D738-13B9-8336-7BBD-3683EF662568}"/>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1454716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397B-167D-2FC3-D963-20BC0958C5D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6EE0054E-7125-0844-48C4-6ABBEE34506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37271A52-72D5-02E4-CAE0-B476688907B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DFF58B4-069B-E396-474A-9C8C358E12F4}"/>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6" name="Footer Placeholder 5">
            <a:extLst>
              <a:ext uri="{FF2B5EF4-FFF2-40B4-BE49-F238E27FC236}">
                <a16:creationId xmlns:a16="http://schemas.microsoft.com/office/drawing/2014/main" id="{BAFCE3A4-AD1D-0D70-E7A7-32FD81D492E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408D273A-4592-529B-3392-016934CC6437}"/>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0350586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8D3A-42FB-5F50-112E-729389255A0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5CA8FCD-E0E2-ADB8-EDE6-861E7B06E2B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a:p>
        </p:txBody>
      </p:sp>
      <p:sp>
        <p:nvSpPr>
          <p:cNvPr id="4" name="Text Placeholder 3">
            <a:extLst>
              <a:ext uri="{FF2B5EF4-FFF2-40B4-BE49-F238E27FC236}">
                <a16:creationId xmlns:a16="http://schemas.microsoft.com/office/drawing/2014/main" id="{934E50C4-BF91-70A7-4676-1FB3ACD157D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10991E2-0D54-D44E-A78E-72F7E6A262EB}"/>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6" name="Footer Placeholder 5">
            <a:extLst>
              <a:ext uri="{FF2B5EF4-FFF2-40B4-BE49-F238E27FC236}">
                <a16:creationId xmlns:a16="http://schemas.microsoft.com/office/drawing/2014/main" id="{A5B434F1-02CB-BC64-A49D-9D10020571F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9D402DC-9403-957F-9F1C-6B1948F57B6D}"/>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29142398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5A16-74CF-54DC-ADF2-5D88DF4C4F6D}"/>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4102533-6260-5B11-7047-92C958659A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EEBD0A7-4575-2785-22ED-28D9A70BD5D3}"/>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D57B8F7D-747C-3368-FBAC-47E627FF52B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D2CFFB-CA8F-9533-7768-1E0CCFBB2777}"/>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42392123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562A10-2BB3-B071-D110-0095A8E43905}"/>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4DEEFC6-B28B-E4E3-C23C-78C9EC011B79}"/>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E4839A6-26B8-E40E-83CF-83A4EE7C427F}"/>
              </a:ext>
            </a:extLst>
          </p:cNvPr>
          <p:cNvSpPr>
            <a:spLocks noGrp="1"/>
          </p:cNvSpPr>
          <p:nvPr>
            <p:ph type="dt" sz="half" idx="10"/>
          </p:nvPr>
        </p:nvSpPr>
        <p:spPr/>
        <p:txBody>
          <a:body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8A2B2A5A-08EE-B28F-F675-FE6E2E21B66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065CAAF-D882-622F-0A9B-D6E12827296C}"/>
              </a:ext>
            </a:extLst>
          </p:cNvPr>
          <p:cNvSpPr>
            <a:spLocks noGrp="1"/>
          </p:cNvSpPr>
          <p:nvPr>
            <p:ph type="sldNum" sz="quarter" idx="12"/>
          </p:nvPr>
        </p:nvSpPr>
        <p:spPr/>
        <p:txBody>
          <a:bodyPr/>
          <a:lstStyle/>
          <a:p>
            <a:fld id="{D27D79A0-54B3-4B76-B613-52AD8FB80153}" type="slidenum">
              <a:rPr lang="en-PK" smtClean="0"/>
              <a:t>‹#›</a:t>
            </a:fld>
            <a:endParaRPr lang="en-PK"/>
          </a:p>
        </p:txBody>
      </p:sp>
    </p:spTree>
    <p:extLst>
      <p:ext uri="{BB962C8B-B14F-4D97-AF65-F5344CB8AC3E}">
        <p14:creationId xmlns:p14="http://schemas.microsoft.com/office/powerpoint/2010/main" val="392917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7" Type="http://schemas.openxmlformats.org/officeDocument/2006/relationships/image" Target="../media/image2.pn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image" Target="../media/image1.png"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 /><Relationship Id="rId13" Type="http://schemas.openxmlformats.org/officeDocument/2006/relationships/image" Target="../media/image1.png" /><Relationship Id="rId3" Type="http://schemas.openxmlformats.org/officeDocument/2006/relationships/slideLayout" Target="../slideLayouts/slideLayout7.xml" /><Relationship Id="rId7" Type="http://schemas.openxmlformats.org/officeDocument/2006/relationships/slideLayout" Target="../slideLayouts/slideLayout11.xml" /><Relationship Id="rId12" Type="http://schemas.openxmlformats.org/officeDocument/2006/relationships/theme" Target="../theme/theme2.xml" /><Relationship Id="rId2" Type="http://schemas.openxmlformats.org/officeDocument/2006/relationships/slideLayout" Target="../slideLayouts/slideLayout6.xml" /><Relationship Id="rId1" Type="http://schemas.openxmlformats.org/officeDocument/2006/relationships/slideLayout" Target="../slideLayouts/slideLayout5.xml" /><Relationship Id="rId6" Type="http://schemas.openxmlformats.org/officeDocument/2006/relationships/slideLayout" Target="../slideLayouts/slideLayout10.xml" /><Relationship Id="rId11" Type="http://schemas.openxmlformats.org/officeDocument/2006/relationships/slideLayout" Target="../slideLayouts/slideLayout15.xml" /><Relationship Id="rId5" Type="http://schemas.openxmlformats.org/officeDocument/2006/relationships/slideLayout" Target="../slideLayouts/slideLayout9.xml" /><Relationship Id="rId10" Type="http://schemas.openxmlformats.org/officeDocument/2006/relationships/slideLayout" Target="../slideLayouts/slideLayout14.xml" /><Relationship Id="rId4" Type="http://schemas.openxmlformats.org/officeDocument/2006/relationships/slideLayout" Target="../slideLayouts/slideLayout8.xml" /><Relationship Id="rId9" Type="http://schemas.openxmlformats.org/officeDocument/2006/relationships/slideLayout" Target="../slideLayouts/slideLayout13.xml" /><Relationship Id="rId14" Type="http://schemas.openxmlformats.org/officeDocument/2006/relationships/image" Target="../media/image2.png"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 /><Relationship Id="rId13" Type="http://schemas.openxmlformats.org/officeDocument/2006/relationships/image" Target="../media/image1.png" /><Relationship Id="rId3" Type="http://schemas.openxmlformats.org/officeDocument/2006/relationships/slideLayout" Target="../slideLayouts/slideLayout18.xml" /><Relationship Id="rId7" Type="http://schemas.openxmlformats.org/officeDocument/2006/relationships/slideLayout" Target="../slideLayouts/slideLayout22.xml" /><Relationship Id="rId12" Type="http://schemas.openxmlformats.org/officeDocument/2006/relationships/theme" Target="../theme/theme3.xml" /><Relationship Id="rId2" Type="http://schemas.openxmlformats.org/officeDocument/2006/relationships/slideLayout" Target="../slideLayouts/slideLayout17.xml" /><Relationship Id="rId1" Type="http://schemas.openxmlformats.org/officeDocument/2006/relationships/slideLayout" Target="../slideLayouts/slideLayout16.xml" /><Relationship Id="rId6" Type="http://schemas.openxmlformats.org/officeDocument/2006/relationships/slideLayout" Target="../slideLayouts/slideLayout21.xml" /><Relationship Id="rId11" Type="http://schemas.openxmlformats.org/officeDocument/2006/relationships/slideLayout" Target="../slideLayouts/slideLayout26.xml" /><Relationship Id="rId5" Type="http://schemas.openxmlformats.org/officeDocument/2006/relationships/slideLayout" Target="../slideLayouts/slideLayout20.xml" /><Relationship Id="rId10" Type="http://schemas.openxmlformats.org/officeDocument/2006/relationships/slideLayout" Target="../slideLayouts/slideLayout25.xml" /><Relationship Id="rId4" Type="http://schemas.openxmlformats.org/officeDocument/2006/relationships/slideLayout" Target="../slideLayouts/slideLayout19.xml" /><Relationship Id="rId9" Type="http://schemas.openxmlformats.org/officeDocument/2006/relationships/slideLayout" Target="../slideLayouts/slideLayout24.xml" /><Relationship Id="rId14" Type="http://schemas.openxmlformats.org/officeDocument/2006/relationships/image" Target="../media/image2.png"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 /><Relationship Id="rId13" Type="http://schemas.openxmlformats.org/officeDocument/2006/relationships/image" Target="../media/image1.png" /><Relationship Id="rId3" Type="http://schemas.openxmlformats.org/officeDocument/2006/relationships/slideLayout" Target="../slideLayouts/slideLayout29.xml" /><Relationship Id="rId7" Type="http://schemas.openxmlformats.org/officeDocument/2006/relationships/slideLayout" Target="../slideLayouts/slideLayout33.xml" /><Relationship Id="rId12" Type="http://schemas.openxmlformats.org/officeDocument/2006/relationships/theme" Target="../theme/theme4.xml" /><Relationship Id="rId2" Type="http://schemas.openxmlformats.org/officeDocument/2006/relationships/slideLayout" Target="../slideLayouts/slideLayout28.xml" /><Relationship Id="rId1" Type="http://schemas.openxmlformats.org/officeDocument/2006/relationships/slideLayout" Target="../slideLayouts/slideLayout27.xml" /><Relationship Id="rId6" Type="http://schemas.openxmlformats.org/officeDocument/2006/relationships/slideLayout" Target="../slideLayouts/slideLayout32.xml" /><Relationship Id="rId11" Type="http://schemas.openxmlformats.org/officeDocument/2006/relationships/slideLayout" Target="../slideLayouts/slideLayout37.xml" /><Relationship Id="rId5" Type="http://schemas.openxmlformats.org/officeDocument/2006/relationships/slideLayout" Target="../slideLayouts/slideLayout31.xml" /><Relationship Id="rId10" Type="http://schemas.openxmlformats.org/officeDocument/2006/relationships/slideLayout" Target="../slideLayouts/slideLayout36.xml" /><Relationship Id="rId4" Type="http://schemas.openxmlformats.org/officeDocument/2006/relationships/slideLayout" Target="../slideLayouts/slideLayout30.xml" /><Relationship Id="rId9" Type="http://schemas.openxmlformats.org/officeDocument/2006/relationships/slideLayout" Target="../slideLayouts/slideLayout35.xml" /><Relationship Id="rId14" Type="http://schemas.openxmlformats.org/officeDocument/2006/relationships/image" Target="../media/image2.png"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 /><Relationship Id="rId13" Type="http://schemas.openxmlformats.org/officeDocument/2006/relationships/image" Target="../media/image1.png" /><Relationship Id="rId3" Type="http://schemas.openxmlformats.org/officeDocument/2006/relationships/slideLayout" Target="../slideLayouts/slideLayout40.xml" /><Relationship Id="rId7" Type="http://schemas.openxmlformats.org/officeDocument/2006/relationships/slideLayout" Target="../slideLayouts/slideLayout44.xml" /><Relationship Id="rId12" Type="http://schemas.openxmlformats.org/officeDocument/2006/relationships/theme" Target="../theme/theme5.xml" /><Relationship Id="rId2" Type="http://schemas.openxmlformats.org/officeDocument/2006/relationships/slideLayout" Target="../slideLayouts/slideLayout39.xml" /><Relationship Id="rId1" Type="http://schemas.openxmlformats.org/officeDocument/2006/relationships/slideLayout" Target="../slideLayouts/slideLayout38.xml" /><Relationship Id="rId6" Type="http://schemas.openxmlformats.org/officeDocument/2006/relationships/slideLayout" Target="../slideLayouts/slideLayout43.xml" /><Relationship Id="rId11" Type="http://schemas.openxmlformats.org/officeDocument/2006/relationships/slideLayout" Target="../slideLayouts/slideLayout48.xml" /><Relationship Id="rId5" Type="http://schemas.openxmlformats.org/officeDocument/2006/relationships/slideLayout" Target="../slideLayouts/slideLayout42.xml" /><Relationship Id="rId10" Type="http://schemas.openxmlformats.org/officeDocument/2006/relationships/slideLayout" Target="../slideLayouts/slideLayout47.xml" /><Relationship Id="rId4" Type="http://schemas.openxmlformats.org/officeDocument/2006/relationships/slideLayout" Target="../slideLayouts/slideLayout41.xml" /><Relationship Id="rId9" Type="http://schemas.openxmlformats.org/officeDocument/2006/relationships/slideLayout" Target="../slideLayouts/slideLayout46.xml" /><Relationship Id="rId14" Type="http://schemas.openxmlformats.org/officeDocument/2006/relationships/image" Target="../media/image2.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6">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65876"/>
            <a:ext cx="7704000" cy="457200"/>
          </a:xfrm>
          <a:prstGeom prst="rect">
            <a:avLst/>
          </a:prstGeom>
          <a:noFill/>
          <a:ln>
            <a:noFill/>
          </a:ln>
        </p:spPr>
        <p:txBody>
          <a:bodyPr spcFirstLastPara="1" wrap="square" lIns="0" tIns="0" rIns="0" bIns="0" anchor="t" anchorCtr="0">
            <a:noAutofit/>
          </a:bodyPr>
          <a:lstStyle>
            <a:lvl1pPr lvl="0"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1pPr>
            <a:lvl2pPr lvl="1"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2pPr>
            <a:lvl3pPr lvl="2"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3pPr>
            <a:lvl4pPr lvl="3"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4pPr>
            <a:lvl5pPr lvl="4"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5pPr>
            <a:lvl6pPr lvl="5"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6pPr>
            <a:lvl7pPr lvl="6"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7pPr>
            <a:lvl8pPr lvl="7"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8pPr>
            <a:lvl9pPr lvl="8" rtl="0">
              <a:lnSpc>
                <a:spcPct val="100000"/>
              </a:lnSpc>
              <a:spcBef>
                <a:spcPts val="0"/>
              </a:spcBef>
              <a:spcAft>
                <a:spcPts val="0"/>
              </a:spcAft>
              <a:buClr>
                <a:schemeClr val="dk1"/>
              </a:buClr>
              <a:buSzPts val="3000"/>
              <a:buFont typeface="Open Sans ExtraBold"/>
              <a:buNone/>
              <a:defRPr sz="3000">
                <a:solidFill>
                  <a:schemeClr val="dk1"/>
                </a:solidFill>
                <a:latin typeface="Open Sans ExtraBold"/>
                <a:ea typeface="Open Sans ExtraBold"/>
                <a:cs typeface="Open Sans ExtraBold"/>
                <a:sym typeface="Open Sans ExtraBold"/>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00000"/>
              </a:lnSpc>
              <a:spcBef>
                <a:spcPts val="1600"/>
              </a:spcBef>
              <a:spcAft>
                <a:spcPts val="16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pic>
        <p:nvPicPr>
          <p:cNvPr id="11" name="Picture 10">
            <a:extLst>
              <a:ext uri="{FF2B5EF4-FFF2-40B4-BE49-F238E27FC236}">
                <a16:creationId xmlns:a16="http://schemas.microsoft.com/office/drawing/2014/main" id="{06BB0FC0-E629-927B-4896-5C4821F6C6D1}"/>
              </a:ext>
            </a:extLst>
          </p:cNvPr>
          <p:cNvPicPr>
            <a:picLocks noChangeAspect="1"/>
          </p:cNvPicPr>
          <p:nvPr userDrawn="1"/>
        </p:nvPicPr>
        <p:blipFill>
          <a:blip r:embed="rId7"/>
          <a:stretch>
            <a:fillRect/>
          </a:stretch>
        </p:blipFill>
        <p:spPr>
          <a:xfrm>
            <a:off x="7558029" y="4496394"/>
            <a:ext cx="1486542" cy="598676"/>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78" r:id="rId3"/>
    <p:sldLayoutId id="214748368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2A696A-5130-FC97-EB13-AAF456A04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5A0C4C-0A21-F94A-0348-101F732AE7C9}"/>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385A0B-BFA1-E83B-86A9-EF44B2BDE97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FFA197B-379E-4010-B354-14C34F792453}" type="datetimeFigureOut">
              <a:rPr lang="en-US" smtClean="0"/>
              <a:t>5/12/2022</a:t>
            </a:fld>
            <a:endParaRPr lang="en-US"/>
          </a:p>
        </p:txBody>
      </p:sp>
      <p:sp>
        <p:nvSpPr>
          <p:cNvPr id="5" name="Footer Placeholder 4">
            <a:extLst>
              <a:ext uri="{FF2B5EF4-FFF2-40B4-BE49-F238E27FC236}">
                <a16:creationId xmlns:a16="http://schemas.microsoft.com/office/drawing/2014/main" id="{F46E3527-2E38-BD43-0852-FCF14E72C14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AA49FC-63E0-1735-1828-12D0F5A30C47}"/>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4ED0566-C0BB-4C44-A0A1-499E3926C5A9}" type="slidenum">
              <a:rPr lang="en-US" smtClean="0"/>
              <a:t>‹#›</a:t>
            </a:fld>
            <a:endParaRPr lang="en-US"/>
          </a:p>
        </p:txBody>
      </p:sp>
      <p:pic>
        <p:nvPicPr>
          <p:cNvPr id="7" name="Picture 6">
            <a:extLst>
              <a:ext uri="{FF2B5EF4-FFF2-40B4-BE49-F238E27FC236}">
                <a16:creationId xmlns:a16="http://schemas.microsoft.com/office/drawing/2014/main" id="{B42CFECD-3AEE-698F-1A2C-87E2E17C4E1B}"/>
              </a:ext>
            </a:extLst>
          </p:cNvPr>
          <p:cNvPicPr>
            <a:picLocks noChangeAspect="1"/>
          </p:cNvPicPr>
          <p:nvPr userDrawn="1"/>
        </p:nvPicPr>
        <p:blipFill>
          <a:blip r:embed="rId14"/>
          <a:stretch>
            <a:fillRect/>
          </a:stretch>
        </p:blipFill>
        <p:spPr>
          <a:xfrm>
            <a:off x="7558029" y="4496394"/>
            <a:ext cx="1486542" cy="598676"/>
          </a:xfrm>
          <a:prstGeom prst="rect">
            <a:avLst/>
          </a:prstGeom>
        </p:spPr>
      </p:pic>
    </p:spTree>
    <p:extLst>
      <p:ext uri="{BB962C8B-B14F-4D97-AF65-F5344CB8AC3E}">
        <p14:creationId xmlns:p14="http://schemas.microsoft.com/office/powerpoint/2010/main" val="25599906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A16EF42-BA0B-4418-A76F-585BD2E4CB10}" type="datetimeFigureOut">
              <a:rPr lang="en-US" smtClean="0"/>
              <a:t>5/12/2022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B1FC915-F498-4EE3-9510-9F11BDF13CAC}" type="slidenum">
              <a:rPr lang="en-US" smtClean="0"/>
              <a:t>‹#›</a:t>
            </a:fld>
            <a:endParaRPr lang="en-US"/>
          </a:p>
        </p:txBody>
      </p:sp>
      <p:grpSp>
        <p:nvGrpSpPr>
          <p:cNvPr id="7" name="Group 6">
            <a:extLst>
              <a:ext uri="{FF2B5EF4-FFF2-40B4-BE49-F238E27FC236}">
                <a16:creationId xmlns:a16="http://schemas.microsoft.com/office/drawing/2014/main" id="{51272150-F1F6-B4A2-6130-12A97D9628FA}"/>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005259B8-74F9-7A0D-ACE6-74543B0C2AE2}"/>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E222BBCE-F21A-AB7E-BE5A-8AD5AA5A6EE2}"/>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4C4A229F-FB1E-5B00-8E3C-03B0294DDD66}"/>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2349D80B-AAAE-A800-E32B-E0BD55FB0627}"/>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DD381AA1-7C95-C93C-FBBD-0DD9A8C204FB}"/>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Picture 12">
            <a:extLst>
              <a:ext uri="{FF2B5EF4-FFF2-40B4-BE49-F238E27FC236}">
                <a16:creationId xmlns:a16="http://schemas.microsoft.com/office/drawing/2014/main" id="{AC9F0D93-242F-07CE-142A-A99B3F03974E}"/>
              </a:ext>
            </a:extLst>
          </p:cNvPr>
          <p:cNvPicPr>
            <a:picLocks noChangeAspect="1"/>
          </p:cNvPicPr>
          <p:nvPr userDrawn="1"/>
        </p:nvPicPr>
        <p:blipFill>
          <a:blip r:embed="rId14"/>
          <a:stretch>
            <a:fillRect/>
          </a:stretch>
        </p:blipFill>
        <p:spPr>
          <a:xfrm>
            <a:off x="7558029" y="4496394"/>
            <a:ext cx="1486542" cy="598676"/>
          </a:xfrm>
          <a:prstGeom prst="rect">
            <a:avLst/>
          </a:prstGeom>
        </p:spPr>
      </p:pic>
    </p:spTree>
    <p:extLst>
      <p:ext uri="{BB962C8B-B14F-4D97-AF65-F5344CB8AC3E}">
        <p14:creationId xmlns:p14="http://schemas.microsoft.com/office/powerpoint/2010/main" val="109551222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5DAAED-2F00-CBE4-30B9-D11A0D4C3A22}"/>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4412FBA7-81D5-135E-D7BA-1266FA8A16E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1E49B1B5-4617-846C-18F7-5CCB731460C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5FC6CE0-22EC-4C86-A01A-90B263B42D50}" type="datetimeFigureOut">
              <a:rPr lang="en-AE" smtClean="0"/>
              <a:t>05/12/2022</a:t>
            </a:fld>
            <a:endParaRPr lang="en-AE"/>
          </a:p>
        </p:txBody>
      </p:sp>
      <p:sp>
        <p:nvSpPr>
          <p:cNvPr id="5" name="Footer Placeholder 4">
            <a:extLst>
              <a:ext uri="{FF2B5EF4-FFF2-40B4-BE49-F238E27FC236}">
                <a16:creationId xmlns:a16="http://schemas.microsoft.com/office/drawing/2014/main" id="{09BF0278-47C3-BB7D-8D3A-ED422399FCD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E"/>
          </a:p>
        </p:txBody>
      </p:sp>
      <p:sp>
        <p:nvSpPr>
          <p:cNvPr id="6" name="Slide Number Placeholder 5">
            <a:extLst>
              <a:ext uri="{FF2B5EF4-FFF2-40B4-BE49-F238E27FC236}">
                <a16:creationId xmlns:a16="http://schemas.microsoft.com/office/drawing/2014/main" id="{D157A7A6-58F9-696A-C05B-D84FC8F4DD8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D291E04-24F2-4CC5-AA85-1281F192BC08}" type="slidenum">
              <a:rPr lang="en-AE" smtClean="0"/>
              <a:t>‹#›</a:t>
            </a:fld>
            <a:endParaRPr lang="en-AE"/>
          </a:p>
        </p:txBody>
      </p:sp>
      <p:grpSp>
        <p:nvGrpSpPr>
          <p:cNvPr id="7" name="Group 6">
            <a:extLst>
              <a:ext uri="{FF2B5EF4-FFF2-40B4-BE49-F238E27FC236}">
                <a16:creationId xmlns:a16="http://schemas.microsoft.com/office/drawing/2014/main" id="{2088EC37-3A13-9B4E-F8F4-8D2D1BCFD8BF}"/>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EF68549E-D40A-FBF0-5C25-3CF0752EB454}"/>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7B1830DD-2D5B-AC2C-E321-E2CCD466EB65}"/>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E0482B64-0B68-B135-9207-0EEC7188119B}"/>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F6FB98A8-49B9-B3B2-885B-6004750FDEFB}"/>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FA0050C5-EBB1-E216-90CD-ADE61CF14917}"/>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Picture 12">
            <a:extLst>
              <a:ext uri="{FF2B5EF4-FFF2-40B4-BE49-F238E27FC236}">
                <a16:creationId xmlns:a16="http://schemas.microsoft.com/office/drawing/2014/main" id="{8A4D71E2-4B51-D0DD-ED94-DC81536734E1}"/>
              </a:ext>
            </a:extLst>
          </p:cNvPr>
          <p:cNvPicPr>
            <a:picLocks noChangeAspect="1"/>
          </p:cNvPicPr>
          <p:nvPr userDrawn="1"/>
        </p:nvPicPr>
        <p:blipFill>
          <a:blip r:embed="rId14"/>
          <a:stretch>
            <a:fillRect/>
          </a:stretch>
        </p:blipFill>
        <p:spPr>
          <a:xfrm>
            <a:off x="7558029" y="4496394"/>
            <a:ext cx="1486542" cy="598676"/>
          </a:xfrm>
          <a:prstGeom prst="rect">
            <a:avLst/>
          </a:prstGeom>
        </p:spPr>
      </p:pic>
    </p:spTree>
    <p:extLst>
      <p:ext uri="{BB962C8B-B14F-4D97-AF65-F5344CB8AC3E}">
        <p14:creationId xmlns:p14="http://schemas.microsoft.com/office/powerpoint/2010/main" val="295723463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764A47-5FF4-EBE6-57C8-8124D1D15A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C2157F94-AC8B-882F-48E3-AEC044A8B5AD}"/>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575335C-536D-56A4-24D4-CFC6E3C3546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584B56A-1731-4DA4-BA73-037A950A5758}" type="datetimeFigureOut">
              <a:rPr lang="en-PK" smtClean="0"/>
              <a:t>05/12/2022</a:t>
            </a:fld>
            <a:endParaRPr lang="en-PK"/>
          </a:p>
        </p:txBody>
      </p:sp>
      <p:sp>
        <p:nvSpPr>
          <p:cNvPr id="5" name="Footer Placeholder 4">
            <a:extLst>
              <a:ext uri="{FF2B5EF4-FFF2-40B4-BE49-F238E27FC236}">
                <a16:creationId xmlns:a16="http://schemas.microsoft.com/office/drawing/2014/main" id="{2AB19C2F-F09F-1804-CB57-4DAC8004C84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42F3A02-3786-F661-6037-7D897855F89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D79A0-54B3-4B76-B613-52AD8FB80153}" type="slidenum">
              <a:rPr lang="en-PK" smtClean="0"/>
              <a:t>‹#›</a:t>
            </a:fld>
            <a:endParaRPr lang="en-PK"/>
          </a:p>
        </p:txBody>
      </p:sp>
      <p:grpSp>
        <p:nvGrpSpPr>
          <p:cNvPr id="7" name="Group 6">
            <a:extLst>
              <a:ext uri="{FF2B5EF4-FFF2-40B4-BE49-F238E27FC236}">
                <a16:creationId xmlns:a16="http://schemas.microsoft.com/office/drawing/2014/main" id="{AE64346F-B518-3932-E35A-2C569F609CC2}"/>
              </a:ext>
            </a:extLst>
          </p:cNvPr>
          <p:cNvGrpSpPr/>
          <p:nvPr userDrawn="1"/>
        </p:nvGrpSpPr>
        <p:grpSpPr>
          <a:xfrm>
            <a:off x="-227075" y="-6976"/>
            <a:ext cx="846139" cy="916720"/>
            <a:chOff x="-227075" y="-6976"/>
            <a:chExt cx="846139" cy="916720"/>
          </a:xfrm>
        </p:grpSpPr>
        <p:grpSp>
          <p:nvGrpSpPr>
            <p:cNvPr id="8" name="Google Shape;125;p16">
              <a:extLst>
                <a:ext uri="{FF2B5EF4-FFF2-40B4-BE49-F238E27FC236}">
                  <a16:creationId xmlns:a16="http://schemas.microsoft.com/office/drawing/2014/main" id="{4AE7BDD2-E92E-2A1A-B48E-0942D5C52159}"/>
                </a:ext>
              </a:extLst>
            </p:cNvPr>
            <p:cNvGrpSpPr/>
            <p:nvPr userDrawn="1"/>
          </p:nvGrpSpPr>
          <p:grpSpPr>
            <a:xfrm flipH="1">
              <a:off x="-227075" y="-6920"/>
              <a:ext cx="846139" cy="916664"/>
              <a:chOff x="4609750" y="1462400"/>
              <a:chExt cx="1524025" cy="1671525"/>
            </a:xfrm>
          </p:grpSpPr>
          <p:sp>
            <p:nvSpPr>
              <p:cNvPr id="10" name="Google Shape;126;p16">
                <a:extLst>
                  <a:ext uri="{FF2B5EF4-FFF2-40B4-BE49-F238E27FC236}">
                    <a16:creationId xmlns:a16="http://schemas.microsoft.com/office/drawing/2014/main" id="{512084F0-FE4D-C912-B4BA-4146B2BE8E79}"/>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p16">
                <a:extLst>
                  <a:ext uri="{FF2B5EF4-FFF2-40B4-BE49-F238E27FC236}">
                    <a16:creationId xmlns:a16="http://schemas.microsoft.com/office/drawing/2014/main" id="{EB647A8E-BC64-9A44-9A94-84C183A0285E}"/>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8;p16">
                <a:extLst>
                  <a:ext uri="{FF2B5EF4-FFF2-40B4-BE49-F238E27FC236}">
                    <a16:creationId xmlns:a16="http://schemas.microsoft.com/office/drawing/2014/main" id="{CFC3E2AA-74D3-EC9F-0262-2665C1021DEC}"/>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127;p16">
              <a:extLst>
                <a:ext uri="{FF2B5EF4-FFF2-40B4-BE49-F238E27FC236}">
                  <a16:creationId xmlns:a16="http://schemas.microsoft.com/office/drawing/2014/main" id="{6795A645-9DDD-E404-92CA-C365BA130BFD}"/>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Picture 12">
            <a:extLst>
              <a:ext uri="{FF2B5EF4-FFF2-40B4-BE49-F238E27FC236}">
                <a16:creationId xmlns:a16="http://schemas.microsoft.com/office/drawing/2014/main" id="{8A9609C1-6699-F0EA-C2D4-04002CE49EC6}"/>
              </a:ext>
            </a:extLst>
          </p:cNvPr>
          <p:cNvPicPr>
            <a:picLocks noChangeAspect="1"/>
          </p:cNvPicPr>
          <p:nvPr userDrawn="1"/>
        </p:nvPicPr>
        <p:blipFill>
          <a:blip r:embed="rId14"/>
          <a:stretch>
            <a:fillRect/>
          </a:stretch>
        </p:blipFill>
        <p:spPr>
          <a:xfrm>
            <a:off x="7558029" y="4496394"/>
            <a:ext cx="1486542" cy="598676"/>
          </a:xfrm>
          <a:prstGeom prst="rect">
            <a:avLst/>
          </a:prstGeom>
        </p:spPr>
      </p:pic>
    </p:spTree>
    <p:extLst>
      <p:ext uri="{BB962C8B-B14F-4D97-AF65-F5344CB8AC3E}">
        <p14:creationId xmlns:p14="http://schemas.microsoft.com/office/powerpoint/2010/main" val="8012985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5.xml"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notesSlide" Target="../notesSlides/notesSlide7.xml" /><Relationship Id="rId1" Type="http://schemas.openxmlformats.org/officeDocument/2006/relationships/slideLayout" Target="../slideLayouts/slideLayout6.xml" /><Relationship Id="rId4" Type="http://schemas.openxmlformats.org/officeDocument/2006/relationships/chart" Target="../charts/chart2.xml" /></Relationships>
</file>

<file path=ppt/slides/_rels/slide9.xml.rels><?xml version="1.0" encoding="UTF-8" standalone="yes"?>
<Relationships xmlns="http://schemas.openxmlformats.org/package/2006/relationships"><Relationship Id="rId3" Type="http://schemas.openxmlformats.org/officeDocument/2006/relationships/chart" Target="../charts/chart3.xml" /><Relationship Id="rId2" Type="http://schemas.openxmlformats.org/officeDocument/2006/relationships/notesSlide" Target="../notesSlides/notesSlide8.xml" /><Relationship Id="rId1" Type="http://schemas.openxmlformats.org/officeDocument/2006/relationships/slideLayout" Target="../slideLayouts/slideLayout6.xml" /><Relationship Id="rId4" Type="http://schemas.openxmlformats.org/officeDocument/2006/relationships/chart" Target="../charts/chart4.xml" /></Relationships>
</file>

<file path=ppt/slides/_rels/slide10.xml.rels><?xml version="1.0" encoding="UTF-8" standalone="yes"?>
<Relationships xmlns="http://schemas.openxmlformats.org/package/2006/relationships"><Relationship Id="rId3" Type="http://schemas.openxmlformats.org/officeDocument/2006/relationships/chart" Target="../charts/chart5.xml" /><Relationship Id="rId2" Type="http://schemas.openxmlformats.org/officeDocument/2006/relationships/notesSlide" Target="../notesSlides/notesSlide9.xml" /><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3" Type="http://schemas.openxmlformats.org/officeDocument/2006/relationships/chart" Target="../charts/chart6.xml" /><Relationship Id="rId2" Type="http://schemas.openxmlformats.org/officeDocument/2006/relationships/notesSlide" Target="../notesSlides/notesSlide10.xml" /><Relationship Id="rId1" Type="http://schemas.openxmlformats.org/officeDocument/2006/relationships/slideLayout" Target="../slideLayouts/slideLayout9.xml" /><Relationship Id="rId4" Type="http://schemas.openxmlformats.org/officeDocument/2006/relationships/chart" Target="../charts/chart7.xml" /></Relationships>
</file>

<file path=ppt/slides/_rels/slide12.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17.xml" /></Relationships>
</file>

<file path=ppt/slides/_rels/slide13.xml.rels><?xml version="1.0" encoding="UTF-8" standalone="yes"?>
<Relationships xmlns="http://schemas.openxmlformats.org/package/2006/relationships"><Relationship Id="rId2" Type="http://schemas.openxmlformats.org/officeDocument/2006/relationships/chart" Target="../charts/chart8.xml" /><Relationship Id="rId1" Type="http://schemas.openxmlformats.org/officeDocument/2006/relationships/slideLayout" Target="../slideLayouts/slideLayout17.xml" /></Relationships>
</file>

<file path=ppt/slides/_rels/slide14.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17.xml" /></Relationships>
</file>

<file path=ppt/slides/_rels/slide15.xml.rels><?xml version="1.0" encoding="UTF-8" standalone="yes"?>
<Relationships xmlns="http://schemas.openxmlformats.org/package/2006/relationships"><Relationship Id="rId2" Type="http://schemas.openxmlformats.org/officeDocument/2006/relationships/chart" Target="../charts/chart9.xml" /><Relationship Id="rId1" Type="http://schemas.openxmlformats.org/officeDocument/2006/relationships/slideLayout" Target="../slideLayouts/slideLayout17.xml" /></Relationships>
</file>

<file path=ppt/slides/_rels/slide16.xml.rels><?xml version="1.0" encoding="UTF-8" standalone="yes"?>
<Relationships xmlns="http://schemas.openxmlformats.org/package/2006/relationships"><Relationship Id="rId3" Type="http://schemas.openxmlformats.org/officeDocument/2006/relationships/chart" Target="../charts/chart10.xml" /><Relationship Id="rId2" Type="http://schemas.openxmlformats.org/officeDocument/2006/relationships/notesSlide" Target="../notesSlides/notesSlide11.xml" /><Relationship Id="rId1" Type="http://schemas.openxmlformats.org/officeDocument/2006/relationships/slideLayout" Target="../slideLayouts/slideLayout28.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8.xml" /></Relationships>
</file>

<file path=ppt/slides/_rels/slide18.xml.rels><?xml version="1.0" encoding="UTF-8" standalone="yes"?>
<Relationships xmlns="http://schemas.openxmlformats.org/package/2006/relationships"><Relationship Id="rId3" Type="http://schemas.openxmlformats.org/officeDocument/2006/relationships/chart" Target="../charts/chart11.xml" /><Relationship Id="rId2" Type="http://schemas.openxmlformats.org/officeDocument/2006/relationships/notesSlide" Target="../notesSlides/notesSlide13.xml" /><Relationship Id="rId1" Type="http://schemas.openxmlformats.org/officeDocument/2006/relationships/slideLayout" Target="../slideLayouts/slideLayout28.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8.xml" /></Relationships>
</file>

<file path=ppt/slides/_rels/slide20.xml.rels><?xml version="1.0" encoding="UTF-8" standalone="yes"?>
<Relationships xmlns="http://schemas.openxmlformats.org/package/2006/relationships"><Relationship Id="rId3" Type="http://schemas.openxmlformats.org/officeDocument/2006/relationships/chart" Target="../charts/chart12.xml" /><Relationship Id="rId2" Type="http://schemas.openxmlformats.org/officeDocument/2006/relationships/notesSlide" Target="../notesSlides/notesSlide15.xml" /><Relationship Id="rId1" Type="http://schemas.openxmlformats.org/officeDocument/2006/relationships/slideLayout" Target="../slideLayouts/slideLayout28.xml" /></Relationships>
</file>

<file path=ppt/slides/_rels/slide21.xml.rels><?xml version="1.0" encoding="UTF-8" standalone="yes"?>
<Relationships xmlns="http://schemas.openxmlformats.org/package/2006/relationships"><Relationship Id="rId3" Type="http://schemas.openxmlformats.org/officeDocument/2006/relationships/image" Target="../media/image10.emf" /><Relationship Id="rId2" Type="http://schemas.openxmlformats.org/officeDocument/2006/relationships/notesSlide" Target="../notesSlides/notesSlide16.xml" /><Relationship Id="rId1" Type="http://schemas.openxmlformats.org/officeDocument/2006/relationships/slideLayout" Target="../slideLayouts/slideLayout39.xml" /></Relationships>
</file>

<file path=ppt/slides/_rels/slide22.xml.rels><?xml version="1.0" encoding="UTF-8" standalone="yes"?>
<Relationships xmlns="http://schemas.openxmlformats.org/package/2006/relationships"><Relationship Id="rId3" Type="http://schemas.openxmlformats.org/officeDocument/2006/relationships/image" Target="../media/image11.emf" /><Relationship Id="rId2" Type="http://schemas.openxmlformats.org/officeDocument/2006/relationships/notesSlide" Target="../notesSlides/notesSlide17.xml" /><Relationship Id="rId1" Type="http://schemas.openxmlformats.org/officeDocument/2006/relationships/slideLayout" Target="../slideLayouts/slideLayout39.xml" /></Relationships>
</file>

<file path=ppt/slides/_rels/slide23.xml.rels><?xml version="1.0" encoding="UTF-8" standalone="yes"?>
<Relationships xmlns="http://schemas.openxmlformats.org/package/2006/relationships"><Relationship Id="rId2" Type="http://schemas.openxmlformats.org/officeDocument/2006/relationships/image" Target="../media/image12.emf" /><Relationship Id="rId1" Type="http://schemas.openxmlformats.org/officeDocument/2006/relationships/slideLayout" Target="../slideLayouts/slideLayout39.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6"/>
          <p:cNvSpPr txBox="1">
            <a:spLocks noGrp="1"/>
          </p:cNvSpPr>
          <p:nvPr>
            <p:ph type="ctrTitle"/>
          </p:nvPr>
        </p:nvSpPr>
        <p:spPr>
          <a:xfrm>
            <a:off x="720004" y="1520025"/>
            <a:ext cx="4935900" cy="1920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b="0" i="0" dirty="0">
                <a:solidFill>
                  <a:srgbClr val="333333"/>
                </a:solidFill>
                <a:effectLst/>
                <a:latin typeface="Roboto Condensed" panose="02000000000000000000" pitchFamily="2" charset="0"/>
              </a:rPr>
              <a:t>Mughal Iron &amp; Steel Industries Limited</a:t>
            </a:r>
            <a:endParaRPr lang="en-US" dirty="0">
              <a:solidFill>
                <a:schemeClr val="dk1"/>
              </a:solidFill>
            </a:endParaRPr>
          </a:p>
        </p:txBody>
      </p:sp>
      <p:sp>
        <p:nvSpPr>
          <p:cNvPr id="308" name="Google Shape;308;p36"/>
          <p:cNvSpPr txBox="1">
            <a:spLocks noGrp="1"/>
          </p:cNvSpPr>
          <p:nvPr>
            <p:ph type="subTitle" idx="1"/>
          </p:nvPr>
        </p:nvSpPr>
        <p:spPr>
          <a:xfrm>
            <a:off x="720004" y="3839975"/>
            <a:ext cx="4359000" cy="98205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solidFill>
              </a:rPr>
              <a:t>Presented by:</a:t>
            </a:r>
          </a:p>
          <a:p>
            <a:pPr marL="0" lvl="0" indent="0" algn="l" rtl="0">
              <a:spcBef>
                <a:spcPts val="0"/>
              </a:spcBef>
              <a:spcAft>
                <a:spcPts val="0"/>
              </a:spcAft>
              <a:buNone/>
            </a:pPr>
            <a:r>
              <a:rPr lang="en" dirty="0">
                <a:solidFill>
                  <a:schemeClr val="dk1"/>
                </a:solidFill>
              </a:rPr>
              <a:t>Mirza Kashif</a:t>
            </a:r>
          </a:p>
          <a:p>
            <a:pPr marL="0" lvl="0" indent="0" algn="l" rtl="0">
              <a:spcBef>
                <a:spcPts val="0"/>
              </a:spcBef>
              <a:spcAft>
                <a:spcPts val="0"/>
              </a:spcAft>
              <a:buNone/>
            </a:pPr>
            <a:r>
              <a:rPr lang="en" dirty="0"/>
              <a:t>Abdul Rehman Shoukat</a:t>
            </a:r>
          </a:p>
          <a:p>
            <a:pPr marL="0" lvl="0" indent="0" algn="l" rtl="0">
              <a:spcBef>
                <a:spcPts val="0"/>
              </a:spcBef>
              <a:spcAft>
                <a:spcPts val="0"/>
              </a:spcAft>
              <a:buNone/>
            </a:pPr>
            <a:r>
              <a:rPr lang="en" dirty="0">
                <a:solidFill>
                  <a:schemeClr val="dk1"/>
                </a:solidFill>
              </a:rPr>
              <a:t>Muhammad Usman</a:t>
            </a:r>
          </a:p>
          <a:p>
            <a:pPr marL="0" lvl="0" indent="0" algn="l" rtl="0">
              <a:spcBef>
                <a:spcPts val="0"/>
              </a:spcBef>
              <a:spcAft>
                <a:spcPts val="0"/>
              </a:spcAft>
              <a:buNone/>
            </a:pPr>
            <a:r>
              <a:rPr lang="en" dirty="0"/>
              <a:t>Jehanzeb Shehzad</a:t>
            </a:r>
            <a:br>
              <a:rPr lang="en" dirty="0"/>
            </a:br>
            <a:r>
              <a:rPr lang="en" dirty="0"/>
              <a:t>Zain Khan</a:t>
            </a:r>
            <a:endParaRPr dirty="0">
              <a:solidFill>
                <a:schemeClr val="dk1"/>
              </a:solidFill>
            </a:endParaRPr>
          </a:p>
        </p:txBody>
      </p:sp>
      <p:grpSp>
        <p:nvGrpSpPr>
          <p:cNvPr id="14" name="Group 13">
            <a:extLst>
              <a:ext uri="{FF2B5EF4-FFF2-40B4-BE49-F238E27FC236}">
                <a16:creationId xmlns:a16="http://schemas.microsoft.com/office/drawing/2014/main" id="{9597AD97-4134-46F2-656A-84A2A70ACBDE}"/>
              </a:ext>
            </a:extLst>
          </p:cNvPr>
          <p:cNvGrpSpPr/>
          <p:nvPr/>
        </p:nvGrpSpPr>
        <p:grpSpPr>
          <a:xfrm>
            <a:off x="-227075" y="-6976"/>
            <a:ext cx="846139" cy="916720"/>
            <a:chOff x="-227075" y="-6976"/>
            <a:chExt cx="846139" cy="916720"/>
          </a:xfrm>
        </p:grpSpPr>
        <p:grpSp>
          <p:nvGrpSpPr>
            <p:cNvPr id="15" name="Google Shape;125;p16">
              <a:extLst>
                <a:ext uri="{FF2B5EF4-FFF2-40B4-BE49-F238E27FC236}">
                  <a16:creationId xmlns:a16="http://schemas.microsoft.com/office/drawing/2014/main" id="{BBB7E1A3-415A-9CEE-6D3D-E8D4AA11DBD6}"/>
                </a:ext>
              </a:extLst>
            </p:cNvPr>
            <p:cNvGrpSpPr/>
            <p:nvPr userDrawn="1"/>
          </p:nvGrpSpPr>
          <p:grpSpPr>
            <a:xfrm flipH="1">
              <a:off x="-227075" y="-6920"/>
              <a:ext cx="846139" cy="916664"/>
              <a:chOff x="4609750" y="1462400"/>
              <a:chExt cx="1524025" cy="1671525"/>
            </a:xfrm>
          </p:grpSpPr>
          <p:sp>
            <p:nvSpPr>
              <p:cNvPr id="17" name="Google Shape;126;p16">
                <a:extLst>
                  <a:ext uri="{FF2B5EF4-FFF2-40B4-BE49-F238E27FC236}">
                    <a16:creationId xmlns:a16="http://schemas.microsoft.com/office/drawing/2014/main" id="{9143CE1F-1F71-045A-FE2C-249EEDB31DA5}"/>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7;p16">
                <a:extLst>
                  <a:ext uri="{FF2B5EF4-FFF2-40B4-BE49-F238E27FC236}">
                    <a16:creationId xmlns:a16="http://schemas.microsoft.com/office/drawing/2014/main" id="{8E8A0F5F-30A4-CC6A-918F-8C35BC96BF42}"/>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8;p16">
                <a:extLst>
                  <a:ext uri="{FF2B5EF4-FFF2-40B4-BE49-F238E27FC236}">
                    <a16:creationId xmlns:a16="http://schemas.microsoft.com/office/drawing/2014/main" id="{B6ECD6D3-3B9A-9C4F-381F-DE07A067750E}"/>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27;p16">
              <a:extLst>
                <a:ext uri="{FF2B5EF4-FFF2-40B4-BE49-F238E27FC236}">
                  <a16:creationId xmlns:a16="http://schemas.microsoft.com/office/drawing/2014/main" id="{DEB89C89-1BEC-D769-7EA3-2B355A81AEB5}"/>
                </a:ext>
              </a:extLst>
            </p:cNvPr>
            <p:cNvSpPr/>
            <p:nvPr userDrawn="1"/>
          </p:nvSpPr>
          <p:spPr>
            <a:xfrm flipH="1">
              <a:off x="-227075" y="-6976"/>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rgbClr val="2344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6663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C485-E770-9E5D-AC0C-C5259A70D8F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8AFCAFC-C16B-FAB2-BFA0-940BA81D41C7}"/>
              </a:ext>
            </a:extLst>
          </p:cNvPr>
          <p:cNvSpPr>
            <a:spLocks noGrp="1"/>
          </p:cNvSpPr>
          <p:nvPr>
            <p:ph idx="1"/>
          </p:nvPr>
        </p:nvSpPr>
        <p:spPr/>
        <p:txBody>
          <a:bodyPr/>
          <a:lstStyle/>
          <a:p>
            <a:r>
              <a:rPr lang="en-US" sz="2000" dirty="0"/>
              <a:t>Mughal Iron &amp; Steel Industries Limited was incorporated in Pakistan as a public limited company in 2010.</a:t>
            </a:r>
          </a:p>
          <a:p>
            <a:r>
              <a:rPr lang="en-US" sz="2000" dirty="0"/>
              <a:t>The principal activity of the Company is manufacturing and sale of mild steel products relating to the ferrous segment. </a:t>
            </a:r>
          </a:p>
          <a:p>
            <a:r>
              <a:rPr lang="en-US" sz="2000" dirty="0"/>
              <a:t>The company is present in the long-roll steel industry and engaged in other activities such as making billets, steel rebars, and t-iron. </a:t>
            </a:r>
          </a:p>
          <a:p>
            <a:r>
              <a:rPr lang="en-US" sz="2000" dirty="0"/>
              <a:t>The company finds the utility of its products in the domestic housing market, both in urban and rural, alike, as well as in large infrastructure projects market.</a:t>
            </a:r>
          </a:p>
        </p:txBody>
      </p:sp>
      <p:grpSp>
        <p:nvGrpSpPr>
          <p:cNvPr id="4" name="Google Shape;125;p16">
            <a:extLst>
              <a:ext uri="{FF2B5EF4-FFF2-40B4-BE49-F238E27FC236}">
                <a16:creationId xmlns:a16="http://schemas.microsoft.com/office/drawing/2014/main" id="{AECAEC40-D890-3C32-C248-936FCB000619}"/>
              </a:ext>
            </a:extLst>
          </p:cNvPr>
          <p:cNvGrpSpPr/>
          <p:nvPr/>
        </p:nvGrpSpPr>
        <p:grpSpPr>
          <a:xfrm flipH="1">
            <a:off x="-227075" y="-6920"/>
            <a:ext cx="846139" cy="916664"/>
            <a:chOff x="4609750" y="1462400"/>
            <a:chExt cx="1524025" cy="1671525"/>
          </a:xfrm>
        </p:grpSpPr>
        <p:sp>
          <p:nvSpPr>
            <p:cNvPr id="5" name="Google Shape;126;p16">
              <a:extLst>
                <a:ext uri="{FF2B5EF4-FFF2-40B4-BE49-F238E27FC236}">
                  <a16:creationId xmlns:a16="http://schemas.microsoft.com/office/drawing/2014/main" id="{C7267098-3C03-695A-4E9C-7F05C837D3D2}"/>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7;p16">
              <a:extLst>
                <a:ext uri="{FF2B5EF4-FFF2-40B4-BE49-F238E27FC236}">
                  <a16:creationId xmlns:a16="http://schemas.microsoft.com/office/drawing/2014/main" id="{40DDFB5B-853D-2D8E-1B60-7665C9329200}"/>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8;p16">
              <a:extLst>
                <a:ext uri="{FF2B5EF4-FFF2-40B4-BE49-F238E27FC236}">
                  <a16:creationId xmlns:a16="http://schemas.microsoft.com/office/drawing/2014/main" id="{C178B42C-278A-F448-5449-6C4AC9E3A9B7}"/>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5901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16A25-9E19-98CF-6014-4AC446085D76}"/>
              </a:ext>
            </a:extLst>
          </p:cNvPr>
          <p:cNvSpPr>
            <a:spLocks noGrp="1"/>
          </p:cNvSpPr>
          <p:nvPr>
            <p:ph type="title"/>
          </p:nvPr>
        </p:nvSpPr>
        <p:spPr/>
        <p:txBody>
          <a:bodyPr/>
          <a:lstStyle/>
          <a:p>
            <a:r>
              <a:rPr lang="en-US" dirty="0"/>
              <a:t>Common-size Analysis Insights</a:t>
            </a:r>
          </a:p>
        </p:txBody>
      </p:sp>
      <p:pic>
        <p:nvPicPr>
          <p:cNvPr id="5" name="Picture 4">
            <a:extLst>
              <a:ext uri="{FF2B5EF4-FFF2-40B4-BE49-F238E27FC236}">
                <a16:creationId xmlns:a16="http://schemas.microsoft.com/office/drawing/2014/main" id="{6DD2F16F-F992-4E5B-F504-18EC26210D2A}"/>
              </a:ext>
            </a:extLst>
          </p:cNvPr>
          <p:cNvPicPr>
            <a:picLocks noChangeAspect="1"/>
          </p:cNvPicPr>
          <p:nvPr/>
        </p:nvPicPr>
        <p:blipFill>
          <a:blip r:embed="rId3"/>
          <a:stretch>
            <a:fillRect/>
          </a:stretch>
        </p:blipFill>
        <p:spPr>
          <a:xfrm>
            <a:off x="1773038" y="1268016"/>
            <a:ext cx="5597925" cy="3281124"/>
          </a:xfrm>
          <a:prstGeom prst="rect">
            <a:avLst/>
          </a:prstGeom>
        </p:spPr>
      </p:pic>
      <p:grpSp>
        <p:nvGrpSpPr>
          <p:cNvPr id="4" name="Google Shape;125;p16">
            <a:extLst>
              <a:ext uri="{FF2B5EF4-FFF2-40B4-BE49-F238E27FC236}">
                <a16:creationId xmlns:a16="http://schemas.microsoft.com/office/drawing/2014/main" id="{CF55EC55-A62C-3D36-6C04-8C72B6E56B32}"/>
              </a:ext>
            </a:extLst>
          </p:cNvPr>
          <p:cNvGrpSpPr/>
          <p:nvPr/>
        </p:nvGrpSpPr>
        <p:grpSpPr>
          <a:xfrm flipH="1">
            <a:off x="-227075" y="-6920"/>
            <a:ext cx="846139" cy="916664"/>
            <a:chOff x="4609750" y="1462400"/>
            <a:chExt cx="1524025" cy="1671525"/>
          </a:xfrm>
        </p:grpSpPr>
        <p:sp>
          <p:nvSpPr>
            <p:cNvPr id="6" name="Google Shape;126;p16">
              <a:extLst>
                <a:ext uri="{FF2B5EF4-FFF2-40B4-BE49-F238E27FC236}">
                  <a16:creationId xmlns:a16="http://schemas.microsoft.com/office/drawing/2014/main" id="{E73BB467-8D33-5BEE-3A04-BBE1C5B8E5EC}"/>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p16">
              <a:extLst>
                <a:ext uri="{FF2B5EF4-FFF2-40B4-BE49-F238E27FC236}">
                  <a16:creationId xmlns:a16="http://schemas.microsoft.com/office/drawing/2014/main" id="{F96113A7-21C4-74CB-8A1D-8904E8F3CFC2}"/>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8;p16">
              <a:extLst>
                <a:ext uri="{FF2B5EF4-FFF2-40B4-BE49-F238E27FC236}">
                  <a16:creationId xmlns:a16="http://schemas.microsoft.com/office/drawing/2014/main" id="{C77ECE76-C91C-1783-A83E-2BBC7395D4AD}"/>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5302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76AA-98C1-84A6-A766-C79CF0B13C35}"/>
              </a:ext>
            </a:extLst>
          </p:cNvPr>
          <p:cNvSpPr>
            <a:spLocks noGrp="1"/>
          </p:cNvSpPr>
          <p:nvPr>
            <p:ph type="title"/>
          </p:nvPr>
        </p:nvSpPr>
        <p:spPr/>
        <p:txBody>
          <a:bodyPr/>
          <a:lstStyle/>
          <a:p>
            <a:r>
              <a:rPr lang="en-US" dirty="0"/>
              <a:t>Common-size Analysis Insights (cont.)</a:t>
            </a:r>
          </a:p>
        </p:txBody>
      </p:sp>
      <p:pic>
        <p:nvPicPr>
          <p:cNvPr id="4" name="image8.png">
            <a:extLst>
              <a:ext uri="{FF2B5EF4-FFF2-40B4-BE49-F238E27FC236}">
                <a16:creationId xmlns:a16="http://schemas.microsoft.com/office/drawing/2014/main" id="{32B059E0-2701-4FF9-818A-25CF666C0657}"/>
              </a:ext>
            </a:extLst>
          </p:cNvPr>
          <p:cNvPicPr>
            <a:picLocks noChangeAspect="1"/>
          </p:cNvPicPr>
          <p:nvPr/>
        </p:nvPicPr>
        <p:blipFill>
          <a:blip r:embed="rId3" cstate="print"/>
          <a:stretch>
            <a:fillRect/>
          </a:stretch>
        </p:blipFill>
        <p:spPr>
          <a:xfrm>
            <a:off x="1761548" y="1268016"/>
            <a:ext cx="5620904" cy="3349704"/>
          </a:xfrm>
          <a:prstGeom prst="rect">
            <a:avLst/>
          </a:prstGeom>
        </p:spPr>
      </p:pic>
      <p:grpSp>
        <p:nvGrpSpPr>
          <p:cNvPr id="5" name="Google Shape;125;p16">
            <a:extLst>
              <a:ext uri="{FF2B5EF4-FFF2-40B4-BE49-F238E27FC236}">
                <a16:creationId xmlns:a16="http://schemas.microsoft.com/office/drawing/2014/main" id="{FB6173CC-9DCE-E40E-A74D-168C0E5FBFE7}"/>
              </a:ext>
            </a:extLst>
          </p:cNvPr>
          <p:cNvGrpSpPr/>
          <p:nvPr/>
        </p:nvGrpSpPr>
        <p:grpSpPr>
          <a:xfrm flipH="1">
            <a:off x="-227075" y="-6920"/>
            <a:ext cx="846139" cy="916664"/>
            <a:chOff x="4609750" y="1462400"/>
            <a:chExt cx="1524025" cy="1671525"/>
          </a:xfrm>
        </p:grpSpPr>
        <p:sp>
          <p:nvSpPr>
            <p:cNvPr id="6" name="Google Shape;126;p16">
              <a:extLst>
                <a:ext uri="{FF2B5EF4-FFF2-40B4-BE49-F238E27FC236}">
                  <a16:creationId xmlns:a16="http://schemas.microsoft.com/office/drawing/2014/main" id="{E17F5D28-2519-BD4D-06FD-2A2912D34486}"/>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p16">
              <a:extLst>
                <a:ext uri="{FF2B5EF4-FFF2-40B4-BE49-F238E27FC236}">
                  <a16:creationId xmlns:a16="http://schemas.microsoft.com/office/drawing/2014/main" id="{3C3B0C1B-C9CD-71DB-A801-C3B54AC7FA6F}"/>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8;p16">
              <a:extLst>
                <a:ext uri="{FF2B5EF4-FFF2-40B4-BE49-F238E27FC236}">
                  <a16:creationId xmlns:a16="http://schemas.microsoft.com/office/drawing/2014/main" id="{A6309346-1362-7BC6-0D8B-956443C2DBA2}"/>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17114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A978-FD4C-0C08-8B6F-EA4139DDB970}"/>
              </a:ext>
            </a:extLst>
          </p:cNvPr>
          <p:cNvSpPr>
            <a:spLocks noGrp="1"/>
          </p:cNvSpPr>
          <p:nvPr>
            <p:ph type="title"/>
          </p:nvPr>
        </p:nvSpPr>
        <p:spPr/>
        <p:txBody>
          <a:bodyPr/>
          <a:lstStyle/>
          <a:p>
            <a:r>
              <a:rPr lang="en-US" dirty="0"/>
              <a:t>Common-size Analysis Insights (cont.)</a:t>
            </a:r>
          </a:p>
        </p:txBody>
      </p:sp>
      <p:grpSp>
        <p:nvGrpSpPr>
          <p:cNvPr id="5" name="Google Shape;125;p16">
            <a:extLst>
              <a:ext uri="{FF2B5EF4-FFF2-40B4-BE49-F238E27FC236}">
                <a16:creationId xmlns:a16="http://schemas.microsoft.com/office/drawing/2014/main" id="{5D5D1A48-F212-17F5-DD9E-9E549477F6C7}"/>
              </a:ext>
            </a:extLst>
          </p:cNvPr>
          <p:cNvGrpSpPr/>
          <p:nvPr/>
        </p:nvGrpSpPr>
        <p:grpSpPr>
          <a:xfrm flipH="1">
            <a:off x="-227075" y="-6920"/>
            <a:ext cx="846139" cy="916664"/>
            <a:chOff x="4609750" y="1462400"/>
            <a:chExt cx="1524025" cy="1671525"/>
          </a:xfrm>
        </p:grpSpPr>
        <p:sp>
          <p:nvSpPr>
            <p:cNvPr id="6" name="Google Shape;126;p16">
              <a:extLst>
                <a:ext uri="{FF2B5EF4-FFF2-40B4-BE49-F238E27FC236}">
                  <a16:creationId xmlns:a16="http://schemas.microsoft.com/office/drawing/2014/main" id="{49557744-2AF2-9922-230B-205E9E1C3820}"/>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p16">
              <a:extLst>
                <a:ext uri="{FF2B5EF4-FFF2-40B4-BE49-F238E27FC236}">
                  <a16:creationId xmlns:a16="http://schemas.microsoft.com/office/drawing/2014/main" id="{23FA1FE3-5B61-EF33-F242-4DECE379681B}"/>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8;p16">
              <a:extLst>
                <a:ext uri="{FF2B5EF4-FFF2-40B4-BE49-F238E27FC236}">
                  <a16:creationId xmlns:a16="http://schemas.microsoft.com/office/drawing/2014/main" id="{91B00C44-C902-7864-0D11-9B6E0560FBA4}"/>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0F5B1A40-3B6E-9FA3-EE0E-F30C21DA02F5}"/>
              </a:ext>
            </a:extLst>
          </p:cNvPr>
          <p:cNvPicPr>
            <a:picLocks noChangeAspect="1"/>
          </p:cNvPicPr>
          <p:nvPr/>
        </p:nvPicPr>
        <p:blipFill>
          <a:blip r:embed="rId3"/>
          <a:stretch>
            <a:fillRect/>
          </a:stretch>
        </p:blipFill>
        <p:spPr>
          <a:xfrm>
            <a:off x="1868481" y="1259669"/>
            <a:ext cx="5407037" cy="3254302"/>
          </a:xfrm>
          <a:prstGeom prst="rect">
            <a:avLst/>
          </a:prstGeom>
        </p:spPr>
      </p:pic>
    </p:spTree>
    <p:extLst>
      <p:ext uri="{BB962C8B-B14F-4D97-AF65-F5344CB8AC3E}">
        <p14:creationId xmlns:p14="http://schemas.microsoft.com/office/powerpoint/2010/main" val="2321319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C58D-6BD1-F521-6EEC-8E562DC0546D}"/>
              </a:ext>
            </a:extLst>
          </p:cNvPr>
          <p:cNvSpPr>
            <a:spLocks noGrp="1"/>
          </p:cNvSpPr>
          <p:nvPr>
            <p:ph type="title"/>
          </p:nvPr>
        </p:nvSpPr>
        <p:spPr/>
        <p:txBody>
          <a:bodyPr/>
          <a:lstStyle/>
          <a:p>
            <a:r>
              <a:rPr lang="en-US" dirty="0"/>
              <a:t>Trend Analysis Insights</a:t>
            </a:r>
          </a:p>
        </p:txBody>
      </p:sp>
      <p:pic>
        <p:nvPicPr>
          <p:cNvPr id="5" name="Picture 4">
            <a:extLst>
              <a:ext uri="{FF2B5EF4-FFF2-40B4-BE49-F238E27FC236}">
                <a16:creationId xmlns:a16="http://schemas.microsoft.com/office/drawing/2014/main" id="{DEDE55C1-CDBD-D093-900D-65986BC4FB5E}"/>
              </a:ext>
            </a:extLst>
          </p:cNvPr>
          <p:cNvPicPr>
            <a:picLocks noChangeAspect="1"/>
          </p:cNvPicPr>
          <p:nvPr/>
        </p:nvPicPr>
        <p:blipFill>
          <a:blip r:embed="rId3"/>
          <a:stretch>
            <a:fillRect/>
          </a:stretch>
        </p:blipFill>
        <p:spPr>
          <a:xfrm>
            <a:off x="1701535" y="1268016"/>
            <a:ext cx="5740931" cy="3364944"/>
          </a:xfrm>
          <a:prstGeom prst="rect">
            <a:avLst/>
          </a:prstGeom>
        </p:spPr>
      </p:pic>
      <p:grpSp>
        <p:nvGrpSpPr>
          <p:cNvPr id="4" name="Google Shape;125;p16">
            <a:extLst>
              <a:ext uri="{FF2B5EF4-FFF2-40B4-BE49-F238E27FC236}">
                <a16:creationId xmlns:a16="http://schemas.microsoft.com/office/drawing/2014/main" id="{2EE891F7-1607-D4C6-24DF-4A0647BEB935}"/>
              </a:ext>
            </a:extLst>
          </p:cNvPr>
          <p:cNvGrpSpPr/>
          <p:nvPr/>
        </p:nvGrpSpPr>
        <p:grpSpPr>
          <a:xfrm flipH="1">
            <a:off x="-227075" y="-6920"/>
            <a:ext cx="846139" cy="916664"/>
            <a:chOff x="4609750" y="1462400"/>
            <a:chExt cx="1524025" cy="1671525"/>
          </a:xfrm>
        </p:grpSpPr>
        <p:sp>
          <p:nvSpPr>
            <p:cNvPr id="6" name="Google Shape;126;p16">
              <a:extLst>
                <a:ext uri="{FF2B5EF4-FFF2-40B4-BE49-F238E27FC236}">
                  <a16:creationId xmlns:a16="http://schemas.microsoft.com/office/drawing/2014/main" id="{5635AD1F-C55D-CA23-FAAA-C6DB8F5F2722}"/>
                </a:ext>
              </a:extLst>
            </p:cNvPr>
            <p:cNvSpPr/>
            <p:nvPr/>
          </p:nvSpPr>
          <p:spPr>
            <a:xfrm>
              <a:off x="4609750" y="2377625"/>
              <a:ext cx="758475" cy="756250"/>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p16">
              <a:extLst>
                <a:ext uri="{FF2B5EF4-FFF2-40B4-BE49-F238E27FC236}">
                  <a16:creationId xmlns:a16="http://schemas.microsoft.com/office/drawing/2014/main" id="{51907590-C0B0-5A84-CBC6-FA089B9CB0FD}"/>
                </a:ext>
              </a:extLst>
            </p:cNvPr>
            <p:cNvSpPr/>
            <p:nvPr/>
          </p:nvSpPr>
          <p:spPr>
            <a:xfrm>
              <a:off x="4609750" y="1462400"/>
              <a:ext cx="1524025" cy="915275"/>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8;p16">
              <a:extLst>
                <a:ext uri="{FF2B5EF4-FFF2-40B4-BE49-F238E27FC236}">
                  <a16:creationId xmlns:a16="http://schemas.microsoft.com/office/drawing/2014/main" id="{5EA2CCFB-5AA6-A144-426D-167770F7426E}"/>
                </a:ext>
              </a:extLst>
            </p:cNvPr>
            <p:cNvSpPr/>
            <p:nvPr/>
          </p:nvSpPr>
          <p:spPr>
            <a:xfrm>
              <a:off x="5368175" y="1462400"/>
              <a:ext cx="765600" cy="1671525"/>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49001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B154-BF69-83EB-AD59-E54669DB2E9B}"/>
              </a:ext>
            </a:extLst>
          </p:cNvPr>
          <p:cNvSpPr>
            <a:spLocks noGrp="1"/>
          </p:cNvSpPr>
          <p:nvPr>
            <p:ph type="title"/>
          </p:nvPr>
        </p:nvSpPr>
        <p:spPr/>
        <p:txBody>
          <a:bodyPr/>
          <a:lstStyle/>
          <a:p>
            <a:r>
              <a:rPr lang="en-US" dirty="0"/>
              <a:t>Trend Analysis Insights (cont.)</a:t>
            </a:r>
          </a:p>
        </p:txBody>
      </p:sp>
      <p:pic>
        <p:nvPicPr>
          <p:cNvPr id="4" name="Picture 3">
            <a:extLst>
              <a:ext uri="{FF2B5EF4-FFF2-40B4-BE49-F238E27FC236}">
                <a16:creationId xmlns:a16="http://schemas.microsoft.com/office/drawing/2014/main" id="{8E80F8D5-6E11-C773-4927-D11361A6F72E}"/>
              </a:ext>
            </a:extLst>
          </p:cNvPr>
          <p:cNvPicPr>
            <a:picLocks noChangeAspect="1"/>
          </p:cNvPicPr>
          <p:nvPr/>
        </p:nvPicPr>
        <p:blipFill>
          <a:blip r:embed="rId3"/>
          <a:stretch>
            <a:fillRect/>
          </a:stretch>
        </p:blipFill>
        <p:spPr>
          <a:xfrm>
            <a:off x="1540673" y="1268017"/>
            <a:ext cx="6062654" cy="3070952"/>
          </a:xfrm>
          <a:prstGeom prst="rect">
            <a:avLst/>
          </a:prstGeom>
        </p:spPr>
      </p:pic>
      <p:grpSp>
        <p:nvGrpSpPr>
          <p:cNvPr id="3" name="Group 2">
            <a:extLst>
              <a:ext uri="{FF2B5EF4-FFF2-40B4-BE49-F238E27FC236}">
                <a16:creationId xmlns:a16="http://schemas.microsoft.com/office/drawing/2014/main" id="{218514F1-CD3D-5F4C-4541-28C7ABAD545E}"/>
              </a:ext>
            </a:extLst>
          </p:cNvPr>
          <p:cNvGrpSpPr/>
          <p:nvPr/>
        </p:nvGrpSpPr>
        <p:grpSpPr>
          <a:xfrm>
            <a:off x="-227075" y="-6920"/>
            <a:ext cx="846139" cy="916664"/>
            <a:chOff x="-227075" y="-6920"/>
            <a:chExt cx="846139" cy="916664"/>
          </a:xfrm>
        </p:grpSpPr>
        <p:sp>
          <p:nvSpPr>
            <p:cNvPr id="6" name="Google Shape;126;p16">
              <a:extLst>
                <a:ext uri="{FF2B5EF4-FFF2-40B4-BE49-F238E27FC236}">
                  <a16:creationId xmlns:a16="http://schemas.microsoft.com/office/drawing/2014/main" id="{CE12F406-08C6-A8E0-0580-F1D4020E20AD}"/>
                </a:ext>
              </a:extLst>
            </p:cNvPr>
            <p:cNvSpPr/>
            <p:nvPr/>
          </p:nvSpPr>
          <p:spPr>
            <a:xfrm flipH="1">
              <a:off x="197959" y="494989"/>
              <a:ext cx="421105" cy="414727"/>
            </a:xfrm>
            <a:custGeom>
              <a:avLst/>
              <a:gdLst/>
              <a:ahLst/>
              <a:cxnLst/>
              <a:rect l="l" t="t" r="r" b="b"/>
              <a:pathLst>
                <a:path w="30339" h="30250" extrusionOk="0">
                  <a:moveTo>
                    <a:pt x="1" y="0"/>
                  </a:moveTo>
                  <a:lnTo>
                    <a:pt x="1" y="30250"/>
                  </a:lnTo>
                  <a:lnTo>
                    <a:pt x="30338" y="30250"/>
                  </a:lnTo>
                  <a:lnTo>
                    <a:pt x="30338" y="0"/>
                  </a:lnTo>
                  <a:close/>
                </a:path>
              </a:pathLst>
            </a:custGeom>
            <a:gradFill>
              <a:gsLst>
                <a:gs pos="0">
                  <a:srgbClr val="69D0B9"/>
                </a:gs>
                <a:gs pos="100000">
                  <a:srgbClr val="32847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7;p16">
              <a:extLst>
                <a:ext uri="{FF2B5EF4-FFF2-40B4-BE49-F238E27FC236}">
                  <a16:creationId xmlns:a16="http://schemas.microsoft.com/office/drawing/2014/main" id="{90448065-A3C0-2D80-5F01-EA8B445A4D0A}"/>
                </a:ext>
              </a:extLst>
            </p:cNvPr>
            <p:cNvSpPr/>
            <p:nvPr/>
          </p:nvSpPr>
          <p:spPr>
            <a:xfrm flipH="1">
              <a:off x="-227075" y="-6920"/>
              <a:ext cx="846139" cy="501937"/>
            </a:xfrm>
            <a:custGeom>
              <a:avLst/>
              <a:gdLst/>
              <a:ahLst/>
              <a:cxnLst/>
              <a:rect l="l" t="t" r="r" b="b"/>
              <a:pathLst>
                <a:path w="60961" h="36611" extrusionOk="0">
                  <a:moveTo>
                    <a:pt x="30621" y="0"/>
                  </a:moveTo>
                  <a:lnTo>
                    <a:pt x="1" y="36610"/>
                  </a:lnTo>
                  <a:lnTo>
                    <a:pt x="30337" y="36610"/>
                  </a:lnTo>
                  <a:lnTo>
                    <a:pt x="609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8;p16">
              <a:extLst>
                <a:ext uri="{FF2B5EF4-FFF2-40B4-BE49-F238E27FC236}">
                  <a16:creationId xmlns:a16="http://schemas.microsoft.com/office/drawing/2014/main" id="{51670BA4-AD82-D7E2-C87E-7E4857815CE1}"/>
                </a:ext>
              </a:extLst>
            </p:cNvPr>
            <p:cNvSpPr/>
            <p:nvPr/>
          </p:nvSpPr>
          <p:spPr>
            <a:xfrm flipH="1">
              <a:off x="-227075" y="-6920"/>
              <a:ext cx="425061" cy="916664"/>
            </a:xfrm>
            <a:custGeom>
              <a:avLst/>
              <a:gdLst/>
              <a:ahLst/>
              <a:cxnLst/>
              <a:rect l="l" t="t" r="r" b="b"/>
              <a:pathLst>
                <a:path w="30624" h="66861" extrusionOk="0">
                  <a:moveTo>
                    <a:pt x="30623" y="0"/>
                  </a:moveTo>
                  <a:lnTo>
                    <a:pt x="0" y="36610"/>
                  </a:lnTo>
                  <a:lnTo>
                    <a:pt x="0" y="66860"/>
                  </a:lnTo>
                  <a:lnTo>
                    <a:pt x="30623" y="30258"/>
                  </a:lnTo>
                  <a:lnTo>
                    <a:pt x="306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08416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43F0-5845-71D3-598A-0D751DA4DB18}"/>
              </a:ext>
            </a:extLst>
          </p:cNvPr>
          <p:cNvSpPr>
            <a:spLocks noGrp="1"/>
          </p:cNvSpPr>
          <p:nvPr>
            <p:ph type="title"/>
          </p:nvPr>
        </p:nvSpPr>
        <p:spPr/>
        <p:txBody>
          <a:bodyPr/>
          <a:lstStyle/>
          <a:p>
            <a:r>
              <a:rPr lang="en-US" b="1" dirty="0"/>
              <a:t>Liquidity Analysis</a:t>
            </a:r>
          </a:p>
        </p:txBody>
      </p:sp>
      <p:graphicFrame>
        <p:nvGraphicFramePr>
          <p:cNvPr id="4" name="Content Placeholder 3">
            <a:extLst>
              <a:ext uri="{FF2B5EF4-FFF2-40B4-BE49-F238E27FC236}">
                <a16:creationId xmlns:a16="http://schemas.microsoft.com/office/drawing/2014/main" id="{FC89E2C6-70B6-563E-8571-E34B4D90CFFA}"/>
              </a:ext>
            </a:extLst>
          </p:cNvPr>
          <p:cNvGraphicFramePr>
            <a:graphicFrameLocks noGrp="1"/>
          </p:cNvGraphicFramePr>
          <p:nvPr>
            <p:ph idx="1"/>
          </p:nvPr>
        </p:nvGraphicFramePr>
        <p:xfrm>
          <a:off x="0" y="1268016"/>
          <a:ext cx="4572000" cy="32635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EFC1A07D-DC58-0EBB-B811-198AF2EEF111}"/>
              </a:ext>
            </a:extLst>
          </p:cNvPr>
          <p:cNvGraphicFramePr>
            <a:graphicFrameLocks/>
          </p:cNvGraphicFramePr>
          <p:nvPr/>
        </p:nvGraphicFramePr>
        <p:xfrm>
          <a:off x="4572000" y="1268015"/>
          <a:ext cx="4571999" cy="3263504"/>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Straight Connector 6">
            <a:extLst>
              <a:ext uri="{FF2B5EF4-FFF2-40B4-BE49-F238E27FC236}">
                <a16:creationId xmlns:a16="http://schemas.microsoft.com/office/drawing/2014/main" id="{A4D45F97-AB65-2E52-9518-9F9AAC856844}"/>
              </a:ext>
            </a:extLst>
          </p:cNvPr>
          <p:cNvCxnSpPr>
            <a:cxnSpLocks/>
          </p:cNvCxnSpPr>
          <p:nvPr/>
        </p:nvCxnSpPr>
        <p:spPr>
          <a:xfrm>
            <a:off x="4571999" y="1179094"/>
            <a:ext cx="0" cy="396440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667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B77B69D-C742-4BEB-07D1-F7A9B21CD3FE}"/>
              </a:ext>
            </a:extLst>
          </p:cNvPr>
          <p:cNvGraphicFramePr>
            <a:graphicFrameLocks noGrp="1"/>
          </p:cNvGraphicFramePr>
          <p:nvPr>
            <p:ph idx="1"/>
          </p:nvPr>
        </p:nvGraphicFramePr>
        <p:xfrm>
          <a:off x="0" y="589547"/>
          <a:ext cx="4572000" cy="4043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E0B30EC4-8C80-322B-E176-5EE2C0340705}"/>
              </a:ext>
            </a:extLst>
          </p:cNvPr>
          <p:cNvGraphicFramePr>
            <a:graphicFrameLocks/>
          </p:cNvGraphicFramePr>
          <p:nvPr/>
        </p:nvGraphicFramePr>
        <p:xfrm>
          <a:off x="4572000" y="589547"/>
          <a:ext cx="4572000" cy="40431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9388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5EA1-850A-9C76-D4B6-8383C5F4C16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Capital Structure and Solvency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85036800"/>
              </p:ext>
            </p:extLst>
          </p:nvPr>
        </p:nvGraphicFramePr>
        <p:xfrm>
          <a:off x="628650" y="1369219"/>
          <a:ext cx="7886700" cy="32635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30113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3"/>
          <p:cNvGraphicFramePr>
            <a:graphicFrameLocks noGrp="1"/>
          </p:cNvGraphicFramePr>
          <p:nvPr>
            <p:ph sz="half" idx="2"/>
          </p:nvPr>
        </p:nvGraphicFramePr>
        <p:xfrm>
          <a:off x="1" y="974558"/>
          <a:ext cx="4498181" cy="366768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ontent Placeholder 7"/>
          <p:cNvGraphicFramePr>
            <a:graphicFrameLocks noGrp="1"/>
          </p:cNvGraphicFramePr>
          <p:nvPr>
            <p:ph sz="quarter" idx="4"/>
          </p:nvPr>
        </p:nvGraphicFramePr>
        <p:xfrm>
          <a:off x="4629150" y="974558"/>
          <a:ext cx="4514850" cy="366768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0402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Performance</a:t>
            </a:r>
          </a:p>
        </p:txBody>
      </p:sp>
      <p:pic>
        <p:nvPicPr>
          <p:cNvPr id="4" name="Content Placeholder 3"/>
          <p:cNvPicPr>
            <a:picLocks noGrp="1" noChangeAspect="1"/>
          </p:cNvPicPr>
          <p:nvPr>
            <p:ph idx="1"/>
          </p:nvPr>
        </p:nvPicPr>
        <p:blipFill>
          <a:blip r:embed="rId2"/>
          <a:stretch>
            <a:fillRect/>
          </a:stretch>
        </p:blipFill>
        <p:spPr>
          <a:xfrm>
            <a:off x="628650" y="1375370"/>
            <a:ext cx="7228417" cy="1469430"/>
          </a:xfrm>
          <a:prstGeom prst="rect">
            <a:avLst/>
          </a:prstGeom>
        </p:spPr>
      </p:pic>
      <p:sp>
        <p:nvSpPr>
          <p:cNvPr id="7" name="TextBox 6"/>
          <p:cNvSpPr txBox="1"/>
          <p:nvPr/>
        </p:nvSpPr>
        <p:spPr>
          <a:xfrm>
            <a:off x="628650" y="2844801"/>
            <a:ext cx="7228417" cy="1708160"/>
          </a:xfrm>
          <a:prstGeom prst="rect">
            <a:avLst/>
          </a:prstGeom>
          <a:noFill/>
        </p:spPr>
        <p:txBody>
          <a:bodyPr wrap="square" rtlCol="0">
            <a:spAutoFit/>
          </a:bodyPr>
          <a:lstStyle/>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Gross Profit Margin had an increasing Trend – Cost of sales declining </a:t>
            </a:r>
          </a:p>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Earning Before Tax Margin had an increasing trend – Increase ion taxation</a:t>
            </a:r>
          </a:p>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Net profit ratio rising – all time low in 2020</a:t>
            </a:r>
          </a:p>
        </p:txBody>
      </p:sp>
    </p:spTree>
    <p:extLst>
      <p:ext uri="{BB962C8B-B14F-4D97-AF65-F5344CB8AC3E}">
        <p14:creationId xmlns:p14="http://schemas.microsoft.com/office/powerpoint/2010/main" val="2939092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Performance: Graphical Analysis</a:t>
            </a:r>
          </a:p>
        </p:txBody>
      </p:sp>
      <p:graphicFrame>
        <p:nvGraphicFramePr>
          <p:cNvPr id="4" name="Content Placeholder 3"/>
          <p:cNvGraphicFramePr>
            <a:graphicFrameLocks noGrp="1"/>
          </p:cNvGraphicFramePr>
          <p:nvPr>
            <p:ph idx="1"/>
          </p:nvPr>
        </p:nvGraphicFramePr>
        <p:xfrm>
          <a:off x="628650" y="1369219"/>
          <a:ext cx="7886700" cy="32635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75579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 on Investment</a:t>
            </a:r>
          </a:p>
        </p:txBody>
      </p:sp>
      <p:pic>
        <p:nvPicPr>
          <p:cNvPr id="4" name="Content Placeholder 3"/>
          <p:cNvPicPr>
            <a:picLocks noGrp="1" noChangeAspect="1"/>
          </p:cNvPicPr>
          <p:nvPr>
            <p:ph idx="1"/>
          </p:nvPr>
        </p:nvPicPr>
        <p:blipFill>
          <a:blip r:embed="rId2"/>
          <a:stretch>
            <a:fillRect/>
          </a:stretch>
        </p:blipFill>
        <p:spPr>
          <a:xfrm>
            <a:off x="628650" y="1490068"/>
            <a:ext cx="7886700" cy="1596032"/>
          </a:xfrm>
          <a:prstGeom prst="rect">
            <a:avLst/>
          </a:prstGeom>
        </p:spPr>
      </p:pic>
      <p:sp>
        <p:nvSpPr>
          <p:cNvPr id="5" name="TextBox 4"/>
          <p:cNvSpPr txBox="1"/>
          <p:nvPr/>
        </p:nvSpPr>
        <p:spPr>
          <a:xfrm>
            <a:off x="628650" y="3308151"/>
            <a:ext cx="7865269" cy="1384995"/>
          </a:xfrm>
          <a:prstGeom prst="rect">
            <a:avLst/>
          </a:prstGeom>
          <a:noFill/>
        </p:spPr>
        <p:txBody>
          <a:bodyPr wrap="square" rtlCol="0">
            <a:spAutoFit/>
          </a:bodyPr>
          <a:lstStyle/>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ROCE had an increasing trend</a:t>
            </a:r>
          </a:p>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RNOA kept increasing  </a:t>
            </a:r>
          </a:p>
          <a:p>
            <a:pPr marL="214313" indent="-214313" defTabSz="685800">
              <a:buClrTx/>
              <a:buFont typeface="Arial" panose="020B0604020202020204" pitchFamily="34" charset="0"/>
              <a:buChar char="•"/>
            </a:pPr>
            <a:r>
              <a:rPr lang="en-US" sz="2100" kern="1200" dirty="0">
                <a:solidFill>
                  <a:prstClr val="black"/>
                </a:solidFill>
                <a:latin typeface="Calibri" panose="020F0502020204030204"/>
                <a:ea typeface="+mn-ea"/>
                <a:cs typeface="+mn-cs"/>
              </a:rPr>
              <a:t>ROA had an increasing trend </a:t>
            </a:r>
          </a:p>
          <a:p>
            <a:pPr defTabSz="685800">
              <a:buClrTx/>
            </a:pPr>
            <a:endParaRPr lang="en-US" sz="2100" kern="1200" dirty="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81590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 On Investment</a:t>
            </a:r>
          </a:p>
        </p:txBody>
      </p:sp>
      <p:graphicFrame>
        <p:nvGraphicFramePr>
          <p:cNvPr id="9" name="Content Placeholder 8"/>
          <p:cNvGraphicFramePr>
            <a:graphicFrameLocks noGrp="1"/>
          </p:cNvGraphicFramePr>
          <p:nvPr>
            <p:ph idx="1"/>
          </p:nvPr>
        </p:nvGraphicFramePr>
        <p:xfrm>
          <a:off x="628650" y="1369219"/>
          <a:ext cx="7886700" cy="32635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4304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8137-38BB-2CDE-0844-AB70FF3A8717}"/>
              </a:ext>
            </a:extLst>
          </p:cNvPr>
          <p:cNvSpPr>
            <a:spLocks noGrp="1"/>
          </p:cNvSpPr>
          <p:nvPr>
            <p:ph type="title"/>
          </p:nvPr>
        </p:nvSpPr>
        <p:spPr/>
        <p:txBody>
          <a:bodyPr/>
          <a:lstStyle/>
          <a:p>
            <a:r>
              <a:rPr lang="en-US" b="1" dirty="0"/>
              <a:t>ASSET UTILIZATION ANALYSIS</a:t>
            </a:r>
            <a:endParaRPr lang="en-AE" dirty="0"/>
          </a:p>
        </p:txBody>
      </p:sp>
      <p:graphicFrame>
        <p:nvGraphicFramePr>
          <p:cNvPr id="11" name="Content Placeholder 10">
            <a:extLst>
              <a:ext uri="{FF2B5EF4-FFF2-40B4-BE49-F238E27FC236}">
                <a16:creationId xmlns:a16="http://schemas.microsoft.com/office/drawing/2014/main" id="{94380CBD-2E74-EB3D-E11E-38E6D36BC6DE}"/>
              </a:ext>
            </a:extLst>
          </p:cNvPr>
          <p:cNvGraphicFramePr>
            <a:graphicFrameLocks noGrp="1"/>
          </p:cNvGraphicFramePr>
          <p:nvPr>
            <p:ph idx="1"/>
          </p:nvPr>
        </p:nvGraphicFramePr>
        <p:xfrm>
          <a:off x="628650" y="1369219"/>
          <a:ext cx="7886700" cy="32635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27016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CC344-8B6C-4781-B8AD-1D7DEEA565FA}"/>
              </a:ext>
            </a:extLst>
          </p:cNvPr>
          <p:cNvSpPr>
            <a:spLocks noGrp="1"/>
          </p:cNvSpPr>
          <p:nvPr>
            <p:ph type="title"/>
          </p:nvPr>
        </p:nvSpPr>
        <p:spPr>
          <a:xfrm>
            <a:off x="641074" y="273844"/>
            <a:ext cx="7874276" cy="994172"/>
          </a:xfrm>
        </p:spPr>
        <p:txBody>
          <a:bodyPr/>
          <a:lstStyle/>
          <a:p>
            <a:r>
              <a:rPr lang="en-US" b="1" dirty="0"/>
              <a:t>ASSET UTILIZATION ANALYSIS</a:t>
            </a:r>
            <a:endParaRPr lang="en-AE" b="1" dirty="0"/>
          </a:p>
        </p:txBody>
      </p:sp>
      <p:graphicFrame>
        <p:nvGraphicFramePr>
          <p:cNvPr id="9" name="Content Placeholder 8">
            <a:extLst>
              <a:ext uri="{FF2B5EF4-FFF2-40B4-BE49-F238E27FC236}">
                <a16:creationId xmlns:a16="http://schemas.microsoft.com/office/drawing/2014/main" id="{983DB014-CA7E-7ED9-C736-060605CDB035}"/>
              </a:ext>
            </a:extLst>
          </p:cNvPr>
          <p:cNvGraphicFramePr>
            <a:graphicFrameLocks noGrp="1"/>
          </p:cNvGraphicFramePr>
          <p:nvPr>
            <p:ph idx="1"/>
          </p:nvPr>
        </p:nvGraphicFramePr>
        <p:xfrm>
          <a:off x="628648" y="1721342"/>
          <a:ext cx="7886703" cy="1925170"/>
        </p:xfrm>
        <a:graphic>
          <a:graphicData uri="http://schemas.openxmlformats.org/drawingml/2006/table">
            <a:tbl>
              <a:tblPr/>
              <a:tblGrid>
                <a:gridCol w="3543399">
                  <a:extLst>
                    <a:ext uri="{9D8B030D-6E8A-4147-A177-3AD203B41FA5}">
                      <a16:colId xmlns:a16="http://schemas.microsoft.com/office/drawing/2014/main" val="3091676204"/>
                    </a:ext>
                  </a:extLst>
                </a:gridCol>
                <a:gridCol w="966692">
                  <a:extLst>
                    <a:ext uri="{9D8B030D-6E8A-4147-A177-3AD203B41FA5}">
                      <a16:colId xmlns:a16="http://schemas.microsoft.com/office/drawing/2014/main" val="1420507472"/>
                    </a:ext>
                  </a:extLst>
                </a:gridCol>
                <a:gridCol w="844153">
                  <a:extLst>
                    <a:ext uri="{9D8B030D-6E8A-4147-A177-3AD203B41FA5}">
                      <a16:colId xmlns:a16="http://schemas.microsoft.com/office/drawing/2014/main" val="1613911813"/>
                    </a:ext>
                  </a:extLst>
                </a:gridCol>
                <a:gridCol w="844153">
                  <a:extLst>
                    <a:ext uri="{9D8B030D-6E8A-4147-A177-3AD203B41FA5}">
                      <a16:colId xmlns:a16="http://schemas.microsoft.com/office/drawing/2014/main" val="3401763049"/>
                    </a:ext>
                  </a:extLst>
                </a:gridCol>
                <a:gridCol w="844153">
                  <a:extLst>
                    <a:ext uri="{9D8B030D-6E8A-4147-A177-3AD203B41FA5}">
                      <a16:colId xmlns:a16="http://schemas.microsoft.com/office/drawing/2014/main" val="2626562442"/>
                    </a:ext>
                  </a:extLst>
                </a:gridCol>
                <a:gridCol w="844153">
                  <a:extLst>
                    <a:ext uri="{9D8B030D-6E8A-4147-A177-3AD203B41FA5}">
                      <a16:colId xmlns:a16="http://schemas.microsoft.com/office/drawing/2014/main" val="1862408110"/>
                    </a:ext>
                  </a:extLst>
                </a:gridCol>
              </a:tblGrid>
              <a:tr h="384404">
                <a:tc>
                  <a:txBody>
                    <a:bodyPr/>
                    <a:lstStyle/>
                    <a:p>
                      <a:pPr algn="ctr" fontAlgn="ctr"/>
                      <a:r>
                        <a:rPr lang="en-US" sz="1500" b="1" i="0" u="none" strike="noStrike" dirty="0">
                          <a:solidFill>
                            <a:srgbClr val="000000"/>
                          </a:solidFill>
                          <a:effectLst/>
                          <a:latin typeface="Calibri" panose="020F0502020204030204" pitchFamily="34" charset="0"/>
                        </a:rPr>
                        <a:t>ASSET UTILIZATION ANALYSIS</a:t>
                      </a:r>
                    </a:p>
                  </a:txBody>
                  <a:tcPr marL="7144" marR="7144"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B8B7"/>
                    </a:solidFill>
                  </a:tcPr>
                </a:tc>
                <a:tc>
                  <a:txBody>
                    <a:bodyPr/>
                    <a:lstStyle/>
                    <a:p>
                      <a:pPr algn="ctr" fontAlgn="b"/>
                      <a:r>
                        <a:rPr lang="en-AE" sz="1500" b="1" i="0" u="none" strike="noStrike">
                          <a:solidFill>
                            <a:srgbClr val="000000"/>
                          </a:solidFill>
                          <a:effectLst/>
                          <a:latin typeface="Calibri" panose="020F0502020204030204" pitchFamily="34" charset="0"/>
                        </a:rPr>
                        <a:t>2021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2020</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a:solidFill>
                            <a:srgbClr val="000000"/>
                          </a:solidFill>
                          <a:effectLst/>
                          <a:latin typeface="Calibri" panose="020F0502020204030204" pitchFamily="34" charset="0"/>
                        </a:rPr>
                        <a:t>2019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a:solidFill>
                            <a:srgbClr val="000000"/>
                          </a:solidFill>
                          <a:effectLst/>
                          <a:latin typeface="Calibri" panose="020F0502020204030204" pitchFamily="34" charset="0"/>
                        </a:rPr>
                        <a:t>2018</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2017</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0093725"/>
                  </a:ext>
                </a:extLst>
              </a:tr>
              <a:tr h="404980">
                <a:tc>
                  <a:txBody>
                    <a:bodyPr/>
                    <a:lstStyle/>
                    <a:p>
                      <a:pPr algn="ctr" fontAlgn="b"/>
                      <a:r>
                        <a:rPr lang="en-US" sz="1500" b="1" i="0" u="none" strike="noStrike" dirty="0">
                          <a:solidFill>
                            <a:srgbClr val="000000"/>
                          </a:solidFill>
                          <a:effectLst/>
                          <a:latin typeface="Calibri" panose="020F0502020204030204" pitchFamily="34" charset="0"/>
                        </a:rPr>
                        <a:t>ASSET TURNOVER = (Sales/</a:t>
                      </a:r>
                      <a:r>
                        <a:rPr lang="en-US" sz="1500" b="1" i="0" u="none" strike="noStrike" dirty="0" err="1">
                          <a:solidFill>
                            <a:srgbClr val="000000"/>
                          </a:solidFill>
                          <a:effectLst/>
                          <a:latin typeface="Calibri" panose="020F0502020204030204" pitchFamily="34" charset="0"/>
                        </a:rPr>
                        <a:t>AvgAssets</a:t>
                      </a:r>
                      <a:r>
                        <a:rPr lang="en-US" sz="1500" b="1" i="0" u="none" strike="noStrike" dirty="0">
                          <a:solidFill>
                            <a:srgbClr val="000000"/>
                          </a:solidFill>
                          <a:effectLst/>
                          <a:latin typeface="Calibri" panose="020F0502020204030204" pitchFamily="34" charset="0"/>
                        </a:rPr>
                        <a:t>)</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1.36</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1.09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1.37</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1.21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2.23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0707256"/>
                  </a:ext>
                </a:extLst>
              </a:tr>
              <a:tr h="384404">
                <a:tc>
                  <a:txBody>
                    <a:bodyPr/>
                    <a:lstStyle/>
                    <a:p>
                      <a:pPr algn="ctr" fontAlgn="b"/>
                      <a:r>
                        <a:rPr lang="en-US" sz="1500" b="1" i="0" u="none" strike="noStrike" dirty="0">
                          <a:solidFill>
                            <a:srgbClr val="000000"/>
                          </a:solidFill>
                          <a:effectLst/>
                          <a:latin typeface="Calibri" panose="020F0502020204030204" pitchFamily="34" charset="0"/>
                        </a:rPr>
                        <a:t>INVENTORY TURNOVER</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2.65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3.12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4.05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2.73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2.90</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3345840"/>
                  </a:ext>
                </a:extLst>
              </a:tr>
              <a:tr h="362762">
                <a:tc>
                  <a:txBody>
                    <a:bodyPr/>
                    <a:lstStyle/>
                    <a:p>
                      <a:pPr algn="ctr" fontAlgn="b"/>
                      <a:r>
                        <a:rPr lang="en-US" sz="1500" b="1" i="0" u="none" strike="noStrike" dirty="0">
                          <a:solidFill>
                            <a:srgbClr val="000000"/>
                          </a:solidFill>
                          <a:effectLst/>
                          <a:latin typeface="Calibri" panose="020F0502020204030204" pitchFamily="34" charset="0"/>
                        </a:rPr>
                        <a:t>AVREAGE OPERATING ASSET TURNOVER</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1.37</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1.10</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1.40</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1.23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1522110"/>
                  </a:ext>
                </a:extLst>
              </a:tr>
              <a:tr h="388620">
                <a:tc>
                  <a:txBody>
                    <a:bodyPr/>
                    <a:lstStyle/>
                    <a:p>
                      <a:pPr algn="ctr" fontAlgn="b"/>
                      <a:r>
                        <a:rPr lang="en-US" sz="1500" b="1" i="0" u="none" strike="noStrike" dirty="0">
                          <a:solidFill>
                            <a:srgbClr val="000000"/>
                          </a:solidFill>
                          <a:effectLst/>
                          <a:latin typeface="Calibri" panose="020F0502020204030204" pitchFamily="34" charset="0"/>
                        </a:rPr>
                        <a:t>ACCOUNT RECEIVABLE TURNOVER</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8.55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12.51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9.33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17.59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13.96</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5368699"/>
                  </a:ext>
                </a:extLst>
              </a:tr>
            </a:tbl>
          </a:graphicData>
        </a:graphic>
      </p:graphicFrame>
    </p:spTree>
    <p:extLst>
      <p:ext uri="{BB962C8B-B14F-4D97-AF65-F5344CB8AC3E}">
        <p14:creationId xmlns:p14="http://schemas.microsoft.com/office/powerpoint/2010/main" val="1083310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D8D5-325E-ED5C-9965-3B7F650EB5E9}"/>
              </a:ext>
            </a:extLst>
          </p:cNvPr>
          <p:cNvSpPr>
            <a:spLocks noGrp="1"/>
          </p:cNvSpPr>
          <p:nvPr>
            <p:ph type="title"/>
          </p:nvPr>
        </p:nvSpPr>
        <p:spPr/>
        <p:txBody>
          <a:bodyPr/>
          <a:lstStyle/>
          <a:p>
            <a:r>
              <a:rPr lang="en-US" b="1" dirty="0"/>
              <a:t>ASSET UTILIZATION ANALYSIS</a:t>
            </a:r>
            <a:endParaRPr lang="en-AE" dirty="0"/>
          </a:p>
        </p:txBody>
      </p:sp>
      <p:graphicFrame>
        <p:nvGraphicFramePr>
          <p:cNvPr id="11" name="Content Placeholder 10">
            <a:extLst>
              <a:ext uri="{FF2B5EF4-FFF2-40B4-BE49-F238E27FC236}">
                <a16:creationId xmlns:a16="http://schemas.microsoft.com/office/drawing/2014/main" id="{8369B1B7-5361-9D3E-F659-88B5DE1AF113}"/>
              </a:ext>
            </a:extLst>
          </p:cNvPr>
          <p:cNvGraphicFramePr>
            <a:graphicFrameLocks noGrp="1"/>
          </p:cNvGraphicFramePr>
          <p:nvPr>
            <p:ph idx="1"/>
          </p:nvPr>
        </p:nvGraphicFramePr>
        <p:xfrm>
          <a:off x="628650" y="1443038"/>
          <a:ext cx="7886700" cy="32182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48228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6C9F-B93D-0E6F-E0EE-6D944F29BEE3}"/>
              </a:ext>
            </a:extLst>
          </p:cNvPr>
          <p:cNvSpPr>
            <a:spLocks noGrp="1"/>
          </p:cNvSpPr>
          <p:nvPr>
            <p:ph type="title"/>
          </p:nvPr>
        </p:nvSpPr>
        <p:spPr/>
        <p:txBody>
          <a:bodyPr/>
          <a:lstStyle/>
          <a:p>
            <a:r>
              <a:rPr lang="en-US" b="1" dirty="0">
                <a:solidFill>
                  <a:srgbClr val="000000"/>
                </a:solidFill>
                <a:latin typeface="Calibri Light" panose="020F0302020204030204" pitchFamily="34" charset="0"/>
                <a:cs typeface="Calibri Light" panose="020F0302020204030204" pitchFamily="34" charset="0"/>
              </a:rPr>
              <a:t>Market</a:t>
            </a:r>
            <a:r>
              <a:rPr lang="en-US" b="1" dirty="0">
                <a:solidFill>
                  <a:srgbClr val="000000"/>
                </a:solidFill>
                <a:latin typeface="Calibri" panose="020F0502020204030204" pitchFamily="34" charset="0"/>
              </a:rPr>
              <a:t> </a:t>
            </a:r>
            <a:r>
              <a:rPr lang="en-US" b="1" dirty="0">
                <a:solidFill>
                  <a:srgbClr val="000000"/>
                </a:solidFill>
                <a:latin typeface="Calibri Light" panose="020F0302020204030204" pitchFamily="34" charset="0"/>
                <a:cs typeface="Calibri Light" panose="020F0302020204030204" pitchFamily="34" charset="0"/>
              </a:rPr>
              <a:t>Measures</a:t>
            </a:r>
            <a:endParaRPr lang="en-AE"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030DE20A-67B0-8499-3D33-233749A26ED6}"/>
              </a:ext>
            </a:extLst>
          </p:cNvPr>
          <p:cNvGraphicFramePr>
            <a:graphicFrameLocks noGrp="1"/>
          </p:cNvGraphicFramePr>
          <p:nvPr>
            <p:ph idx="1"/>
          </p:nvPr>
        </p:nvGraphicFramePr>
        <p:xfrm>
          <a:off x="628650" y="1499461"/>
          <a:ext cx="7886701" cy="3091912"/>
        </p:xfrm>
        <a:graphic>
          <a:graphicData uri="http://schemas.openxmlformats.org/drawingml/2006/table">
            <a:tbl>
              <a:tblPr/>
              <a:tblGrid>
                <a:gridCol w="2933209">
                  <a:extLst>
                    <a:ext uri="{9D8B030D-6E8A-4147-A177-3AD203B41FA5}">
                      <a16:colId xmlns:a16="http://schemas.microsoft.com/office/drawing/2014/main" val="2944745793"/>
                    </a:ext>
                  </a:extLst>
                </a:gridCol>
                <a:gridCol w="1205970">
                  <a:extLst>
                    <a:ext uri="{9D8B030D-6E8A-4147-A177-3AD203B41FA5}">
                      <a16:colId xmlns:a16="http://schemas.microsoft.com/office/drawing/2014/main" val="18237653"/>
                    </a:ext>
                  </a:extLst>
                </a:gridCol>
                <a:gridCol w="901660">
                  <a:extLst>
                    <a:ext uri="{9D8B030D-6E8A-4147-A177-3AD203B41FA5}">
                      <a16:colId xmlns:a16="http://schemas.microsoft.com/office/drawing/2014/main" val="2586676302"/>
                    </a:ext>
                  </a:extLst>
                </a:gridCol>
                <a:gridCol w="972101">
                  <a:extLst>
                    <a:ext uri="{9D8B030D-6E8A-4147-A177-3AD203B41FA5}">
                      <a16:colId xmlns:a16="http://schemas.microsoft.com/office/drawing/2014/main" val="1469098235"/>
                    </a:ext>
                  </a:extLst>
                </a:gridCol>
                <a:gridCol w="972101">
                  <a:extLst>
                    <a:ext uri="{9D8B030D-6E8A-4147-A177-3AD203B41FA5}">
                      <a16:colId xmlns:a16="http://schemas.microsoft.com/office/drawing/2014/main" val="2074425127"/>
                    </a:ext>
                  </a:extLst>
                </a:gridCol>
                <a:gridCol w="901660">
                  <a:extLst>
                    <a:ext uri="{9D8B030D-6E8A-4147-A177-3AD203B41FA5}">
                      <a16:colId xmlns:a16="http://schemas.microsoft.com/office/drawing/2014/main" val="968289102"/>
                    </a:ext>
                  </a:extLst>
                </a:gridCol>
              </a:tblGrid>
              <a:tr h="386489">
                <a:tc>
                  <a:txBody>
                    <a:bodyPr/>
                    <a:lstStyle/>
                    <a:p>
                      <a:pPr algn="ctr" fontAlgn="b"/>
                      <a:r>
                        <a:rPr lang="en-US" sz="1500" b="1" i="0" u="none" strike="noStrike" dirty="0">
                          <a:solidFill>
                            <a:srgbClr val="000000"/>
                          </a:solidFill>
                          <a:effectLst/>
                          <a:latin typeface="Calibri" panose="020F0502020204030204" pitchFamily="34" charset="0"/>
                        </a:rPr>
                        <a:t>Market Measures</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B8B7"/>
                    </a:solidFill>
                  </a:tcPr>
                </a:tc>
                <a:tc>
                  <a:txBody>
                    <a:bodyPr/>
                    <a:lstStyle/>
                    <a:p>
                      <a:pPr algn="ctr" fontAlgn="b"/>
                      <a:r>
                        <a:rPr lang="en-AE" sz="1500" b="1" i="0" u="none" strike="noStrike" dirty="0">
                          <a:solidFill>
                            <a:srgbClr val="000000"/>
                          </a:solidFill>
                          <a:effectLst/>
                          <a:latin typeface="Calibri" panose="020F0502020204030204" pitchFamily="34" charset="0"/>
                        </a:rPr>
                        <a:t>2021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2020</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2019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2018</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1" i="0" u="none" strike="noStrike" dirty="0">
                          <a:solidFill>
                            <a:srgbClr val="000000"/>
                          </a:solidFill>
                          <a:effectLst/>
                          <a:latin typeface="Calibri" panose="020F0502020204030204" pitchFamily="34" charset="0"/>
                        </a:rPr>
                        <a:t>2017</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3574145"/>
                  </a:ext>
                </a:extLst>
              </a:tr>
              <a:tr h="386489">
                <a:tc>
                  <a:txBody>
                    <a:bodyPr/>
                    <a:lstStyle/>
                    <a:p>
                      <a:pPr algn="ctr" fontAlgn="b"/>
                      <a:r>
                        <a:rPr lang="en-US" sz="1500" b="1" i="0" u="none" strike="noStrike">
                          <a:solidFill>
                            <a:srgbClr val="000000"/>
                          </a:solidFill>
                          <a:effectLst/>
                          <a:latin typeface="Calibri" panose="020F0502020204030204" pitchFamily="34" charset="0"/>
                        </a:rPr>
                        <a:t>P-E RATIO</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8.12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16.9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4.61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12.2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19.18</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8047332"/>
                  </a:ext>
                </a:extLst>
              </a:tr>
              <a:tr h="386489">
                <a:tc>
                  <a:txBody>
                    <a:bodyPr/>
                    <a:lstStyle/>
                    <a:p>
                      <a:pPr algn="ctr" fontAlgn="b"/>
                      <a:r>
                        <a:rPr lang="en-US" sz="1500" b="1" i="0" u="none" strike="noStrike" dirty="0">
                          <a:solidFill>
                            <a:srgbClr val="000000"/>
                          </a:solidFill>
                          <a:effectLst/>
                          <a:latin typeface="Calibri" panose="020F0502020204030204" pitchFamily="34" charset="0"/>
                        </a:rPr>
                        <a:t>EPS (EARNINGS PER SHARE)</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AE" sz="1500" b="0" i="0" u="none" strike="noStrike" dirty="0">
                          <a:solidFill>
                            <a:srgbClr val="000000"/>
                          </a:solidFill>
                          <a:effectLst/>
                          <a:latin typeface="Calibri" panose="020F0502020204030204" pitchFamily="34" charset="0"/>
                        </a:rPr>
                        <a:t>12.85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AE" sz="1500" b="0" i="0" u="none" strike="noStrike" dirty="0">
                          <a:solidFill>
                            <a:srgbClr val="000000"/>
                          </a:solidFill>
                          <a:effectLst/>
                          <a:latin typeface="Calibri" panose="020F0502020204030204" pitchFamily="34" charset="0"/>
                        </a:rPr>
                        <a:t>2.25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AE" sz="1500" b="0" i="0" u="none" strike="noStrike">
                          <a:solidFill>
                            <a:srgbClr val="000000"/>
                          </a:solidFill>
                          <a:effectLst/>
                          <a:latin typeface="Calibri" panose="020F0502020204030204" pitchFamily="34" charset="0"/>
                        </a:rPr>
                        <a:t>5.46</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AE" sz="1500" b="0" i="0" u="none" strike="noStrike" dirty="0">
                          <a:solidFill>
                            <a:srgbClr val="000000"/>
                          </a:solidFill>
                          <a:effectLst/>
                          <a:latin typeface="Calibri" panose="020F0502020204030204" pitchFamily="34" charset="0"/>
                        </a:rPr>
                        <a:t>5.13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4.2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9405002"/>
                  </a:ext>
                </a:extLst>
              </a:tr>
              <a:tr h="386489">
                <a:tc>
                  <a:txBody>
                    <a:bodyPr/>
                    <a:lstStyle/>
                    <a:p>
                      <a:pPr algn="ctr" fontAlgn="b"/>
                      <a:r>
                        <a:rPr lang="en-US" sz="1500" b="1" i="0" u="none" strike="noStrike">
                          <a:solidFill>
                            <a:srgbClr val="000000"/>
                          </a:solidFill>
                          <a:effectLst/>
                          <a:latin typeface="Calibri" panose="020F0502020204030204" pitchFamily="34" charset="0"/>
                        </a:rPr>
                        <a:t>EARNING YEILD</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0.12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0.06</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0.22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0.08</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0.05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4054163"/>
                  </a:ext>
                </a:extLst>
              </a:tr>
              <a:tr h="386489">
                <a:tc>
                  <a:txBody>
                    <a:bodyPr/>
                    <a:lstStyle/>
                    <a:p>
                      <a:pPr algn="ctr" fontAlgn="b"/>
                      <a:r>
                        <a:rPr lang="en-US" sz="1500" b="1" i="0" u="none" strike="noStrike">
                          <a:solidFill>
                            <a:srgbClr val="000000"/>
                          </a:solidFill>
                          <a:effectLst/>
                          <a:latin typeface="Calibri" panose="020F0502020204030204" pitchFamily="34" charset="0"/>
                        </a:rPr>
                        <a:t>DIVIDEND YEILD</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4%</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663937"/>
                  </a:ext>
                </a:extLst>
              </a:tr>
              <a:tr h="386489">
                <a:tc>
                  <a:txBody>
                    <a:bodyPr/>
                    <a:lstStyle/>
                    <a:p>
                      <a:pPr algn="ctr" fontAlgn="b"/>
                      <a:r>
                        <a:rPr lang="en-US" sz="1500" b="1" i="0" u="none" strike="noStrike">
                          <a:solidFill>
                            <a:srgbClr val="000000"/>
                          </a:solidFill>
                          <a:effectLst/>
                          <a:latin typeface="Calibri" panose="020F0502020204030204" pitchFamily="34" charset="0"/>
                        </a:rPr>
                        <a:t>DPS</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1.2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2.6</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135230"/>
                  </a:ext>
                </a:extLst>
              </a:tr>
              <a:tr h="386489">
                <a:tc>
                  <a:txBody>
                    <a:bodyPr/>
                    <a:lstStyle/>
                    <a:p>
                      <a:pPr algn="ctr" fontAlgn="b"/>
                      <a:r>
                        <a:rPr lang="en-US" sz="1500" b="1" i="0" u="none" strike="noStrike">
                          <a:solidFill>
                            <a:srgbClr val="000000"/>
                          </a:solidFill>
                          <a:effectLst/>
                          <a:latin typeface="Calibri" panose="020F0502020204030204" pitchFamily="34" charset="0"/>
                        </a:rPr>
                        <a:t>CAPITAL YEILD</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161.79%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58.51%</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-59.79%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-22.49%</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20.15%</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6773465"/>
                  </a:ext>
                </a:extLst>
              </a:tr>
              <a:tr h="386489">
                <a:tc>
                  <a:txBody>
                    <a:bodyPr/>
                    <a:lstStyle/>
                    <a:p>
                      <a:pPr algn="ctr" fontAlgn="b"/>
                      <a:r>
                        <a:rPr lang="en-US" sz="1500" b="1" i="0" u="none" strike="noStrike" dirty="0">
                          <a:solidFill>
                            <a:srgbClr val="000000"/>
                          </a:solidFill>
                          <a:effectLst/>
                          <a:latin typeface="Calibri" panose="020F0502020204030204" pitchFamily="34" charset="0"/>
                        </a:rPr>
                        <a:t>DIVIDEND PAYOUT RATIO</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a:solidFill>
                            <a:srgbClr val="000000"/>
                          </a:solidFill>
                          <a:effectLst/>
                          <a:latin typeface="Calibri" panose="020F0502020204030204" pitchFamily="34" charset="0"/>
                        </a:rPr>
                        <a:t>22%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43%</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AE" sz="1500" b="0" i="0" u="none" strike="noStrike" dirty="0">
                          <a:solidFill>
                            <a:srgbClr val="000000"/>
                          </a:solidFill>
                          <a:effectLst/>
                          <a:latin typeface="Calibri" panose="020F0502020204030204" pitchFamily="34" charset="0"/>
                        </a:rPr>
                        <a:t>62%</a:t>
                      </a:r>
                    </a:p>
                  </a:txBody>
                  <a:tcPr marL="7144" marR="7144" marT="714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1856662"/>
                  </a:ext>
                </a:extLst>
              </a:tr>
            </a:tbl>
          </a:graphicData>
        </a:graphic>
      </p:graphicFrame>
    </p:spTree>
    <p:extLst>
      <p:ext uri="{BB962C8B-B14F-4D97-AF65-F5344CB8AC3E}">
        <p14:creationId xmlns:p14="http://schemas.microsoft.com/office/powerpoint/2010/main" val="3244338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990E-7D85-DA5D-BDB3-2A960C7A2CB4}"/>
              </a:ext>
            </a:extLst>
          </p:cNvPr>
          <p:cNvSpPr>
            <a:spLocks noGrp="1"/>
          </p:cNvSpPr>
          <p:nvPr>
            <p:ph type="title"/>
          </p:nvPr>
        </p:nvSpPr>
        <p:spPr/>
        <p:txBody>
          <a:bodyPr/>
          <a:lstStyle/>
          <a:p>
            <a:r>
              <a:rPr lang="en-US" b="1" dirty="0">
                <a:solidFill>
                  <a:srgbClr val="000000"/>
                </a:solidFill>
                <a:latin typeface="Calibri Light" panose="020F0302020204030204" pitchFamily="34" charset="0"/>
                <a:cs typeface="Calibri Light" panose="020F0302020204030204" pitchFamily="34" charset="0"/>
              </a:rPr>
              <a:t>Market</a:t>
            </a:r>
            <a:r>
              <a:rPr lang="en-US" b="1" dirty="0">
                <a:solidFill>
                  <a:srgbClr val="000000"/>
                </a:solidFill>
                <a:latin typeface="Calibri" panose="020F0502020204030204" pitchFamily="34" charset="0"/>
              </a:rPr>
              <a:t> </a:t>
            </a:r>
            <a:r>
              <a:rPr lang="en-US" b="1" dirty="0">
                <a:solidFill>
                  <a:srgbClr val="000000"/>
                </a:solidFill>
                <a:latin typeface="Calibri Light" panose="020F0302020204030204" pitchFamily="34" charset="0"/>
                <a:cs typeface="Calibri Light" panose="020F0302020204030204" pitchFamily="34" charset="0"/>
              </a:rPr>
              <a:t>Measures</a:t>
            </a:r>
            <a:endParaRPr lang="en-AE" dirty="0"/>
          </a:p>
        </p:txBody>
      </p:sp>
      <p:graphicFrame>
        <p:nvGraphicFramePr>
          <p:cNvPr id="8" name="Content Placeholder 7">
            <a:extLst>
              <a:ext uri="{FF2B5EF4-FFF2-40B4-BE49-F238E27FC236}">
                <a16:creationId xmlns:a16="http://schemas.microsoft.com/office/drawing/2014/main" id="{A112CEEB-AA8C-A4D2-74F6-ACE766E9F445}"/>
              </a:ext>
            </a:extLst>
          </p:cNvPr>
          <p:cNvGraphicFramePr>
            <a:graphicFrameLocks noGrp="1"/>
          </p:cNvGraphicFramePr>
          <p:nvPr>
            <p:ph idx="1"/>
          </p:nvPr>
        </p:nvGraphicFramePr>
        <p:xfrm>
          <a:off x="628650" y="1369219"/>
          <a:ext cx="7886700" cy="32635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74207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99BD45-A80C-CAE3-E49E-D36190E5AB2F}"/>
              </a:ext>
            </a:extLst>
          </p:cNvPr>
          <p:cNvSpPr>
            <a:spLocks noGrp="1"/>
          </p:cNvSpPr>
          <p:nvPr>
            <p:ph type="title"/>
          </p:nvPr>
        </p:nvSpPr>
        <p:spPr/>
        <p:txBody>
          <a:bodyPr/>
          <a:lstStyle/>
          <a:p>
            <a:r>
              <a:rPr lang="en-US" dirty="0"/>
              <a:t>As an Investor</a:t>
            </a:r>
            <a:endParaRPr lang="en-PK" dirty="0"/>
          </a:p>
        </p:txBody>
      </p:sp>
      <p:pic>
        <p:nvPicPr>
          <p:cNvPr id="7" name="Content Placeholder 6">
            <a:extLst>
              <a:ext uri="{FF2B5EF4-FFF2-40B4-BE49-F238E27FC236}">
                <a16:creationId xmlns:a16="http://schemas.microsoft.com/office/drawing/2014/main" id="{52CE9911-4D7D-15D4-E0B4-95B4ADF3218F}"/>
              </a:ext>
            </a:extLst>
          </p:cNvPr>
          <p:cNvPicPr>
            <a:picLocks noGrp="1" noChangeAspect="1"/>
          </p:cNvPicPr>
          <p:nvPr>
            <p:ph idx="1"/>
          </p:nvPr>
        </p:nvPicPr>
        <p:blipFill>
          <a:blip r:embed="rId3"/>
          <a:stretch>
            <a:fillRect/>
          </a:stretch>
        </p:blipFill>
        <p:spPr>
          <a:xfrm>
            <a:off x="279698" y="1268016"/>
            <a:ext cx="8578552" cy="2853928"/>
          </a:xfrm>
          <a:prstGeom prst="rect">
            <a:avLst/>
          </a:prstGeom>
        </p:spPr>
      </p:pic>
    </p:spTree>
    <p:extLst>
      <p:ext uri="{BB962C8B-B14F-4D97-AF65-F5344CB8AC3E}">
        <p14:creationId xmlns:p14="http://schemas.microsoft.com/office/powerpoint/2010/main" val="3754540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F281-734A-480F-A28B-9EEB5E84052E}"/>
              </a:ext>
            </a:extLst>
          </p:cNvPr>
          <p:cNvSpPr>
            <a:spLocks noGrp="1"/>
          </p:cNvSpPr>
          <p:nvPr>
            <p:ph type="title"/>
          </p:nvPr>
        </p:nvSpPr>
        <p:spPr/>
        <p:txBody>
          <a:bodyPr/>
          <a:lstStyle/>
          <a:p>
            <a:r>
              <a:rPr lang="en-US" dirty="0"/>
              <a:t>As a Creditor</a:t>
            </a:r>
            <a:endParaRPr lang="en-PK" dirty="0"/>
          </a:p>
        </p:txBody>
      </p:sp>
      <p:pic>
        <p:nvPicPr>
          <p:cNvPr id="6" name="Content Placeholder 5">
            <a:extLst>
              <a:ext uri="{FF2B5EF4-FFF2-40B4-BE49-F238E27FC236}">
                <a16:creationId xmlns:a16="http://schemas.microsoft.com/office/drawing/2014/main" id="{C2DEF423-7C30-EC90-7ADE-06FBB66D3213}"/>
              </a:ext>
            </a:extLst>
          </p:cNvPr>
          <p:cNvPicPr>
            <a:picLocks noGrp="1" noChangeAspect="1"/>
          </p:cNvPicPr>
          <p:nvPr>
            <p:ph idx="1"/>
          </p:nvPr>
        </p:nvPicPr>
        <p:blipFill>
          <a:blip r:embed="rId3"/>
          <a:stretch>
            <a:fillRect/>
          </a:stretch>
        </p:blipFill>
        <p:spPr>
          <a:xfrm>
            <a:off x="312821" y="1268017"/>
            <a:ext cx="8518358" cy="2753914"/>
          </a:xfrm>
          <a:prstGeom prst="rect">
            <a:avLst/>
          </a:prstGeom>
        </p:spPr>
      </p:pic>
    </p:spTree>
    <p:extLst>
      <p:ext uri="{BB962C8B-B14F-4D97-AF65-F5344CB8AC3E}">
        <p14:creationId xmlns:p14="http://schemas.microsoft.com/office/powerpoint/2010/main" val="4024932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06D9-663F-63D0-FEFB-6EEB011FC2C6}"/>
              </a:ext>
            </a:extLst>
          </p:cNvPr>
          <p:cNvSpPr>
            <a:spLocks noGrp="1"/>
          </p:cNvSpPr>
          <p:nvPr>
            <p:ph type="title"/>
          </p:nvPr>
        </p:nvSpPr>
        <p:spPr/>
        <p:txBody>
          <a:bodyPr/>
          <a:lstStyle/>
          <a:p>
            <a:r>
              <a:rPr lang="en-US" dirty="0"/>
              <a:t>As a Creditor</a:t>
            </a:r>
            <a:endParaRPr lang="en-PK" dirty="0"/>
          </a:p>
        </p:txBody>
      </p:sp>
      <p:pic>
        <p:nvPicPr>
          <p:cNvPr id="4" name="Content Placeholder 3">
            <a:extLst>
              <a:ext uri="{FF2B5EF4-FFF2-40B4-BE49-F238E27FC236}">
                <a16:creationId xmlns:a16="http://schemas.microsoft.com/office/drawing/2014/main" id="{AB17A6CD-7489-9FD0-5E27-E7ECADA3AB08}"/>
              </a:ext>
            </a:extLst>
          </p:cNvPr>
          <p:cNvPicPr>
            <a:picLocks noGrp="1" noChangeAspect="1"/>
          </p:cNvPicPr>
          <p:nvPr>
            <p:ph idx="1"/>
          </p:nvPr>
        </p:nvPicPr>
        <p:blipFill>
          <a:blip r:embed="rId2"/>
          <a:stretch>
            <a:fillRect/>
          </a:stretch>
        </p:blipFill>
        <p:spPr>
          <a:xfrm>
            <a:off x="467957" y="1268016"/>
            <a:ext cx="8218843" cy="2932509"/>
          </a:xfrm>
          <a:prstGeom prst="rect">
            <a:avLst/>
          </a:prstGeom>
        </p:spPr>
      </p:pic>
    </p:spTree>
    <p:extLst>
      <p:ext uri="{BB962C8B-B14F-4D97-AF65-F5344CB8AC3E}">
        <p14:creationId xmlns:p14="http://schemas.microsoft.com/office/powerpoint/2010/main" val="2413250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B87D1-563B-EBFF-A110-9550CD51BF12}"/>
              </a:ext>
            </a:extLst>
          </p:cNvPr>
          <p:cNvSpPr>
            <a:spLocks noGrp="1"/>
          </p:cNvSpPr>
          <p:nvPr>
            <p:ph type="title"/>
          </p:nvPr>
        </p:nvSpPr>
        <p:spPr/>
        <p:txBody>
          <a:bodyPr/>
          <a:lstStyle/>
          <a:p>
            <a:r>
              <a:rPr lang="en-US" dirty="0"/>
              <a:t>Recommendations </a:t>
            </a:r>
            <a:endParaRPr lang="en-PK" dirty="0"/>
          </a:p>
        </p:txBody>
      </p:sp>
      <p:sp>
        <p:nvSpPr>
          <p:cNvPr id="3" name="Content Placeholder 2">
            <a:extLst>
              <a:ext uri="{FF2B5EF4-FFF2-40B4-BE49-F238E27FC236}">
                <a16:creationId xmlns:a16="http://schemas.microsoft.com/office/drawing/2014/main" id="{208E964C-E8FB-D730-5AD4-F1AD22BB9201}"/>
              </a:ext>
            </a:extLst>
          </p:cNvPr>
          <p:cNvSpPr>
            <a:spLocks noGrp="1"/>
          </p:cNvSpPr>
          <p:nvPr>
            <p:ph idx="1"/>
          </p:nvPr>
        </p:nvSpPr>
        <p:spPr/>
        <p:txBody>
          <a:bodyPr/>
          <a:lstStyle/>
          <a:p>
            <a:r>
              <a:rPr lang="en-US" dirty="0"/>
              <a:t>Try to decrease the days sales in Receivable as it has rose to 42 in 2021 from 25 in 2017, improve recovery department.</a:t>
            </a:r>
          </a:p>
          <a:p>
            <a:r>
              <a:rPr lang="en-US" dirty="0"/>
              <a:t>Take less debt as country economic condition are deteriorating a major shock can lead to major crisis </a:t>
            </a:r>
          </a:p>
          <a:p>
            <a:r>
              <a:rPr lang="en-US" dirty="0"/>
              <a:t>Reduce costs and expenses to increase Profit.</a:t>
            </a:r>
          </a:p>
          <a:p>
            <a:r>
              <a:rPr lang="en-US" dirty="0"/>
              <a:t>Utilise or Sell off Idle assets </a:t>
            </a:r>
          </a:p>
          <a:p>
            <a:r>
              <a:rPr lang="en-US" dirty="0"/>
              <a:t>Increase Liquid assets to increase confidence of trade creditors in the company</a:t>
            </a:r>
            <a:endParaRPr lang="en-AE" dirty="0"/>
          </a:p>
          <a:p>
            <a:endParaRPr lang="en-PK" dirty="0"/>
          </a:p>
          <a:p>
            <a:endParaRPr lang="en-PK" dirty="0"/>
          </a:p>
        </p:txBody>
      </p:sp>
    </p:spTree>
    <p:extLst>
      <p:ext uri="{BB962C8B-B14F-4D97-AF65-F5344CB8AC3E}">
        <p14:creationId xmlns:p14="http://schemas.microsoft.com/office/powerpoint/2010/main" val="3485387149"/>
      </p:ext>
    </p:extLst>
  </p:cSld>
  <p:clrMapOvr>
    <a:masterClrMapping/>
  </p:clrMapOvr>
</p:sld>
</file>

<file path=ppt/theme/theme1.xml><?xml version="1.0" encoding="utf-8"?>
<a:theme xmlns:a="http://schemas.openxmlformats.org/drawingml/2006/main" name="Accounting College Major by Slidesgo">
  <a:themeElements>
    <a:clrScheme name="Simple Light">
      <a:dk1>
        <a:srgbClr val="111111"/>
      </a:dk1>
      <a:lt1>
        <a:srgbClr val="2344EC"/>
      </a:lt1>
      <a:dk2>
        <a:srgbClr val="3BBB9F"/>
      </a:dk2>
      <a:lt2>
        <a:srgbClr val="F4F4F4"/>
      </a:lt2>
      <a:accent1>
        <a:srgbClr val="FFFFFF"/>
      </a:accent1>
      <a:accent2>
        <a:srgbClr val="FFFF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3183</Words>
  <Application>Microsoft Office PowerPoint</Application>
  <PresentationFormat>On-screen Show (16:9)</PresentationFormat>
  <Paragraphs>186</Paragraphs>
  <Slides>24</Slides>
  <Notes>17</Notes>
  <HiddenSlides>0</HiddenSlides>
  <MMClips>0</MMClips>
  <ScaleCrop>false</ScaleCrop>
  <HeadingPairs>
    <vt:vector size="4" baseType="variant">
      <vt:variant>
        <vt:lpstr>Theme</vt:lpstr>
      </vt:variant>
      <vt:variant>
        <vt:i4>5</vt:i4>
      </vt:variant>
      <vt:variant>
        <vt:lpstr>Slide Titles</vt:lpstr>
      </vt:variant>
      <vt:variant>
        <vt:i4>24</vt:i4>
      </vt:variant>
    </vt:vector>
  </HeadingPairs>
  <TitlesOfParts>
    <vt:vector size="29" baseType="lpstr">
      <vt:lpstr>Accounting College Major by Slidesgo</vt:lpstr>
      <vt:lpstr>Office Theme</vt:lpstr>
      <vt:lpstr>1_Office Theme</vt:lpstr>
      <vt:lpstr>2_Office Theme</vt:lpstr>
      <vt:lpstr>3_Office Theme</vt:lpstr>
      <vt:lpstr>Mughal Iron &amp; Steel Industries Limited</vt:lpstr>
      <vt:lpstr>Introduction</vt:lpstr>
      <vt:lpstr>Common-size Analysis Insights</vt:lpstr>
      <vt:lpstr>Common-size Analysis Insights (cont.)</vt:lpstr>
      <vt:lpstr>Common-size Analysis Insights (cont.)</vt:lpstr>
      <vt:lpstr>Trend Analysis Insights</vt:lpstr>
      <vt:lpstr>Trend Analysis Insights (cont.)</vt:lpstr>
      <vt:lpstr>Liquidity Analysis</vt:lpstr>
      <vt:lpstr>PowerPoint Presentation</vt:lpstr>
      <vt:lpstr>Capital Structure and Solvency</vt:lpstr>
      <vt:lpstr>PowerPoint Presentation</vt:lpstr>
      <vt:lpstr>Operating Performance</vt:lpstr>
      <vt:lpstr>Operating Performance: Graphical Analysis</vt:lpstr>
      <vt:lpstr>Return on Investment</vt:lpstr>
      <vt:lpstr>Return On Investment</vt:lpstr>
      <vt:lpstr>ASSET UTILIZATION ANALYSIS</vt:lpstr>
      <vt:lpstr>ASSET UTILIZATION ANALYSIS</vt:lpstr>
      <vt:lpstr>ASSET UTILIZATION ANALYSIS</vt:lpstr>
      <vt:lpstr>Market Measures</vt:lpstr>
      <vt:lpstr>Market Measures</vt:lpstr>
      <vt:lpstr>As an Investor</vt:lpstr>
      <vt:lpstr>As a Creditor</vt:lpstr>
      <vt:lpstr>As a Creditor</vt:lpstr>
      <vt:lpstr>Recommendations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Iron &amp; Steel Industries Limited</dc:title>
  <dc:creator>Sheikh Usman</dc:creator>
  <cp:lastModifiedBy>Sheikh Usman</cp:lastModifiedBy>
  <cp:revision>5</cp:revision>
  <dcterms:modified xsi:type="dcterms:W3CDTF">2022-05-12T07:18:01Z</dcterms:modified>
</cp:coreProperties>
</file>