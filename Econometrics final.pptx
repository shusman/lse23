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5" r:id="rId2"/>
    <p:sldId id="266" r:id="rId3"/>
    <p:sldId id="267" r:id="rId4"/>
    <p:sldId id="259" r:id="rId5"/>
    <p:sldId id="260" r:id="rId6"/>
    <p:sldId id="257" r:id="rId7"/>
    <p:sldId id="258" r:id="rId8"/>
    <p:sldId id="261" r:id="rId9"/>
    <p:sldId id="262"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6143" autoAdjust="0"/>
  </p:normalViewPr>
  <p:slideViewPr>
    <p:cSldViewPr snapToGrid="0">
      <p:cViewPr varScale="1">
        <p:scale>
          <a:sx n="74" d="100"/>
          <a:sy n="74" d="100"/>
        </p:scale>
        <p:origin x="19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60BEB-B145-41D5-97A4-06DEA613C524}" type="datetimeFigureOut">
              <a:rPr lang="en-US" smtClean="0"/>
              <a:t>5/9/2022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144BC1-4ECA-46C9-BC7E-917EB47F0462}" type="slidenum">
              <a:rPr lang="en-US" smtClean="0"/>
              <a:t>‹#›</a:t>
            </a:fld>
            <a:endParaRPr lang="en-US"/>
          </a:p>
        </p:txBody>
      </p:sp>
    </p:spTree>
    <p:extLst>
      <p:ext uri="{BB962C8B-B14F-4D97-AF65-F5344CB8AC3E}">
        <p14:creationId xmlns:p14="http://schemas.microsoft.com/office/powerpoint/2010/main" val="2771981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 is the market price, OP(Q)/OQ is the derivative of the inverse market demand function, Q is the quantity sold by the stores, MC is the marginal cost of production by the store, and O is an index of store competitiveness. As Bi moves further away from 0, conduct moves further away from perfect competition.</a:t>
            </a:r>
          </a:p>
          <a:p>
            <a:endParaRPr lang="en-US" dirty="0"/>
          </a:p>
          <a:p>
            <a:r>
              <a:rPr lang="en-US" dirty="0"/>
              <a:t>(2) Indicates that differences in prices in different zip-code areas would result only from differences in marginal costs, differences in demand elasticities, or differences in the pricing conduct behavior of firms in different areas.</a:t>
            </a:r>
          </a:p>
          <a:p>
            <a:endParaRPr lang="en-US" dirty="0"/>
          </a:p>
          <a:p>
            <a:r>
              <a:rPr lang="en-US" dirty="0"/>
              <a:t>Based on Equation (3), the following theoretical interpretation can be given to the effect of race characteristics on price. If marginal costs and the degree of competition between areas are identical, then price differences by the proportion of blacks in a zip-code area reflect different price elasticities of demand or discrimination.</a:t>
            </a:r>
          </a:p>
        </p:txBody>
      </p:sp>
      <p:sp>
        <p:nvSpPr>
          <p:cNvPr id="4" name="Slide Number Placeholder 3"/>
          <p:cNvSpPr>
            <a:spLocks noGrp="1"/>
          </p:cNvSpPr>
          <p:nvPr>
            <p:ph type="sldNum" sz="quarter" idx="5"/>
          </p:nvPr>
        </p:nvSpPr>
        <p:spPr/>
        <p:txBody>
          <a:bodyPr/>
          <a:lstStyle/>
          <a:p>
            <a:fld id="{E3144BC1-4ECA-46C9-BC7E-917EB47F0462}" type="slidenum">
              <a:rPr lang="en-US" smtClean="0"/>
              <a:t>2</a:t>
            </a:fld>
            <a:endParaRPr lang="en-US"/>
          </a:p>
        </p:txBody>
      </p:sp>
    </p:spTree>
    <p:extLst>
      <p:ext uri="{BB962C8B-B14F-4D97-AF65-F5344CB8AC3E}">
        <p14:creationId xmlns:p14="http://schemas.microsoft.com/office/powerpoint/2010/main" val="81136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0A3BB3-9E4F-41DB-B655-8A50DEEE0AF1}" type="datetimeFigureOut">
              <a:rPr lang="en-US" smtClean="0"/>
              <a:t>5/9/2022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52059-5FAC-4683-BEF1-63D33B463AA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56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0A3BB3-9E4F-41DB-B655-8A50DEEE0AF1}" type="datetimeFigureOut">
              <a:rPr lang="en-US" smtClean="0"/>
              <a:t>5/9/2022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54055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0A3BB3-9E4F-41DB-B655-8A50DEEE0AF1}" type="datetimeFigureOut">
              <a:rPr lang="en-US" smtClean="0"/>
              <a:t>5/9/2022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52059-5FAC-4683-BEF1-63D33B463AA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875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0A3BB3-9E4F-41DB-B655-8A50DEEE0AF1}" type="datetimeFigureOut">
              <a:rPr lang="en-US" smtClean="0"/>
              <a:t>5/9/2022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2408542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0A3BB3-9E4F-41DB-B655-8A50DEEE0AF1}" type="datetimeFigureOut">
              <a:rPr lang="en-US" smtClean="0"/>
              <a:t>5/9/2022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2457267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0A3BB3-9E4F-41DB-B655-8A50DEEE0AF1}" type="datetimeFigureOut">
              <a:rPr lang="en-US" smtClean="0"/>
              <a:t>5/9/2022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775365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D0A3BB3-9E4F-41DB-B655-8A50DEEE0AF1}" type="datetimeFigureOut">
              <a:rPr lang="en-US" smtClean="0"/>
              <a:t>5/9/2022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361823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D0A3BB3-9E4F-41DB-B655-8A50DEEE0AF1}" type="datetimeFigureOut">
              <a:rPr lang="en-US" smtClean="0"/>
              <a:t>5/9/2022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BA52059-5FAC-4683-BEF1-63D33B463AAD}" type="slidenum">
              <a:rPr lang="en-US" smtClean="0"/>
              <a:t>‹#›</a:t>
            </a:fld>
            <a:endParaRPr lang="en-US"/>
          </a:p>
        </p:txBody>
      </p:sp>
    </p:spTree>
    <p:extLst>
      <p:ext uri="{BB962C8B-B14F-4D97-AF65-F5344CB8AC3E}">
        <p14:creationId xmlns:p14="http://schemas.microsoft.com/office/powerpoint/2010/main" val="2383705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0A3BB3-9E4F-41DB-B655-8A50DEEE0AF1}" type="datetimeFigureOut">
              <a:rPr lang="en-US" smtClean="0"/>
              <a:t>5/9/2022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53775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0A3BB3-9E4F-41DB-B655-8A50DEEE0AF1}" type="datetimeFigureOut">
              <a:rPr lang="en-US" smtClean="0"/>
              <a:t>5/9/2022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1290489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0A3BB3-9E4F-41DB-B655-8A50DEEE0AF1}" type="datetimeFigureOut">
              <a:rPr lang="en-US" smtClean="0"/>
              <a:t>5/9/2022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52059-5FAC-4683-BEF1-63D33B463AAD}" type="slidenum">
              <a:rPr lang="en-US" smtClean="0"/>
              <a:t>‹#›</a:t>
            </a:fld>
            <a:endParaRPr lang="en-US"/>
          </a:p>
        </p:txBody>
      </p:sp>
    </p:spTree>
    <p:extLst>
      <p:ext uri="{BB962C8B-B14F-4D97-AF65-F5344CB8AC3E}">
        <p14:creationId xmlns:p14="http://schemas.microsoft.com/office/powerpoint/2010/main" val="1826387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D0A3BB3-9E4F-41DB-B655-8A50DEEE0AF1}" type="datetimeFigureOut">
              <a:rPr lang="en-US" smtClean="0"/>
              <a:t>5/9/2022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BA52059-5FAC-4683-BEF1-63D33B463AA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5171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xml" /><Relationship Id="rId1" Type="http://schemas.openxmlformats.org/officeDocument/2006/relationships/slideLayout" Target="../slideLayouts/slideLayout2.xml" /><Relationship Id="rId5" Type="http://schemas.openxmlformats.org/officeDocument/2006/relationships/image" Target="../media/image4.jpg" /><Relationship Id="rId4" Type="http://schemas.openxmlformats.org/officeDocument/2006/relationships/image" Target="../media/image3.jp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png" /><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0.emf"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991FD-F5A9-8190-DDCA-22CBB2E4F426}"/>
              </a:ext>
            </a:extLst>
          </p:cNvPr>
          <p:cNvSpPr>
            <a:spLocks noGrp="1"/>
          </p:cNvSpPr>
          <p:nvPr>
            <p:ph type="ctrTitle"/>
          </p:nvPr>
        </p:nvSpPr>
        <p:spPr>
          <a:xfrm>
            <a:off x="1066799" y="720436"/>
            <a:ext cx="10058400" cy="2173039"/>
          </a:xfrm>
        </p:spPr>
        <p:txBody>
          <a:bodyPr>
            <a:normAutofit/>
          </a:bodyPr>
          <a:lstStyle/>
          <a:p>
            <a:r>
              <a:rPr lang="en-US" sz="4800" dirty="0">
                <a:latin typeface="Times New Roman" panose="02020603050405020304" pitchFamily="18" charset="0"/>
                <a:cs typeface="Times New Roman" panose="02020603050405020304" pitchFamily="18" charset="0"/>
              </a:rPr>
              <a:t>Do Fast-Food Chains Price Discriminate on the Race and Income Characteristics of an Area?</a:t>
            </a:r>
          </a:p>
        </p:txBody>
      </p:sp>
      <p:sp>
        <p:nvSpPr>
          <p:cNvPr id="3" name="Subtitle 2">
            <a:extLst>
              <a:ext uri="{FF2B5EF4-FFF2-40B4-BE49-F238E27FC236}">
                <a16:creationId xmlns:a16="http://schemas.microsoft.com/office/drawing/2014/main" id="{FA4482A6-2C5C-24EC-7B6E-92AE2224C5CF}"/>
              </a:ext>
            </a:extLst>
          </p:cNvPr>
          <p:cNvSpPr>
            <a:spLocks noGrp="1"/>
          </p:cNvSpPr>
          <p:nvPr>
            <p:ph type="subTitle" idx="1"/>
          </p:nvPr>
        </p:nvSpPr>
        <p:spPr>
          <a:xfrm>
            <a:off x="819727" y="3070166"/>
            <a:ext cx="10552545" cy="1143000"/>
          </a:xfrm>
        </p:spPr>
        <p:txBody>
          <a:bodyPr>
            <a:normAutofit/>
          </a:bodyPr>
          <a:lstStyle/>
          <a:p>
            <a:r>
              <a:rPr lang="en-US" sz="3600" dirty="0">
                <a:latin typeface="Times New Roman" panose="02020603050405020304" pitchFamily="18" charset="0"/>
                <a:cs typeface="Times New Roman" panose="02020603050405020304" pitchFamily="18" charset="0"/>
              </a:rPr>
              <a:t>  Final Presentation: Econometrics I</a:t>
            </a:r>
          </a:p>
        </p:txBody>
      </p:sp>
      <p:sp>
        <p:nvSpPr>
          <p:cNvPr id="4" name="TextBox 3">
            <a:extLst>
              <a:ext uri="{FF2B5EF4-FFF2-40B4-BE49-F238E27FC236}">
                <a16:creationId xmlns:a16="http://schemas.microsoft.com/office/drawing/2014/main" id="{34F63162-55FD-6823-0EC1-B984F28F9F07}"/>
              </a:ext>
            </a:extLst>
          </p:cNvPr>
          <p:cNvSpPr txBox="1"/>
          <p:nvPr/>
        </p:nvSpPr>
        <p:spPr>
          <a:xfrm>
            <a:off x="6391564" y="4389857"/>
            <a:ext cx="5366327" cy="1938992"/>
          </a:xfrm>
          <a:prstGeom prst="rect">
            <a:avLst/>
          </a:prstGeom>
          <a:noFill/>
        </p:spPr>
        <p:txBody>
          <a:bodyPr wrap="square" rtlCol="0">
            <a:spAutoFit/>
          </a:bodyPr>
          <a:lstStyle/>
          <a:p>
            <a:pPr algn="r"/>
            <a:r>
              <a:rPr lang="en-US" sz="2000" dirty="0"/>
              <a:t>Presented By: </a:t>
            </a:r>
          </a:p>
          <a:p>
            <a:pPr algn="r"/>
            <a:r>
              <a:rPr lang="en-US" sz="2000" dirty="0" err="1"/>
              <a:t>Jehanzeb</a:t>
            </a:r>
            <a:r>
              <a:rPr lang="en-US" sz="2000" dirty="0"/>
              <a:t> Shahzad</a:t>
            </a:r>
          </a:p>
          <a:p>
            <a:pPr algn="r"/>
            <a:r>
              <a:rPr lang="en-US" sz="2000" dirty="0"/>
              <a:t>Abdul Rehman Shoukat</a:t>
            </a:r>
          </a:p>
          <a:p>
            <a:pPr algn="r"/>
            <a:r>
              <a:rPr lang="en-US" sz="2000" dirty="0"/>
              <a:t>Zain Khan</a:t>
            </a:r>
          </a:p>
          <a:p>
            <a:pPr algn="r"/>
            <a:r>
              <a:rPr lang="en-US" sz="2000" dirty="0"/>
              <a:t>Mirza Kashif</a:t>
            </a:r>
          </a:p>
          <a:p>
            <a:pPr algn="r"/>
            <a:r>
              <a:rPr lang="en-US" sz="2000" dirty="0"/>
              <a:t>Muhammad Usman</a:t>
            </a:r>
          </a:p>
        </p:txBody>
      </p:sp>
    </p:spTree>
    <p:extLst>
      <p:ext uri="{BB962C8B-B14F-4D97-AF65-F5344CB8AC3E}">
        <p14:creationId xmlns:p14="http://schemas.microsoft.com/office/powerpoint/2010/main" val="1822609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1F41-F4CE-5372-B5D5-4FACF7AC0F2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9A40B31-D2DB-7C4E-4B7E-A64FB5FFA5EA}"/>
              </a:ext>
            </a:extLst>
          </p:cNvPr>
          <p:cNvSpPr>
            <a:spLocks noGrp="1"/>
          </p:cNvSpPr>
          <p:nvPr>
            <p:ph idx="1"/>
          </p:nvPr>
        </p:nvSpPr>
        <p:spPr/>
        <p:txBody>
          <a:bodyPr/>
          <a:lstStyle/>
          <a:p>
            <a:pPr>
              <a:lnSpc>
                <a:spcPct val="150000"/>
              </a:lnSpc>
            </a:pPr>
            <a:r>
              <a:rPr lang="en-US" dirty="0"/>
              <a:t>This article reports tests for differences in prices charged by fast-food restaurants that serve markets with customers of widely divergent incomes and ethnic backgrounds.</a:t>
            </a:r>
          </a:p>
          <a:p>
            <a:pPr>
              <a:lnSpc>
                <a:spcPct val="150000"/>
              </a:lnSpc>
            </a:pPr>
            <a:r>
              <a:rPr lang="en-US" dirty="0"/>
              <a:t>Do Fast-Food Chains Prices Discriminate on the Race and Income Characteristics of an Area? </a:t>
            </a:r>
          </a:p>
          <a:p>
            <a:pPr marL="0" indent="0">
              <a:buNone/>
            </a:pPr>
            <a:endParaRPr lang="en-US" dirty="0"/>
          </a:p>
          <a:p>
            <a:endParaRPr lang="en-US" dirty="0"/>
          </a:p>
        </p:txBody>
      </p:sp>
      <p:pic>
        <p:nvPicPr>
          <p:cNvPr id="10" name="Picture 9">
            <a:extLst>
              <a:ext uri="{FF2B5EF4-FFF2-40B4-BE49-F238E27FC236}">
                <a16:creationId xmlns:a16="http://schemas.microsoft.com/office/drawing/2014/main" id="{906DDF2B-ADF0-F516-8D10-BD8426C100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9088" y="4282904"/>
            <a:ext cx="4417441" cy="542213"/>
          </a:xfrm>
          <a:prstGeom prst="rect">
            <a:avLst/>
          </a:prstGeom>
        </p:spPr>
      </p:pic>
      <p:pic>
        <p:nvPicPr>
          <p:cNvPr id="11" name="Picture 10">
            <a:extLst>
              <a:ext uri="{FF2B5EF4-FFF2-40B4-BE49-F238E27FC236}">
                <a16:creationId xmlns:a16="http://schemas.microsoft.com/office/drawing/2014/main" id="{7407B9C2-9AE6-4F20-31D4-9F08BD7548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4592" y="4825117"/>
            <a:ext cx="5006435" cy="542213"/>
          </a:xfrm>
          <a:prstGeom prst="rect">
            <a:avLst/>
          </a:prstGeom>
        </p:spPr>
      </p:pic>
      <p:pic>
        <p:nvPicPr>
          <p:cNvPr id="12" name="Picture 11">
            <a:extLst>
              <a:ext uri="{FF2B5EF4-FFF2-40B4-BE49-F238E27FC236}">
                <a16:creationId xmlns:a16="http://schemas.microsoft.com/office/drawing/2014/main" id="{B69476C1-E465-ED9D-CE05-42CC0FF87A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85000" y="5367330"/>
            <a:ext cx="6565615" cy="635382"/>
          </a:xfrm>
          <a:prstGeom prst="rect">
            <a:avLst/>
          </a:prstGeom>
        </p:spPr>
      </p:pic>
    </p:spTree>
    <p:extLst>
      <p:ext uri="{BB962C8B-B14F-4D97-AF65-F5344CB8AC3E}">
        <p14:creationId xmlns:p14="http://schemas.microsoft.com/office/powerpoint/2010/main" val="2924059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5A090-17FB-E474-042D-E69BC6EA483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 and Descriptive Statistics</a:t>
            </a:r>
          </a:p>
        </p:txBody>
      </p:sp>
      <p:sp>
        <p:nvSpPr>
          <p:cNvPr id="3" name="Content Placeholder 2">
            <a:extLst>
              <a:ext uri="{FF2B5EF4-FFF2-40B4-BE49-F238E27FC236}">
                <a16:creationId xmlns:a16="http://schemas.microsoft.com/office/drawing/2014/main" id="{1AE34A01-2967-C6A1-C7C8-65B9AE11EC89}"/>
              </a:ext>
            </a:extLst>
          </p:cNvPr>
          <p:cNvSpPr>
            <a:spLocks noGrp="1"/>
          </p:cNvSpPr>
          <p:nvPr>
            <p:ph idx="1"/>
          </p:nvPr>
        </p:nvSpPr>
        <p:spPr/>
        <p:txBody>
          <a:bodyPr/>
          <a:lstStyle/>
          <a:p>
            <a:pPr>
              <a:lnSpc>
                <a:spcPct val="150000"/>
              </a:lnSpc>
            </a:pPr>
            <a:r>
              <a:rPr lang="en-US" dirty="0"/>
              <a:t>Data on individual fast-food restaurants were gathered in a study by Card and Krueger (1994) that investigated the effect of a minimum-wage change in New Jersey on employment in the fast-food industry.</a:t>
            </a:r>
          </a:p>
          <a:p>
            <a:pPr>
              <a:lnSpc>
                <a:spcPct val="150000"/>
              </a:lnSpc>
            </a:pPr>
            <a:r>
              <a:rPr lang="en-US" dirty="0"/>
              <a:t>In their study, Card and Krueger attempted to contact all Burger King, KFC, Wendy's, and Roy Rogers restaurants that were listed in all of New Jersey and eastern Pennsylvania.</a:t>
            </a:r>
          </a:p>
          <a:p>
            <a:pPr>
              <a:lnSpc>
                <a:spcPct val="150000"/>
              </a:lnSpc>
            </a:pPr>
            <a:r>
              <a:rPr lang="en-US" dirty="0"/>
              <a:t>The total number of observations/samples was 410.</a:t>
            </a:r>
          </a:p>
        </p:txBody>
      </p:sp>
    </p:spTree>
    <p:extLst>
      <p:ext uri="{BB962C8B-B14F-4D97-AF65-F5344CB8AC3E}">
        <p14:creationId xmlns:p14="http://schemas.microsoft.com/office/powerpoint/2010/main" val="1456447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9F0C-3167-D847-4D51-548815D117D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 and Descriptive Statistics (cont.)</a:t>
            </a:r>
          </a:p>
        </p:txBody>
      </p:sp>
      <p:sp>
        <p:nvSpPr>
          <p:cNvPr id="3" name="Content Placeholder 2">
            <a:extLst>
              <a:ext uri="{FF2B5EF4-FFF2-40B4-BE49-F238E27FC236}">
                <a16:creationId xmlns:a16="http://schemas.microsoft.com/office/drawing/2014/main" id="{311DAA21-765F-52CF-B6C9-CED61F2E435B}"/>
              </a:ext>
            </a:extLst>
          </p:cNvPr>
          <p:cNvSpPr>
            <a:spLocks noGrp="1"/>
          </p:cNvSpPr>
          <p:nvPr>
            <p:ph idx="1"/>
          </p:nvPr>
        </p:nvSpPr>
        <p:spPr/>
        <p:txBody>
          <a:bodyPr/>
          <a:lstStyle/>
          <a:p>
            <a:pPr>
              <a:lnSpc>
                <a:spcPct val="150000"/>
              </a:lnSpc>
            </a:pPr>
            <a:r>
              <a:rPr lang="en-US" dirty="0"/>
              <a:t>Obtained a complete set of price data for 387 stores in the first phase of the survey and for 376 stores in the second phase of the survey.</a:t>
            </a:r>
          </a:p>
          <a:p>
            <a:pPr>
              <a:lnSpc>
                <a:spcPct val="150000"/>
              </a:lnSpc>
            </a:pPr>
            <a:r>
              <a:rPr lang="en-US" dirty="0"/>
              <a:t>The survey contained questions on a variety of store characteristics, including the number of employees, wages, and ownership status.</a:t>
            </a:r>
          </a:p>
          <a:p>
            <a:pPr>
              <a:lnSpc>
                <a:spcPct val="150000"/>
              </a:lnSpc>
            </a:pPr>
            <a:r>
              <a:rPr lang="en-US" dirty="0"/>
              <a:t>Also, zip-codes were used as the original price data with census data by zip-code region which is relevant for the density and crime-rate statistics. </a:t>
            </a:r>
          </a:p>
          <a:p>
            <a:pPr>
              <a:lnSpc>
                <a:spcPct val="150000"/>
              </a:lnSpc>
            </a:pPr>
            <a:endParaRPr lang="en-US" dirty="0"/>
          </a:p>
          <a:p>
            <a:pPr>
              <a:lnSpc>
                <a:spcPct val="150000"/>
              </a:lnSpc>
            </a:pPr>
            <a:endParaRPr lang="en-US" dirty="0"/>
          </a:p>
        </p:txBody>
      </p:sp>
    </p:spTree>
    <p:extLst>
      <p:ext uri="{BB962C8B-B14F-4D97-AF65-F5344CB8AC3E}">
        <p14:creationId xmlns:p14="http://schemas.microsoft.com/office/powerpoint/2010/main" val="2713525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944" y="148058"/>
            <a:ext cx="10058400" cy="1450757"/>
          </a:xfrm>
        </p:spPr>
        <p:txBody>
          <a:bodyPr/>
          <a:lstStyle/>
          <a:p>
            <a:r>
              <a:rPr lang="en-US" dirty="0">
                <a:latin typeface="Times New Roman" panose="02020603050405020304" pitchFamily="18" charset="0"/>
                <a:cs typeface="Times New Roman" panose="02020603050405020304" pitchFamily="18" charset="0"/>
              </a:rPr>
              <a:t>Regression Equation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2635" y="1737360"/>
            <a:ext cx="8332084" cy="1003085"/>
          </a:xfrm>
        </p:spPr>
      </p:pic>
      <p:sp>
        <p:nvSpPr>
          <p:cNvPr id="6" name="TextBox 5"/>
          <p:cNvSpPr txBox="1"/>
          <p:nvPr/>
        </p:nvSpPr>
        <p:spPr>
          <a:xfrm>
            <a:off x="652635" y="2740445"/>
            <a:ext cx="10419019" cy="23529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Piz is the price of an item in store </a:t>
            </a:r>
            <a:r>
              <a:rPr lang="en-US" sz="2000" dirty="0" err="1"/>
              <a:t>i</a:t>
            </a:r>
            <a:r>
              <a:rPr lang="en-US" sz="2000" dirty="0"/>
              <a:t> in zip code z</a:t>
            </a:r>
          </a:p>
          <a:p>
            <a:pPr marL="285750" indent="-285750">
              <a:lnSpc>
                <a:spcPct val="150000"/>
              </a:lnSpc>
              <a:buFont typeface="Arial" panose="020B0604020202020204" pitchFamily="34" charset="0"/>
              <a:buChar char="•"/>
            </a:pPr>
            <a:r>
              <a:rPr lang="en-US" sz="2000" dirty="0" err="1"/>
              <a:t>Rz</a:t>
            </a:r>
            <a:r>
              <a:rPr lang="en-US" sz="2000" dirty="0"/>
              <a:t> is a vector of variables representing the race and </a:t>
            </a:r>
            <a:r>
              <a:rPr lang="en-US" sz="2000" dirty="0" err="1"/>
              <a:t>income</a:t>
            </a:r>
            <a:r>
              <a:rPr lang="en-US" sz="2000" dirty="0"/>
              <a:t> characteristics of zip code z</a:t>
            </a:r>
          </a:p>
          <a:p>
            <a:pPr marL="285750" indent="-285750">
              <a:lnSpc>
                <a:spcPct val="150000"/>
              </a:lnSpc>
              <a:buFont typeface="Arial" panose="020B0604020202020204" pitchFamily="34" charset="0"/>
              <a:buChar char="•"/>
            </a:pPr>
            <a:r>
              <a:rPr lang="en-US" sz="2000" dirty="0" err="1"/>
              <a:t>COMPiz</a:t>
            </a:r>
            <a:r>
              <a:rPr lang="en-US" sz="2000" dirty="0"/>
              <a:t> is a vector of variables controlling the competition faced by store </a:t>
            </a:r>
            <a:r>
              <a:rPr lang="en-US" sz="2000" dirty="0" err="1"/>
              <a:t>i</a:t>
            </a:r>
            <a:r>
              <a:rPr lang="en-US" sz="2000" dirty="0"/>
              <a:t> in zip code z,</a:t>
            </a:r>
          </a:p>
          <a:p>
            <a:pPr marL="285750" indent="-285750">
              <a:lnSpc>
                <a:spcPct val="150000"/>
              </a:lnSpc>
              <a:buFont typeface="Arial" panose="020B0604020202020204" pitchFamily="34" charset="0"/>
              <a:buChar char="•"/>
            </a:pPr>
            <a:r>
              <a:rPr lang="en-US" sz="2000" dirty="0" err="1"/>
              <a:t>MCiz</a:t>
            </a:r>
            <a:r>
              <a:rPr lang="en-US" sz="2000" dirty="0"/>
              <a:t> is a vector of variables related to the marginal cost of operation of store </a:t>
            </a:r>
            <a:r>
              <a:rPr lang="en-US" sz="2000" dirty="0" err="1"/>
              <a:t>i</a:t>
            </a:r>
            <a:r>
              <a:rPr lang="en-US" sz="2000" dirty="0"/>
              <a:t> in zip code z</a:t>
            </a:r>
          </a:p>
          <a:p>
            <a:pPr marL="285750" indent="-285750">
              <a:lnSpc>
                <a:spcPct val="150000"/>
              </a:lnSpc>
              <a:buFont typeface="Arial" panose="020B0604020202020204" pitchFamily="34" charset="0"/>
              <a:buChar char="•"/>
            </a:pPr>
            <a:r>
              <a:rPr lang="en-US" sz="2000" dirty="0"/>
              <a:t>€ is the error term</a:t>
            </a:r>
          </a:p>
        </p:txBody>
      </p:sp>
    </p:spTree>
    <p:extLst>
      <p:ext uri="{BB962C8B-B14F-4D97-AF65-F5344CB8AC3E}">
        <p14:creationId xmlns:p14="http://schemas.microsoft.com/office/powerpoint/2010/main" val="740676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Distributions of fast food stores</a:t>
            </a:r>
          </a:p>
        </p:txBody>
      </p:sp>
      <p:sp>
        <p:nvSpPr>
          <p:cNvPr id="3" name="Content Placeholder 2"/>
          <p:cNvSpPr>
            <a:spLocks noGrp="1"/>
          </p:cNvSpPr>
          <p:nvPr>
            <p:ph sz="half" idx="1"/>
          </p:nvPr>
        </p:nvSpPr>
        <p:spPr>
          <a:xfrm>
            <a:off x="655782" y="1845945"/>
            <a:ext cx="5316134" cy="4023360"/>
          </a:xfrm>
        </p:spPr>
        <p:txBody>
          <a:bodyPr>
            <a:normAutofit/>
          </a:bodyPr>
          <a:lstStyle/>
          <a:p>
            <a:r>
              <a:rPr lang="en-US" dirty="0"/>
              <a:t>The table presents the percentage of stores located in areas with different race and income compositions</a:t>
            </a:r>
          </a:p>
          <a:p>
            <a:r>
              <a:rPr lang="en-US" dirty="0"/>
              <a:t>Prop Black = Black people/everyone</a:t>
            </a:r>
          </a:p>
          <a:p>
            <a:r>
              <a:rPr lang="en-US" dirty="0"/>
              <a:t>Proportion below poverty: pop below poverty/ Pop for which poverty is determined</a:t>
            </a:r>
          </a:p>
          <a:p>
            <a:r>
              <a:rPr lang="en-US" dirty="0"/>
              <a:t>Cut off points of 20% and 10% are arbitrary </a:t>
            </a:r>
          </a:p>
          <a:p>
            <a:r>
              <a:rPr lang="en-US" dirty="0"/>
              <a:t>Average percentage of black people across a zip code is 11.4%</a:t>
            </a:r>
          </a:p>
          <a:p>
            <a:r>
              <a:rPr lang="en-US" dirty="0"/>
              <a:t>Average percentage of poor people across a zip code is 7%</a:t>
            </a:r>
          </a:p>
          <a:p>
            <a:pPr marL="0" indent="0">
              <a:buNone/>
            </a:pPr>
            <a:endParaRPr lang="en-US"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18238" y="2864745"/>
            <a:ext cx="4937125" cy="1985760"/>
          </a:xfrm>
        </p:spPr>
      </p:pic>
    </p:spTree>
    <p:extLst>
      <p:ext uri="{BB962C8B-B14F-4D97-AF65-F5344CB8AC3E}">
        <p14:creationId xmlns:p14="http://schemas.microsoft.com/office/powerpoint/2010/main" val="3473617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Variables</a:t>
            </a:r>
          </a:p>
        </p:txBody>
      </p:sp>
      <p:sp>
        <p:nvSpPr>
          <p:cNvPr id="3" name="Content Placeholder 2"/>
          <p:cNvSpPr>
            <a:spLocks noGrp="1"/>
          </p:cNvSpPr>
          <p:nvPr>
            <p:ph sz="half" idx="1"/>
          </p:nvPr>
        </p:nvSpPr>
        <p:spPr/>
        <p:txBody>
          <a:bodyPr>
            <a:normAutofit lnSpcReduction="10000"/>
          </a:bodyPr>
          <a:lstStyle/>
          <a:p>
            <a:r>
              <a:rPr lang="en-US" dirty="0"/>
              <a:t>The entree, soda, and fry prices are summed to determine the meal price</a:t>
            </a:r>
          </a:p>
          <a:p>
            <a:r>
              <a:rPr lang="en-US" dirty="0"/>
              <a:t>1 unit change in independent variable will bring about a b1*100% change in dependent variable (log-level)</a:t>
            </a:r>
          </a:p>
          <a:p>
            <a:r>
              <a:rPr lang="en-US" dirty="0"/>
              <a:t>if we change x by one percent, </a:t>
            </a:r>
            <a:br>
              <a:rPr lang="en-US" dirty="0"/>
            </a:br>
            <a:r>
              <a:rPr lang="en-US" dirty="0"/>
              <a:t>we’d expect y to change by β1 percent (log-log)</a:t>
            </a:r>
          </a:p>
          <a:p>
            <a:r>
              <a:rPr lang="en-US" dirty="0"/>
              <a:t>R*100% variation in Y is explained by the model.</a:t>
            </a:r>
          </a:p>
          <a:p>
            <a:r>
              <a:rPr lang="en-US" dirty="0"/>
              <a:t>Problem: restaurants of the same chain may have supplied prices for different types of items</a:t>
            </a:r>
          </a:p>
        </p:txBody>
      </p:sp>
      <p:pic>
        <p:nvPicPr>
          <p:cNvPr id="6" name="Content Placeholder 5"/>
          <p:cNvPicPr>
            <a:picLocks noGrp="1" noChangeAspect="1"/>
          </p:cNvPicPr>
          <p:nvPr>
            <p:ph sz="half" idx="2"/>
          </p:nvPr>
        </p:nvPicPr>
        <p:blipFill>
          <a:blip r:embed="rId2"/>
          <a:stretch>
            <a:fillRect/>
          </a:stretch>
        </p:blipFill>
        <p:spPr>
          <a:xfrm>
            <a:off x="6424472" y="1846263"/>
            <a:ext cx="4524656" cy="4022725"/>
          </a:xfrm>
          <a:prstGeom prst="rect">
            <a:avLst/>
          </a:prstGeom>
        </p:spPr>
      </p:pic>
    </p:spTree>
    <p:extLst>
      <p:ext uri="{BB962C8B-B14F-4D97-AF65-F5344CB8AC3E}">
        <p14:creationId xmlns:p14="http://schemas.microsoft.com/office/powerpoint/2010/main" val="2955642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Isolating Commodities </a:t>
            </a:r>
          </a:p>
        </p:txBody>
      </p:sp>
      <p:pic>
        <p:nvPicPr>
          <p:cNvPr id="5" name="Content Placeholder 4"/>
          <p:cNvPicPr>
            <a:picLocks noGrp="1" noChangeAspect="1"/>
          </p:cNvPicPr>
          <p:nvPr>
            <p:ph sz="half" idx="1"/>
          </p:nvPr>
        </p:nvPicPr>
        <p:blipFill>
          <a:blip r:embed="rId2"/>
          <a:stretch>
            <a:fillRect/>
          </a:stretch>
        </p:blipFill>
        <p:spPr>
          <a:xfrm>
            <a:off x="1227525" y="1846263"/>
            <a:ext cx="4677587" cy="4022725"/>
          </a:xfrm>
          <a:prstGeom prst="rect">
            <a:avLst/>
          </a:prstGeom>
        </p:spPr>
      </p:pic>
      <p:pic>
        <p:nvPicPr>
          <p:cNvPr id="6" name="Content Placeholder 5"/>
          <p:cNvPicPr>
            <a:picLocks noGrp="1" noChangeAspect="1"/>
          </p:cNvPicPr>
          <p:nvPr>
            <p:ph sz="half" idx="2"/>
          </p:nvPr>
        </p:nvPicPr>
        <p:blipFill>
          <a:blip r:embed="rId3"/>
          <a:stretch>
            <a:fillRect/>
          </a:stretch>
        </p:blipFill>
        <p:spPr>
          <a:xfrm>
            <a:off x="6415441" y="1846263"/>
            <a:ext cx="4542718" cy="4022725"/>
          </a:xfrm>
          <a:prstGeom prst="rect">
            <a:avLst/>
          </a:prstGeom>
        </p:spPr>
      </p:pic>
    </p:spTree>
    <p:extLst>
      <p:ext uri="{BB962C8B-B14F-4D97-AF65-F5344CB8AC3E}">
        <p14:creationId xmlns:p14="http://schemas.microsoft.com/office/powerpoint/2010/main" val="4034428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Reasons why prices differ in black areas</a:t>
            </a:r>
          </a:p>
        </p:txBody>
      </p:sp>
      <p:sp>
        <p:nvSpPr>
          <p:cNvPr id="3" name="Content Placeholder 2"/>
          <p:cNvSpPr>
            <a:spLocks noGrp="1"/>
          </p:cNvSpPr>
          <p:nvPr>
            <p:ph idx="1"/>
          </p:nvPr>
        </p:nvSpPr>
        <p:spPr/>
        <p:txBody>
          <a:bodyPr>
            <a:normAutofit fontScale="85000" lnSpcReduction="20000"/>
          </a:bodyPr>
          <a:lstStyle/>
          <a:p>
            <a:pPr>
              <a:lnSpc>
                <a:spcPct val="150000"/>
              </a:lnSpc>
            </a:pPr>
            <a:r>
              <a:rPr lang="en-US" dirty="0"/>
              <a:t>According to the data, prices in black areas are higher regardless of income or cost controls</a:t>
            </a:r>
          </a:p>
          <a:p>
            <a:pPr>
              <a:lnSpc>
                <a:spcPct val="150000"/>
              </a:lnSpc>
            </a:pPr>
            <a:r>
              <a:rPr lang="en-US" dirty="0"/>
              <a:t>prices rise about 5% for a 50% increase in the black population, even after controlling for differences in cost and competition</a:t>
            </a:r>
          </a:p>
          <a:p>
            <a:pPr>
              <a:lnSpc>
                <a:spcPct val="150000"/>
              </a:lnSpc>
            </a:pPr>
            <a:r>
              <a:rPr lang="en-US" dirty="0"/>
              <a:t>Cost Explanation: differences in prices are arising because of unmeasured cost differences that are correlated with the proportion-black variable (crime rate – insurance costs are high &amp; less branches in black vicinity by owners so less economies of scale and less price reductions)</a:t>
            </a:r>
          </a:p>
          <a:p>
            <a:pPr>
              <a:lnSpc>
                <a:spcPct val="150000"/>
              </a:lnSpc>
            </a:pPr>
            <a:r>
              <a:rPr lang="en-US" dirty="0"/>
              <a:t>Imperfect Competition: Differences in demand elasticities – Female labor participation – working mothers are less sensitive to price</a:t>
            </a:r>
          </a:p>
          <a:p>
            <a:pPr>
              <a:lnSpc>
                <a:spcPct val="150000"/>
              </a:lnSpc>
            </a:pPr>
            <a:r>
              <a:rPr lang="en-US" dirty="0"/>
              <a:t>Discrimination: white workers/ customer are prejudiced against black workers Young (1994)</a:t>
            </a:r>
          </a:p>
          <a:p>
            <a:pPr>
              <a:lnSpc>
                <a:spcPct val="150000"/>
              </a:lnSpc>
            </a:pPr>
            <a:endParaRPr lang="en-US" dirty="0"/>
          </a:p>
        </p:txBody>
      </p:sp>
    </p:spTree>
    <p:extLst>
      <p:ext uri="{BB962C8B-B14F-4D97-AF65-F5344CB8AC3E}">
        <p14:creationId xmlns:p14="http://schemas.microsoft.com/office/powerpoint/2010/main" val="1417053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0AA1A-B561-09C6-014A-84BF424A481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902D54-0F14-F32D-BEEA-FB91C62C88D4}"/>
              </a:ext>
            </a:extLst>
          </p:cNvPr>
          <p:cNvSpPr>
            <a:spLocks noGrp="1"/>
          </p:cNvSpPr>
          <p:nvPr>
            <p:ph idx="1"/>
          </p:nvPr>
        </p:nvSpPr>
        <p:spPr/>
        <p:txBody>
          <a:bodyPr/>
          <a:lstStyle/>
          <a:p>
            <a:pPr>
              <a:lnSpc>
                <a:spcPct val="150000"/>
              </a:lnSpc>
            </a:pPr>
            <a:r>
              <a:rPr lang="en-US" dirty="0"/>
              <a:t>The results indicate that fast food restaurants charge more in  neighborhoods occupied by the Black community.</a:t>
            </a:r>
          </a:p>
          <a:p>
            <a:pPr>
              <a:lnSpc>
                <a:spcPct val="150000"/>
              </a:lnSpc>
            </a:pPr>
            <a:r>
              <a:rPr lang="en-US" dirty="0"/>
              <a:t>For every 50% increase in the population of blacks in a area price are increased by 5%.</a:t>
            </a:r>
          </a:p>
          <a:p>
            <a:pPr lvl="1">
              <a:lnSpc>
                <a:spcPct val="150000"/>
              </a:lnSpc>
            </a:pPr>
            <a:endParaRPr lang="en-US" dirty="0"/>
          </a:p>
          <a:p>
            <a:pPr lvl="1">
              <a:lnSpc>
                <a:spcPct val="150000"/>
              </a:lnSpc>
            </a:pPr>
            <a:r>
              <a:rPr lang="en-US" dirty="0"/>
              <a:t>The difference might be due to unmeasured costs in the area populated by the Black community.</a:t>
            </a:r>
            <a:endParaRPr lang="en-PK" dirty="0"/>
          </a:p>
        </p:txBody>
      </p:sp>
    </p:spTree>
    <p:extLst>
      <p:ext uri="{BB962C8B-B14F-4D97-AF65-F5344CB8AC3E}">
        <p14:creationId xmlns:p14="http://schemas.microsoft.com/office/powerpoint/2010/main" val="536147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994BD-671A-1A64-93F1-5D5584DAF24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Relevance to Developing Countries</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C4784F-937B-1781-D7CC-2C6918F2CBB0}"/>
              </a:ext>
            </a:extLst>
          </p:cNvPr>
          <p:cNvSpPr>
            <a:spLocks noGrp="1"/>
          </p:cNvSpPr>
          <p:nvPr>
            <p:ph idx="1"/>
          </p:nvPr>
        </p:nvSpPr>
        <p:spPr>
          <a:xfrm>
            <a:off x="838201" y="1825625"/>
            <a:ext cx="5819274" cy="4351338"/>
          </a:xfrm>
        </p:spPr>
        <p:txBody>
          <a:bodyPr/>
          <a:lstStyle/>
          <a:p>
            <a:pPr>
              <a:lnSpc>
                <a:spcPct val="150000"/>
              </a:lnSpc>
            </a:pPr>
            <a:r>
              <a:rPr lang="en-US" dirty="0"/>
              <a:t>Prices are relatively higher in Developed Countries.</a:t>
            </a:r>
          </a:p>
          <a:p>
            <a:pPr>
              <a:lnSpc>
                <a:spcPct val="150000"/>
              </a:lnSpc>
            </a:pPr>
            <a:r>
              <a:rPr lang="en-US" dirty="0"/>
              <a:t>Prices are almost same in Developing Countries.</a:t>
            </a:r>
          </a:p>
          <a:p>
            <a:pPr>
              <a:lnSpc>
                <a:spcPct val="150000"/>
              </a:lnSpc>
            </a:pPr>
            <a:r>
              <a:rPr lang="en-US" dirty="0"/>
              <a:t>Price discrimination across race in Pakistan is not there, might be due to less diversity.</a:t>
            </a:r>
          </a:p>
          <a:p>
            <a:pPr>
              <a:lnSpc>
                <a:spcPct val="150000"/>
              </a:lnSpc>
            </a:pPr>
            <a:endParaRPr lang="en-US" dirty="0"/>
          </a:p>
          <a:p>
            <a:pPr>
              <a:lnSpc>
                <a:spcPct val="150000"/>
              </a:lnSpc>
            </a:pPr>
            <a:endParaRPr lang="en-US" dirty="0"/>
          </a:p>
        </p:txBody>
      </p:sp>
      <p:pic>
        <p:nvPicPr>
          <p:cNvPr id="7" name="Picture 6">
            <a:extLst>
              <a:ext uri="{FF2B5EF4-FFF2-40B4-BE49-F238E27FC236}">
                <a16:creationId xmlns:a16="http://schemas.microsoft.com/office/drawing/2014/main" id="{1B26AB8E-5815-B1EA-7E10-319B319920B7}"/>
              </a:ext>
            </a:extLst>
          </p:cNvPr>
          <p:cNvPicPr>
            <a:picLocks noChangeAspect="1"/>
          </p:cNvPicPr>
          <p:nvPr/>
        </p:nvPicPr>
        <p:blipFill>
          <a:blip r:embed="rId2"/>
          <a:stretch>
            <a:fillRect/>
          </a:stretch>
        </p:blipFill>
        <p:spPr>
          <a:xfrm>
            <a:off x="7361868" y="1930275"/>
            <a:ext cx="4411579" cy="4142038"/>
          </a:xfrm>
          <a:prstGeom prst="rect">
            <a:avLst/>
          </a:prstGeom>
        </p:spPr>
      </p:pic>
    </p:spTree>
    <p:extLst>
      <p:ext uri="{BB962C8B-B14F-4D97-AF65-F5344CB8AC3E}">
        <p14:creationId xmlns:p14="http://schemas.microsoft.com/office/powerpoint/2010/main" val="149381426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146</TotalTime>
  <Words>866</Words>
  <Application>Microsoft Office PowerPoint</Application>
  <PresentationFormat>Widescreen</PresentationFormat>
  <Paragraphs>60</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Retrospect</vt:lpstr>
      <vt:lpstr>Do Fast-Food Chains Price Discriminate on the Race and Income Characteristics of an Area?</vt:lpstr>
      <vt:lpstr>Introduction</vt:lpstr>
      <vt:lpstr>Methodology and Descriptive Statistics</vt:lpstr>
      <vt:lpstr>Methodology and Descriptive Statistics (cont.)</vt:lpstr>
      <vt:lpstr>Regression Equation</vt:lpstr>
      <vt:lpstr>Distributions of fast food stores</vt:lpstr>
      <vt:lpstr>Variables</vt:lpstr>
      <vt:lpstr>Isolating Commodities </vt:lpstr>
      <vt:lpstr>Reasons why prices differ in black areas</vt:lpstr>
      <vt:lpstr>Conclusion</vt:lpstr>
      <vt:lpstr>Relevance to Developing Countries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Unknown User</cp:lastModifiedBy>
  <cp:revision>26</cp:revision>
  <dcterms:created xsi:type="dcterms:W3CDTF">2022-05-08T16:15:59Z</dcterms:created>
  <dcterms:modified xsi:type="dcterms:W3CDTF">2022-05-09T03:10:07Z</dcterms:modified>
</cp:coreProperties>
</file>