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64" r:id="rId2"/>
    <p:sldId id="257" r:id="rId3"/>
    <p:sldId id="258" r:id="rId4"/>
    <p:sldId id="259" r:id="rId5"/>
    <p:sldId id="260" r:id="rId6"/>
    <p:sldId id="256" r:id="rId7"/>
    <p:sldId id="261" r:id="rId8"/>
    <p:sldId id="262" r:id="rId9"/>
    <p:sldId id="263"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292" autoAdjust="0"/>
  </p:normalViewPr>
  <p:slideViewPr>
    <p:cSldViewPr snapToGrid="0">
      <p:cViewPr varScale="1">
        <p:scale>
          <a:sx n="48" d="100"/>
          <a:sy n="48" d="100"/>
        </p:scale>
        <p:origin x="53" y="7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B4D686-A7F0-461B-8C5F-166A9D82CEF1}" type="datetimeFigureOut">
              <a:rPr lang="en-AE" smtClean="0"/>
              <a:t>08/05/2022</a:t>
            </a:fld>
            <a:endParaRPr lang="en-A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5421AF-73C6-418B-ACAE-39DFCE8BD09A}" type="slidenum">
              <a:rPr lang="en-AE" smtClean="0"/>
              <a:t>‹#›</a:t>
            </a:fld>
            <a:endParaRPr lang="en-AE"/>
          </a:p>
        </p:txBody>
      </p:sp>
    </p:spTree>
    <p:extLst>
      <p:ext uri="{BB962C8B-B14F-4D97-AF65-F5344CB8AC3E}">
        <p14:creationId xmlns:p14="http://schemas.microsoft.com/office/powerpoint/2010/main" val="18097761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E" sz="1800" dirty="0">
                <a:effectLst/>
                <a:latin typeface="Calibri" panose="020F0502020204030204" pitchFamily="34" charset="0"/>
                <a:ea typeface="Calibri" panose="020F0502020204030204" pitchFamily="34" charset="0"/>
                <a:cs typeface="Times New Roman" panose="02020603050405020304" pitchFamily="18" charset="0"/>
              </a:rPr>
              <a:t>Despite the immense importance of understating how behaviour spreads through social network, it has not been possible to conduct an empirical test to these predictions since it requires to independently vary the network structure of a social network. </a:t>
            </a:r>
            <a:endParaRPr lang="en-AE" dirty="0"/>
          </a:p>
        </p:txBody>
      </p:sp>
      <p:sp>
        <p:nvSpPr>
          <p:cNvPr id="4" name="Slide Number Placeholder 3"/>
          <p:cNvSpPr>
            <a:spLocks noGrp="1"/>
          </p:cNvSpPr>
          <p:nvPr>
            <p:ph type="sldNum" sz="quarter" idx="5"/>
          </p:nvPr>
        </p:nvSpPr>
        <p:spPr/>
        <p:txBody>
          <a:bodyPr/>
          <a:lstStyle/>
          <a:p>
            <a:fld id="{505421AF-73C6-418B-ACAE-39DFCE8BD09A}" type="slidenum">
              <a:rPr lang="en-AE" smtClean="0"/>
              <a:t>3</a:t>
            </a:fld>
            <a:endParaRPr lang="en-AE"/>
          </a:p>
        </p:txBody>
      </p:sp>
    </p:spTree>
    <p:extLst>
      <p:ext uri="{BB962C8B-B14F-4D97-AF65-F5344CB8AC3E}">
        <p14:creationId xmlns:p14="http://schemas.microsoft.com/office/powerpoint/2010/main" val="36401907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8184F-7071-BF2E-AD7D-C4B0D24B56A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E"/>
          </a:p>
        </p:txBody>
      </p:sp>
      <p:sp>
        <p:nvSpPr>
          <p:cNvPr id="3" name="Subtitle 2">
            <a:extLst>
              <a:ext uri="{FF2B5EF4-FFF2-40B4-BE49-F238E27FC236}">
                <a16:creationId xmlns:a16="http://schemas.microsoft.com/office/drawing/2014/main" id="{27BC732F-90CF-90D0-67AE-87EBCCE39CE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E"/>
          </a:p>
        </p:txBody>
      </p:sp>
      <p:sp>
        <p:nvSpPr>
          <p:cNvPr id="4" name="Date Placeholder 3">
            <a:extLst>
              <a:ext uri="{FF2B5EF4-FFF2-40B4-BE49-F238E27FC236}">
                <a16:creationId xmlns:a16="http://schemas.microsoft.com/office/drawing/2014/main" id="{E6D6BBA0-2E1E-CC69-F355-C9AFB536E867}"/>
              </a:ext>
            </a:extLst>
          </p:cNvPr>
          <p:cNvSpPr>
            <a:spLocks noGrp="1"/>
          </p:cNvSpPr>
          <p:nvPr>
            <p:ph type="dt" sz="half" idx="10"/>
          </p:nvPr>
        </p:nvSpPr>
        <p:spPr/>
        <p:txBody>
          <a:bodyPr/>
          <a:lstStyle/>
          <a:p>
            <a:fld id="{EA791CB0-F937-45F2-B82F-A896C2065961}" type="datetimeFigureOut">
              <a:rPr lang="en-AE" smtClean="0"/>
              <a:t>08/05/2022</a:t>
            </a:fld>
            <a:endParaRPr lang="en-AE"/>
          </a:p>
        </p:txBody>
      </p:sp>
      <p:sp>
        <p:nvSpPr>
          <p:cNvPr id="5" name="Footer Placeholder 4">
            <a:extLst>
              <a:ext uri="{FF2B5EF4-FFF2-40B4-BE49-F238E27FC236}">
                <a16:creationId xmlns:a16="http://schemas.microsoft.com/office/drawing/2014/main" id="{B9951BF5-FEFF-CC1C-2F05-09415CEF224C}"/>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F71DA33E-5E80-F262-34BD-EAB4AD54EEEF}"/>
              </a:ext>
            </a:extLst>
          </p:cNvPr>
          <p:cNvSpPr>
            <a:spLocks noGrp="1"/>
          </p:cNvSpPr>
          <p:nvPr>
            <p:ph type="sldNum" sz="quarter" idx="12"/>
          </p:nvPr>
        </p:nvSpPr>
        <p:spPr/>
        <p:txBody>
          <a:bodyPr/>
          <a:lstStyle/>
          <a:p>
            <a:fld id="{2D3C164A-B95A-4533-A1C9-75A43595CA22}" type="slidenum">
              <a:rPr lang="en-AE" smtClean="0"/>
              <a:t>‹#›</a:t>
            </a:fld>
            <a:endParaRPr lang="en-AE"/>
          </a:p>
        </p:txBody>
      </p:sp>
    </p:spTree>
    <p:extLst>
      <p:ext uri="{BB962C8B-B14F-4D97-AF65-F5344CB8AC3E}">
        <p14:creationId xmlns:p14="http://schemas.microsoft.com/office/powerpoint/2010/main" val="20363222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98601-BE14-0ABA-E2A4-0F92AF8BA7B6}"/>
              </a:ext>
            </a:extLst>
          </p:cNvPr>
          <p:cNvSpPr>
            <a:spLocks noGrp="1"/>
          </p:cNvSpPr>
          <p:nvPr>
            <p:ph type="title"/>
          </p:nvPr>
        </p:nvSpPr>
        <p:spPr/>
        <p:txBody>
          <a:bodyPr/>
          <a:lstStyle/>
          <a:p>
            <a:r>
              <a:rPr lang="en-US"/>
              <a:t>Click to edit Master title style</a:t>
            </a:r>
            <a:endParaRPr lang="en-AE"/>
          </a:p>
        </p:txBody>
      </p:sp>
      <p:sp>
        <p:nvSpPr>
          <p:cNvPr id="3" name="Content Placeholder 2">
            <a:extLst>
              <a:ext uri="{FF2B5EF4-FFF2-40B4-BE49-F238E27FC236}">
                <a16:creationId xmlns:a16="http://schemas.microsoft.com/office/drawing/2014/main" id="{190714D3-1EF7-ACB0-4174-83D7D936087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Date Placeholder 3">
            <a:extLst>
              <a:ext uri="{FF2B5EF4-FFF2-40B4-BE49-F238E27FC236}">
                <a16:creationId xmlns:a16="http://schemas.microsoft.com/office/drawing/2014/main" id="{2C3FE96D-C3BF-0075-6049-159A1E8C51B1}"/>
              </a:ext>
            </a:extLst>
          </p:cNvPr>
          <p:cNvSpPr>
            <a:spLocks noGrp="1"/>
          </p:cNvSpPr>
          <p:nvPr>
            <p:ph type="dt" sz="half" idx="10"/>
          </p:nvPr>
        </p:nvSpPr>
        <p:spPr/>
        <p:txBody>
          <a:bodyPr/>
          <a:lstStyle/>
          <a:p>
            <a:fld id="{EA791CB0-F937-45F2-B82F-A896C2065961}" type="datetimeFigureOut">
              <a:rPr lang="en-AE" smtClean="0"/>
              <a:t>08/05/2022</a:t>
            </a:fld>
            <a:endParaRPr lang="en-AE"/>
          </a:p>
        </p:txBody>
      </p:sp>
      <p:sp>
        <p:nvSpPr>
          <p:cNvPr id="5" name="Footer Placeholder 4">
            <a:extLst>
              <a:ext uri="{FF2B5EF4-FFF2-40B4-BE49-F238E27FC236}">
                <a16:creationId xmlns:a16="http://schemas.microsoft.com/office/drawing/2014/main" id="{AA742C5B-E133-C26C-DF75-98FD994EE5F2}"/>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F1160582-5B4B-87A4-DEB9-7699DBF0F9CB}"/>
              </a:ext>
            </a:extLst>
          </p:cNvPr>
          <p:cNvSpPr>
            <a:spLocks noGrp="1"/>
          </p:cNvSpPr>
          <p:nvPr>
            <p:ph type="sldNum" sz="quarter" idx="12"/>
          </p:nvPr>
        </p:nvSpPr>
        <p:spPr/>
        <p:txBody>
          <a:bodyPr/>
          <a:lstStyle/>
          <a:p>
            <a:fld id="{2D3C164A-B95A-4533-A1C9-75A43595CA22}" type="slidenum">
              <a:rPr lang="en-AE" smtClean="0"/>
              <a:t>‹#›</a:t>
            </a:fld>
            <a:endParaRPr lang="en-AE"/>
          </a:p>
        </p:txBody>
      </p:sp>
    </p:spTree>
    <p:extLst>
      <p:ext uri="{BB962C8B-B14F-4D97-AF65-F5344CB8AC3E}">
        <p14:creationId xmlns:p14="http://schemas.microsoft.com/office/powerpoint/2010/main" val="9801995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88786-B42B-22C8-E894-4F844614F76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E"/>
          </a:p>
        </p:txBody>
      </p:sp>
      <p:sp>
        <p:nvSpPr>
          <p:cNvPr id="3" name="Text Placeholder 2">
            <a:extLst>
              <a:ext uri="{FF2B5EF4-FFF2-40B4-BE49-F238E27FC236}">
                <a16:creationId xmlns:a16="http://schemas.microsoft.com/office/drawing/2014/main" id="{91F0B2F7-0FC1-53A8-8FBF-A7305E3293A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9D408DA-AAED-BE0E-08F3-42B411064ADF}"/>
              </a:ext>
            </a:extLst>
          </p:cNvPr>
          <p:cNvSpPr>
            <a:spLocks noGrp="1"/>
          </p:cNvSpPr>
          <p:nvPr>
            <p:ph type="dt" sz="half" idx="10"/>
          </p:nvPr>
        </p:nvSpPr>
        <p:spPr/>
        <p:txBody>
          <a:bodyPr/>
          <a:lstStyle/>
          <a:p>
            <a:fld id="{EA791CB0-F937-45F2-B82F-A896C2065961}" type="datetimeFigureOut">
              <a:rPr lang="en-AE" smtClean="0"/>
              <a:t>08/05/2022</a:t>
            </a:fld>
            <a:endParaRPr lang="en-AE"/>
          </a:p>
        </p:txBody>
      </p:sp>
      <p:sp>
        <p:nvSpPr>
          <p:cNvPr id="5" name="Footer Placeholder 4">
            <a:extLst>
              <a:ext uri="{FF2B5EF4-FFF2-40B4-BE49-F238E27FC236}">
                <a16:creationId xmlns:a16="http://schemas.microsoft.com/office/drawing/2014/main" id="{C080A386-5AB0-386C-C41B-84778A5149F6}"/>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34EC8F40-2C65-71AF-9971-66D88E450382}"/>
              </a:ext>
            </a:extLst>
          </p:cNvPr>
          <p:cNvSpPr>
            <a:spLocks noGrp="1"/>
          </p:cNvSpPr>
          <p:nvPr>
            <p:ph type="sldNum" sz="quarter" idx="12"/>
          </p:nvPr>
        </p:nvSpPr>
        <p:spPr/>
        <p:txBody>
          <a:bodyPr/>
          <a:lstStyle/>
          <a:p>
            <a:fld id="{2D3C164A-B95A-4533-A1C9-75A43595CA22}" type="slidenum">
              <a:rPr lang="en-AE" smtClean="0"/>
              <a:t>‹#›</a:t>
            </a:fld>
            <a:endParaRPr lang="en-AE"/>
          </a:p>
        </p:txBody>
      </p:sp>
    </p:spTree>
    <p:extLst>
      <p:ext uri="{BB962C8B-B14F-4D97-AF65-F5344CB8AC3E}">
        <p14:creationId xmlns:p14="http://schemas.microsoft.com/office/powerpoint/2010/main" val="37141417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F7204-160C-9AD9-AA45-CDECD31BCCDB}"/>
              </a:ext>
            </a:extLst>
          </p:cNvPr>
          <p:cNvSpPr>
            <a:spLocks noGrp="1"/>
          </p:cNvSpPr>
          <p:nvPr>
            <p:ph type="title"/>
          </p:nvPr>
        </p:nvSpPr>
        <p:spPr/>
        <p:txBody>
          <a:bodyPr/>
          <a:lstStyle/>
          <a:p>
            <a:r>
              <a:rPr lang="en-US"/>
              <a:t>Click to edit Master title style</a:t>
            </a:r>
            <a:endParaRPr lang="en-AE"/>
          </a:p>
        </p:txBody>
      </p:sp>
      <p:sp>
        <p:nvSpPr>
          <p:cNvPr id="3" name="Content Placeholder 2">
            <a:extLst>
              <a:ext uri="{FF2B5EF4-FFF2-40B4-BE49-F238E27FC236}">
                <a16:creationId xmlns:a16="http://schemas.microsoft.com/office/drawing/2014/main" id="{7774A5C4-BC6E-4CE2-0913-AA2CA0EA8D6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Content Placeholder 3">
            <a:extLst>
              <a:ext uri="{FF2B5EF4-FFF2-40B4-BE49-F238E27FC236}">
                <a16:creationId xmlns:a16="http://schemas.microsoft.com/office/drawing/2014/main" id="{76254D33-5CF2-D7E4-0623-2AB70F00B1D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5" name="Date Placeholder 4">
            <a:extLst>
              <a:ext uri="{FF2B5EF4-FFF2-40B4-BE49-F238E27FC236}">
                <a16:creationId xmlns:a16="http://schemas.microsoft.com/office/drawing/2014/main" id="{2509064A-7BF5-934E-77EF-84A5D7EAD866}"/>
              </a:ext>
            </a:extLst>
          </p:cNvPr>
          <p:cNvSpPr>
            <a:spLocks noGrp="1"/>
          </p:cNvSpPr>
          <p:nvPr>
            <p:ph type="dt" sz="half" idx="10"/>
          </p:nvPr>
        </p:nvSpPr>
        <p:spPr/>
        <p:txBody>
          <a:bodyPr/>
          <a:lstStyle/>
          <a:p>
            <a:fld id="{EA791CB0-F937-45F2-B82F-A896C2065961}" type="datetimeFigureOut">
              <a:rPr lang="en-AE" smtClean="0"/>
              <a:t>08/05/2022</a:t>
            </a:fld>
            <a:endParaRPr lang="en-AE"/>
          </a:p>
        </p:txBody>
      </p:sp>
      <p:sp>
        <p:nvSpPr>
          <p:cNvPr id="6" name="Footer Placeholder 5">
            <a:extLst>
              <a:ext uri="{FF2B5EF4-FFF2-40B4-BE49-F238E27FC236}">
                <a16:creationId xmlns:a16="http://schemas.microsoft.com/office/drawing/2014/main" id="{98C36B18-4D4A-8C93-A3DD-06D3A506E83F}"/>
              </a:ext>
            </a:extLst>
          </p:cNvPr>
          <p:cNvSpPr>
            <a:spLocks noGrp="1"/>
          </p:cNvSpPr>
          <p:nvPr>
            <p:ph type="ftr" sz="quarter" idx="11"/>
          </p:nvPr>
        </p:nvSpPr>
        <p:spPr/>
        <p:txBody>
          <a:bodyPr/>
          <a:lstStyle/>
          <a:p>
            <a:endParaRPr lang="en-AE"/>
          </a:p>
        </p:txBody>
      </p:sp>
      <p:sp>
        <p:nvSpPr>
          <p:cNvPr id="7" name="Slide Number Placeholder 6">
            <a:extLst>
              <a:ext uri="{FF2B5EF4-FFF2-40B4-BE49-F238E27FC236}">
                <a16:creationId xmlns:a16="http://schemas.microsoft.com/office/drawing/2014/main" id="{59753D84-A48E-6590-1D44-A5D75CCF8B50}"/>
              </a:ext>
            </a:extLst>
          </p:cNvPr>
          <p:cNvSpPr>
            <a:spLocks noGrp="1"/>
          </p:cNvSpPr>
          <p:nvPr>
            <p:ph type="sldNum" sz="quarter" idx="12"/>
          </p:nvPr>
        </p:nvSpPr>
        <p:spPr/>
        <p:txBody>
          <a:bodyPr/>
          <a:lstStyle/>
          <a:p>
            <a:fld id="{2D3C164A-B95A-4533-A1C9-75A43595CA22}" type="slidenum">
              <a:rPr lang="en-AE" smtClean="0"/>
              <a:t>‹#›</a:t>
            </a:fld>
            <a:endParaRPr lang="en-AE"/>
          </a:p>
        </p:txBody>
      </p:sp>
    </p:spTree>
    <p:extLst>
      <p:ext uri="{BB962C8B-B14F-4D97-AF65-F5344CB8AC3E}">
        <p14:creationId xmlns:p14="http://schemas.microsoft.com/office/powerpoint/2010/main" val="3266447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D4A40-077A-CAD3-E288-17C18D2B2385}"/>
              </a:ext>
            </a:extLst>
          </p:cNvPr>
          <p:cNvSpPr>
            <a:spLocks noGrp="1"/>
          </p:cNvSpPr>
          <p:nvPr>
            <p:ph type="title"/>
          </p:nvPr>
        </p:nvSpPr>
        <p:spPr>
          <a:xfrm>
            <a:off x="839788" y="365125"/>
            <a:ext cx="10515600" cy="1325563"/>
          </a:xfrm>
        </p:spPr>
        <p:txBody>
          <a:bodyPr/>
          <a:lstStyle/>
          <a:p>
            <a:r>
              <a:rPr lang="en-US"/>
              <a:t>Click to edit Master title style</a:t>
            </a:r>
            <a:endParaRPr lang="en-AE"/>
          </a:p>
        </p:txBody>
      </p:sp>
      <p:sp>
        <p:nvSpPr>
          <p:cNvPr id="3" name="Text Placeholder 2">
            <a:extLst>
              <a:ext uri="{FF2B5EF4-FFF2-40B4-BE49-F238E27FC236}">
                <a16:creationId xmlns:a16="http://schemas.microsoft.com/office/drawing/2014/main" id="{7AA5CCBA-BFD7-B542-2E84-FBE0E677FB5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21A6A46-442C-F12E-A3B3-EC58FEF38B6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5" name="Text Placeholder 4">
            <a:extLst>
              <a:ext uri="{FF2B5EF4-FFF2-40B4-BE49-F238E27FC236}">
                <a16:creationId xmlns:a16="http://schemas.microsoft.com/office/drawing/2014/main" id="{93262CA8-D93B-0ED9-067F-7DE91B03047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CBA00DB-7AB4-B726-31A9-849D32F5746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7" name="Date Placeholder 6">
            <a:extLst>
              <a:ext uri="{FF2B5EF4-FFF2-40B4-BE49-F238E27FC236}">
                <a16:creationId xmlns:a16="http://schemas.microsoft.com/office/drawing/2014/main" id="{4F43FF51-363C-E3E7-BBA5-81D443D3FEB3}"/>
              </a:ext>
            </a:extLst>
          </p:cNvPr>
          <p:cNvSpPr>
            <a:spLocks noGrp="1"/>
          </p:cNvSpPr>
          <p:nvPr>
            <p:ph type="dt" sz="half" idx="10"/>
          </p:nvPr>
        </p:nvSpPr>
        <p:spPr/>
        <p:txBody>
          <a:bodyPr/>
          <a:lstStyle/>
          <a:p>
            <a:fld id="{EA791CB0-F937-45F2-B82F-A896C2065961}" type="datetimeFigureOut">
              <a:rPr lang="en-AE" smtClean="0"/>
              <a:t>08/05/2022</a:t>
            </a:fld>
            <a:endParaRPr lang="en-AE"/>
          </a:p>
        </p:txBody>
      </p:sp>
      <p:sp>
        <p:nvSpPr>
          <p:cNvPr id="8" name="Footer Placeholder 7">
            <a:extLst>
              <a:ext uri="{FF2B5EF4-FFF2-40B4-BE49-F238E27FC236}">
                <a16:creationId xmlns:a16="http://schemas.microsoft.com/office/drawing/2014/main" id="{100207ED-920E-B13D-9C1D-3E6C9CB6EC94}"/>
              </a:ext>
            </a:extLst>
          </p:cNvPr>
          <p:cNvSpPr>
            <a:spLocks noGrp="1"/>
          </p:cNvSpPr>
          <p:nvPr>
            <p:ph type="ftr" sz="quarter" idx="11"/>
          </p:nvPr>
        </p:nvSpPr>
        <p:spPr/>
        <p:txBody>
          <a:bodyPr/>
          <a:lstStyle/>
          <a:p>
            <a:endParaRPr lang="en-AE"/>
          </a:p>
        </p:txBody>
      </p:sp>
      <p:sp>
        <p:nvSpPr>
          <p:cNvPr id="9" name="Slide Number Placeholder 8">
            <a:extLst>
              <a:ext uri="{FF2B5EF4-FFF2-40B4-BE49-F238E27FC236}">
                <a16:creationId xmlns:a16="http://schemas.microsoft.com/office/drawing/2014/main" id="{AC372E79-8763-A4C1-834B-A19FDBE10A0E}"/>
              </a:ext>
            </a:extLst>
          </p:cNvPr>
          <p:cNvSpPr>
            <a:spLocks noGrp="1"/>
          </p:cNvSpPr>
          <p:nvPr>
            <p:ph type="sldNum" sz="quarter" idx="12"/>
          </p:nvPr>
        </p:nvSpPr>
        <p:spPr/>
        <p:txBody>
          <a:bodyPr/>
          <a:lstStyle/>
          <a:p>
            <a:fld id="{2D3C164A-B95A-4533-A1C9-75A43595CA22}" type="slidenum">
              <a:rPr lang="en-AE" smtClean="0"/>
              <a:t>‹#›</a:t>
            </a:fld>
            <a:endParaRPr lang="en-AE"/>
          </a:p>
        </p:txBody>
      </p:sp>
    </p:spTree>
    <p:extLst>
      <p:ext uri="{BB962C8B-B14F-4D97-AF65-F5344CB8AC3E}">
        <p14:creationId xmlns:p14="http://schemas.microsoft.com/office/powerpoint/2010/main" val="28222253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A7DC9-A6DD-759D-04BF-A1EAE286FEC8}"/>
              </a:ext>
            </a:extLst>
          </p:cNvPr>
          <p:cNvSpPr>
            <a:spLocks noGrp="1"/>
          </p:cNvSpPr>
          <p:nvPr>
            <p:ph type="title"/>
          </p:nvPr>
        </p:nvSpPr>
        <p:spPr/>
        <p:txBody>
          <a:bodyPr/>
          <a:lstStyle/>
          <a:p>
            <a:r>
              <a:rPr lang="en-US"/>
              <a:t>Click to edit Master title style</a:t>
            </a:r>
            <a:endParaRPr lang="en-AE"/>
          </a:p>
        </p:txBody>
      </p:sp>
      <p:sp>
        <p:nvSpPr>
          <p:cNvPr id="3" name="Date Placeholder 2">
            <a:extLst>
              <a:ext uri="{FF2B5EF4-FFF2-40B4-BE49-F238E27FC236}">
                <a16:creationId xmlns:a16="http://schemas.microsoft.com/office/drawing/2014/main" id="{6407949C-1979-209B-8D5B-81E2597211FD}"/>
              </a:ext>
            </a:extLst>
          </p:cNvPr>
          <p:cNvSpPr>
            <a:spLocks noGrp="1"/>
          </p:cNvSpPr>
          <p:nvPr>
            <p:ph type="dt" sz="half" idx="10"/>
          </p:nvPr>
        </p:nvSpPr>
        <p:spPr/>
        <p:txBody>
          <a:bodyPr/>
          <a:lstStyle/>
          <a:p>
            <a:fld id="{EA791CB0-F937-45F2-B82F-A896C2065961}" type="datetimeFigureOut">
              <a:rPr lang="en-AE" smtClean="0"/>
              <a:t>08/05/2022</a:t>
            </a:fld>
            <a:endParaRPr lang="en-AE"/>
          </a:p>
        </p:txBody>
      </p:sp>
      <p:sp>
        <p:nvSpPr>
          <p:cNvPr id="4" name="Footer Placeholder 3">
            <a:extLst>
              <a:ext uri="{FF2B5EF4-FFF2-40B4-BE49-F238E27FC236}">
                <a16:creationId xmlns:a16="http://schemas.microsoft.com/office/drawing/2014/main" id="{65E749EF-5B89-1945-3A5C-81CA53B0D60C}"/>
              </a:ext>
            </a:extLst>
          </p:cNvPr>
          <p:cNvSpPr>
            <a:spLocks noGrp="1"/>
          </p:cNvSpPr>
          <p:nvPr>
            <p:ph type="ftr" sz="quarter" idx="11"/>
          </p:nvPr>
        </p:nvSpPr>
        <p:spPr/>
        <p:txBody>
          <a:bodyPr/>
          <a:lstStyle/>
          <a:p>
            <a:endParaRPr lang="en-AE"/>
          </a:p>
        </p:txBody>
      </p:sp>
      <p:sp>
        <p:nvSpPr>
          <p:cNvPr id="5" name="Slide Number Placeholder 4">
            <a:extLst>
              <a:ext uri="{FF2B5EF4-FFF2-40B4-BE49-F238E27FC236}">
                <a16:creationId xmlns:a16="http://schemas.microsoft.com/office/drawing/2014/main" id="{089AD6EE-FDE8-A13A-399D-84F9CC6B3A9B}"/>
              </a:ext>
            </a:extLst>
          </p:cNvPr>
          <p:cNvSpPr>
            <a:spLocks noGrp="1"/>
          </p:cNvSpPr>
          <p:nvPr>
            <p:ph type="sldNum" sz="quarter" idx="12"/>
          </p:nvPr>
        </p:nvSpPr>
        <p:spPr/>
        <p:txBody>
          <a:bodyPr/>
          <a:lstStyle/>
          <a:p>
            <a:fld id="{2D3C164A-B95A-4533-A1C9-75A43595CA22}" type="slidenum">
              <a:rPr lang="en-AE" smtClean="0"/>
              <a:t>‹#›</a:t>
            </a:fld>
            <a:endParaRPr lang="en-AE"/>
          </a:p>
        </p:txBody>
      </p:sp>
    </p:spTree>
    <p:extLst>
      <p:ext uri="{BB962C8B-B14F-4D97-AF65-F5344CB8AC3E}">
        <p14:creationId xmlns:p14="http://schemas.microsoft.com/office/powerpoint/2010/main" val="32586741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D4C20B0-1ADD-298E-BB34-6659D2AD2578}"/>
              </a:ext>
            </a:extLst>
          </p:cNvPr>
          <p:cNvSpPr>
            <a:spLocks noGrp="1"/>
          </p:cNvSpPr>
          <p:nvPr>
            <p:ph type="dt" sz="half" idx="10"/>
          </p:nvPr>
        </p:nvSpPr>
        <p:spPr/>
        <p:txBody>
          <a:bodyPr/>
          <a:lstStyle/>
          <a:p>
            <a:fld id="{EA791CB0-F937-45F2-B82F-A896C2065961}" type="datetimeFigureOut">
              <a:rPr lang="en-AE" smtClean="0"/>
              <a:t>08/05/2022</a:t>
            </a:fld>
            <a:endParaRPr lang="en-AE"/>
          </a:p>
        </p:txBody>
      </p:sp>
      <p:sp>
        <p:nvSpPr>
          <p:cNvPr id="3" name="Footer Placeholder 2">
            <a:extLst>
              <a:ext uri="{FF2B5EF4-FFF2-40B4-BE49-F238E27FC236}">
                <a16:creationId xmlns:a16="http://schemas.microsoft.com/office/drawing/2014/main" id="{BF922C63-ACEC-F425-02E9-763BDC8BFFDF}"/>
              </a:ext>
            </a:extLst>
          </p:cNvPr>
          <p:cNvSpPr>
            <a:spLocks noGrp="1"/>
          </p:cNvSpPr>
          <p:nvPr>
            <p:ph type="ftr" sz="quarter" idx="11"/>
          </p:nvPr>
        </p:nvSpPr>
        <p:spPr/>
        <p:txBody>
          <a:bodyPr/>
          <a:lstStyle/>
          <a:p>
            <a:endParaRPr lang="en-AE"/>
          </a:p>
        </p:txBody>
      </p:sp>
      <p:sp>
        <p:nvSpPr>
          <p:cNvPr id="4" name="Slide Number Placeholder 3">
            <a:extLst>
              <a:ext uri="{FF2B5EF4-FFF2-40B4-BE49-F238E27FC236}">
                <a16:creationId xmlns:a16="http://schemas.microsoft.com/office/drawing/2014/main" id="{88AE4A01-B08C-5ECB-91C3-47BF998B5A2A}"/>
              </a:ext>
            </a:extLst>
          </p:cNvPr>
          <p:cNvSpPr>
            <a:spLocks noGrp="1"/>
          </p:cNvSpPr>
          <p:nvPr>
            <p:ph type="sldNum" sz="quarter" idx="12"/>
          </p:nvPr>
        </p:nvSpPr>
        <p:spPr/>
        <p:txBody>
          <a:bodyPr/>
          <a:lstStyle/>
          <a:p>
            <a:fld id="{2D3C164A-B95A-4533-A1C9-75A43595CA22}" type="slidenum">
              <a:rPr lang="en-AE" smtClean="0"/>
              <a:t>‹#›</a:t>
            </a:fld>
            <a:endParaRPr lang="en-AE"/>
          </a:p>
        </p:txBody>
      </p:sp>
    </p:spTree>
    <p:extLst>
      <p:ext uri="{BB962C8B-B14F-4D97-AF65-F5344CB8AC3E}">
        <p14:creationId xmlns:p14="http://schemas.microsoft.com/office/powerpoint/2010/main" val="39837691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3AB88-7E1E-6178-9131-90571AA53B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E"/>
          </a:p>
        </p:txBody>
      </p:sp>
      <p:sp>
        <p:nvSpPr>
          <p:cNvPr id="3" name="Content Placeholder 2">
            <a:extLst>
              <a:ext uri="{FF2B5EF4-FFF2-40B4-BE49-F238E27FC236}">
                <a16:creationId xmlns:a16="http://schemas.microsoft.com/office/drawing/2014/main" id="{D4B5D2EC-9BA2-3389-5988-380DBDD5B05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Text Placeholder 3">
            <a:extLst>
              <a:ext uri="{FF2B5EF4-FFF2-40B4-BE49-F238E27FC236}">
                <a16:creationId xmlns:a16="http://schemas.microsoft.com/office/drawing/2014/main" id="{07429C1E-D3C7-7992-3571-224B83A081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D31B9D-0705-BBF8-39F2-6860B7C25B4A}"/>
              </a:ext>
            </a:extLst>
          </p:cNvPr>
          <p:cNvSpPr>
            <a:spLocks noGrp="1"/>
          </p:cNvSpPr>
          <p:nvPr>
            <p:ph type="dt" sz="half" idx="10"/>
          </p:nvPr>
        </p:nvSpPr>
        <p:spPr/>
        <p:txBody>
          <a:bodyPr/>
          <a:lstStyle/>
          <a:p>
            <a:fld id="{EA791CB0-F937-45F2-B82F-A896C2065961}" type="datetimeFigureOut">
              <a:rPr lang="en-AE" smtClean="0"/>
              <a:t>08/05/2022</a:t>
            </a:fld>
            <a:endParaRPr lang="en-AE"/>
          </a:p>
        </p:txBody>
      </p:sp>
      <p:sp>
        <p:nvSpPr>
          <p:cNvPr id="6" name="Footer Placeholder 5">
            <a:extLst>
              <a:ext uri="{FF2B5EF4-FFF2-40B4-BE49-F238E27FC236}">
                <a16:creationId xmlns:a16="http://schemas.microsoft.com/office/drawing/2014/main" id="{AA0E01E8-CB44-7A00-A580-66F1A9BBC0CA}"/>
              </a:ext>
            </a:extLst>
          </p:cNvPr>
          <p:cNvSpPr>
            <a:spLocks noGrp="1"/>
          </p:cNvSpPr>
          <p:nvPr>
            <p:ph type="ftr" sz="quarter" idx="11"/>
          </p:nvPr>
        </p:nvSpPr>
        <p:spPr/>
        <p:txBody>
          <a:bodyPr/>
          <a:lstStyle/>
          <a:p>
            <a:endParaRPr lang="en-AE"/>
          </a:p>
        </p:txBody>
      </p:sp>
      <p:sp>
        <p:nvSpPr>
          <p:cNvPr id="7" name="Slide Number Placeholder 6">
            <a:extLst>
              <a:ext uri="{FF2B5EF4-FFF2-40B4-BE49-F238E27FC236}">
                <a16:creationId xmlns:a16="http://schemas.microsoft.com/office/drawing/2014/main" id="{8909061C-8EC3-3A83-79D5-41A7F9C9BC66}"/>
              </a:ext>
            </a:extLst>
          </p:cNvPr>
          <p:cNvSpPr>
            <a:spLocks noGrp="1"/>
          </p:cNvSpPr>
          <p:nvPr>
            <p:ph type="sldNum" sz="quarter" idx="12"/>
          </p:nvPr>
        </p:nvSpPr>
        <p:spPr/>
        <p:txBody>
          <a:bodyPr/>
          <a:lstStyle/>
          <a:p>
            <a:fld id="{2D3C164A-B95A-4533-A1C9-75A43595CA22}" type="slidenum">
              <a:rPr lang="en-AE" smtClean="0"/>
              <a:t>‹#›</a:t>
            </a:fld>
            <a:endParaRPr lang="en-AE"/>
          </a:p>
        </p:txBody>
      </p:sp>
    </p:spTree>
    <p:extLst>
      <p:ext uri="{BB962C8B-B14F-4D97-AF65-F5344CB8AC3E}">
        <p14:creationId xmlns:p14="http://schemas.microsoft.com/office/powerpoint/2010/main" val="37326628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01766-3473-158D-FCC9-1581B425F1C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E"/>
          </a:p>
        </p:txBody>
      </p:sp>
      <p:sp>
        <p:nvSpPr>
          <p:cNvPr id="3" name="Picture Placeholder 2">
            <a:extLst>
              <a:ext uri="{FF2B5EF4-FFF2-40B4-BE49-F238E27FC236}">
                <a16:creationId xmlns:a16="http://schemas.microsoft.com/office/drawing/2014/main" id="{E41600FC-F5E7-E896-2A3D-BE36CE97D1D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E"/>
          </a:p>
        </p:txBody>
      </p:sp>
      <p:sp>
        <p:nvSpPr>
          <p:cNvPr id="4" name="Text Placeholder 3">
            <a:extLst>
              <a:ext uri="{FF2B5EF4-FFF2-40B4-BE49-F238E27FC236}">
                <a16:creationId xmlns:a16="http://schemas.microsoft.com/office/drawing/2014/main" id="{3FB1E8CD-68DD-18C0-E39E-2B452C2CCC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032F9F-5109-DA99-FF81-F2F840E26C64}"/>
              </a:ext>
            </a:extLst>
          </p:cNvPr>
          <p:cNvSpPr>
            <a:spLocks noGrp="1"/>
          </p:cNvSpPr>
          <p:nvPr>
            <p:ph type="dt" sz="half" idx="10"/>
          </p:nvPr>
        </p:nvSpPr>
        <p:spPr/>
        <p:txBody>
          <a:bodyPr/>
          <a:lstStyle/>
          <a:p>
            <a:fld id="{EA791CB0-F937-45F2-B82F-A896C2065961}" type="datetimeFigureOut">
              <a:rPr lang="en-AE" smtClean="0"/>
              <a:t>08/05/2022</a:t>
            </a:fld>
            <a:endParaRPr lang="en-AE"/>
          </a:p>
        </p:txBody>
      </p:sp>
      <p:sp>
        <p:nvSpPr>
          <p:cNvPr id="6" name="Footer Placeholder 5">
            <a:extLst>
              <a:ext uri="{FF2B5EF4-FFF2-40B4-BE49-F238E27FC236}">
                <a16:creationId xmlns:a16="http://schemas.microsoft.com/office/drawing/2014/main" id="{7FEC9389-8546-FC98-08B8-CB621D096FA3}"/>
              </a:ext>
            </a:extLst>
          </p:cNvPr>
          <p:cNvSpPr>
            <a:spLocks noGrp="1"/>
          </p:cNvSpPr>
          <p:nvPr>
            <p:ph type="ftr" sz="quarter" idx="11"/>
          </p:nvPr>
        </p:nvSpPr>
        <p:spPr/>
        <p:txBody>
          <a:bodyPr/>
          <a:lstStyle/>
          <a:p>
            <a:endParaRPr lang="en-AE"/>
          </a:p>
        </p:txBody>
      </p:sp>
      <p:sp>
        <p:nvSpPr>
          <p:cNvPr id="7" name="Slide Number Placeholder 6">
            <a:extLst>
              <a:ext uri="{FF2B5EF4-FFF2-40B4-BE49-F238E27FC236}">
                <a16:creationId xmlns:a16="http://schemas.microsoft.com/office/drawing/2014/main" id="{466A9DC6-2916-2F7F-BF34-50EB5F2E6F9B}"/>
              </a:ext>
            </a:extLst>
          </p:cNvPr>
          <p:cNvSpPr>
            <a:spLocks noGrp="1"/>
          </p:cNvSpPr>
          <p:nvPr>
            <p:ph type="sldNum" sz="quarter" idx="12"/>
          </p:nvPr>
        </p:nvSpPr>
        <p:spPr/>
        <p:txBody>
          <a:bodyPr/>
          <a:lstStyle/>
          <a:p>
            <a:fld id="{2D3C164A-B95A-4533-A1C9-75A43595CA22}" type="slidenum">
              <a:rPr lang="en-AE" smtClean="0"/>
              <a:t>‹#›</a:t>
            </a:fld>
            <a:endParaRPr lang="en-AE"/>
          </a:p>
        </p:txBody>
      </p:sp>
    </p:spTree>
    <p:extLst>
      <p:ext uri="{BB962C8B-B14F-4D97-AF65-F5344CB8AC3E}">
        <p14:creationId xmlns:p14="http://schemas.microsoft.com/office/powerpoint/2010/main" val="24247746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A7A65-E23B-5286-5EC9-F83A95528012}"/>
              </a:ext>
            </a:extLst>
          </p:cNvPr>
          <p:cNvSpPr>
            <a:spLocks noGrp="1"/>
          </p:cNvSpPr>
          <p:nvPr>
            <p:ph type="title"/>
          </p:nvPr>
        </p:nvSpPr>
        <p:spPr/>
        <p:txBody>
          <a:bodyPr/>
          <a:lstStyle/>
          <a:p>
            <a:r>
              <a:rPr lang="en-US"/>
              <a:t>Click to edit Master title style</a:t>
            </a:r>
            <a:endParaRPr lang="en-AE"/>
          </a:p>
        </p:txBody>
      </p:sp>
      <p:sp>
        <p:nvSpPr>
          <p:cNvPr id="3" name="Vertical Text Placeholder 2">
            <a:extLst>
              <a:ext uri="{FF2B5EF4-FFF2-40B4-BE49-F238E27FC236}">
                <a16:creationId xmlns:a16="http://schemas.microsoft.com/office/drawing/2014/main" id="{78807BBE-B258-55A7-87A9-AF5E16E32E5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Date Placeholder 3">
            <a:extLst>
              <a:ext uri="{FF2B5EF4-FFF2-40B4-BE49-F238E27FC236}">
                <a16:creationId xmlns:a16="http://schemas.microsoft.com/office/drawing/2014/main" id="{D8A833EA-6F38-0E64-B4A8-3CBEB5C05E78}"/>
              </a:ext>
            </a:extLst>
          </p:cNvPr>
          <p:cNvSpPr>
            <a:spLocks noGrp="1"/>
          </p:cNvSpPr>
          <p:nvPr>
            <p:ph type="dt" sz="half" idx="10"/>
          </p:nvPr>
        </p:nvSpPr>
        <p:spPr/>
        <p:txBody>
          <a:bodyPr/>
          <a:lstStyle/>
          <a:p>
            <a:fld id="{EA791CB0-F937-45F2-B82F-A896C2065961}" type="datetimeFigureOut">
              <a:rPr lang="en-AE" smtClean="0"/>
              <a:t>08/05/2022</a:t>
            </a:fld>
            <a:endParaRPr lang="en-AE"/>
          </a:p>
        </p:txBody>
      </p:sp>
      <p:sp>
        <p:nvSpPr>
          <p:cNvPr id="5" name="Footer Placeholder 4">
            <a:extLst>
              <a:ext uri="{FF2B5EF4-FFF2-40B4-BE49-F238E27FC236}">
                <a16:creationId xmlns:a16="http://schemas.microsoft.com/office/drawing/2014/main" id="{A79DE02B-D89E-FA50-4967-09BA375D2027}"/>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343508FC-4361-C077-F98F-F1A0854ED91B}"/>
              </a:ext>
            </a:extLst>
          </p:cNvPr>
          <p:cNvSpPr>
            <a:spLocks noGrp="1"/>
          </p:cNvSpPr>
          <p:nvPr>
            <p:ph type="sldNum" sz="quarter" idx="12"/>
          </p:nvPr>
        </p:nvSpPr>
        <p:spPr/>
        <p:txBody>
          <a:bodyPr/>
          <a:lstStyle/>
          <a:p>
            <a:fld id="{2D3C164A-B95A-4533-A1C9-75A43595CA22}" type="slidenum">
              <a:rPr lang="en-AE" smtClean="0"/>
              <a:t>‹#›</a:t>
            </a:fld>
            <a:endParaRPr lang="en-AE"/>
          </a:p>
        </p:txBody>
      </p:sp>
    </p:spTree>
    <p:extLst>
      <p:ext uri="{BB962C8B-B14F-4D97-AF65-F5344CB8AC3E}">
        <p14:creationId xmlns:p14="http://schemas.microsoft.com/office/powerpoint/2010/main" val="5610253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250EDF4-D3BB-6635-12C5-0840BE125A7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E"/>
          </a:p>
        </p:txBody>
      </p:sp>
      <p:sp>
        <p:nvSpPr>
          <p:cNvPr id="3" name="Vertical Text Placeholder 2">
            <a:extLst>
              <a:ext uri="{FF2B5EF4-FFF2-40B4-BE49-F238E27FC236}">
                <a16:creationId xmlns:a16="http://schemas.microsoft.com/office/drawing/2014/main" id="{3F617AA7-60D2-59B3-B036-9C520622203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Date Placeholder 3">
            <a:extLst>
              <a:ext uri="{FF2B5EF4-FFF2-40B4-BE49-F238E27FC236}">
                <a16:creationId xmlns:a16="http://schemas.microsoft.com/office/drawing/2014/main" id="{750D4760-C0CA-76B4-5E1F-7956F78CDE9D}"/>
              </a:ext>
            </a:extLst>
          </p:cNvPr>
          <p:cNvSpPr>
            <a:spLocks noGrp="1"/>
          </p:cNvSpPr>
          <p:nvPr>
            <p:ph type="dt" sz="half" idx="10"/>
          </p:nvPr>
        </p:nvSpPr>
        <p:spPr/>
        <p:txBody>
          <a:bodyPr/>
          <a:lstStyle/>
          <a:p>
            <a:fld id="{EA791CB0-F937-45F2-B82F-A896C2065961}" type="datetimeFigureOut">
              <a:rPr lang="en-AE" smtClean="0"/>
              <a:t>08/05/2022</a:t>
            </a:fld>
            <a:endParaRPr lang="en-AE"/>
          </a:p>
        </p:txBody>
      </p:sp>
      <p:sp>
        <p:nvSpPr>
          <p:cNvPr id="5" name="Footer Placeholder 4">
            <a:extLst>
              <a:ext uri="{FF2B5EF4-FFF2-40B4-BE49-F238E27FC236}">
                <a16:creationId xmlns:a16="http://schemas.microsoft.com/office/drawing/2014/main" id="{0AEC9074-7AD2-1914-71C2-4F6C9373C7C0}"/>
              </a:ext>
            </a:extLst>
          </p:cNvPr>
          <p:cNvSpPr>
            <a:spLocks noGrp="1"/>
          </p:cNvSpPr>
          <p:nvPr>
            <p:ph type="ftr" sz="quarter" idx="11"/>
          </p:nvPr>
        </p:nvSpPr>
        <p:spPr/>
        <p:txBody>
          <a:bodyPr/>
          <a:lstStyle/>
          <a:p>
            <a:endParaRPr lang="en-AE"/>
          </a:p>
        </p:txBody>
      </p:sp>
      <p:sp>
        <p:nvSpPr>
          <p:cNvPr id="6" name="Slide Number Placeholder 5">
            <a:extLst>
              <a:ext uri="{FF2B5EF4-FFF2-40B4-BE49-F238E27FC236}">
                <a16:creationId xmlns:a16="http://schemas.microsoft.com/office/drawing/2014/main" id="{AC02E9FA-4D77-687A-D3AA-E4ABEE924690}"/>
              </a:ext>
            </a:extLst>
          </p:cNvPr>
          <p:cNvSpPr>
            <a:spLocks noGrp="1"/>
          </p:cNvSpPr>
          <p:nvPr>
            <p:ph type="sldNum" sz="quarter" idx="12"/>
          </p:nvPr>
        </p:nvSpPr>
        <p:spPr/>
        <p:txBody>
          <a:bodyPr/>
          <a:lstStyle/>
          <a:p>
            <a:fld id="{2D3C164A-B95A-4533-A1C9-75A43595CA22}" type="slidenum">
              <a:rPr lang="en-AE" smtClean="0"/>
              <a:t>‹#›</a:t>
            </a:fld>
            <a:endParaRPr lang="en-AE"/>
          </a:p>
        </p:txBody>
      </p:sp>
    </p:spTree>
    <p:extLst>
      <p:ext uri="{BB962C8B-B14F-4D97-AF65-F5344CB8AC3E}">
        <p14:creationId xmlns:p14="http://schemas.microsoft.com/office/powerpoint/2010/main" val="33353495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78DBBC8-80B7-E4E5-83A6-288C5F22E8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E"/>
          </a:p>
        </p:txBody>
      </p:sp>
      <p:sp>
        <p:nvSpPr>
          <p:cNvPr id="3" name="Text Placeholder 2">
            <a:extLst>
              <a:ext uri="{FF2B5EF4-FFF2-40B4-BE49-F238E27FC236}">
                <a16:creationId xmlns:a16="http://schemas.microsoft.com/office/drawing/2014/main" id="{CAAEC529-7A00-BA28-BB5E-1FC13CC4CE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4" name="Date Placeholder 3">
            <a:extLst>
              <a:ext uri="{FF2B5EF4-FFF2-40B4-BE49-F238E27FC236}">
                <a16:creationId xmlns:a16="http://schemas.microsoft.com/office/drawing/2014/main" id="{6986454D-3770-0444-A53C-9B129B86933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791CB0-F937-45F2-B82F-A896C2065961}" type="datetimeFigureOut">
              <a:rPr lang="en-AE" smtClean="0"/>
              <a:t>08/05/2022</a:t>
            </a:fld>
            <a:endParaRPr lang="en-AE"/>
          </a:p>
        </p:txBody>
      </p:sp>
      <p:sp>
        <p:nvSpPr>
          <p:cNvPr id="5" name="Footer Placeholder 4">
            <a:extLst>
              <a:ext uri="{FF2B5EF4-FFF2-40B4-BE49-F238E27FC236}">
                <a16:creationId xmlns:a16="http://schemas.microsoft.com/office/drawing/2014/main" id="{24338B49-572B-DBF1-29DB-76130FF6AFE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E"/>
          </a:p>
        </p:txBody>
      </p:sp>
      <p:sp>
        <p:nvSpPr>
          <p:cNvPr id="6" name="Slide Number Placeholder 5">
            <a:extLst>
              <a:ext uri="{FF2B5EF4-FFF2-40B4-BE49-F238E27FC236}">
                <a16:creationId xmlns:a16="http://schemas.microsoft.com/office/drawing/2014/main" id="{295922D4-976A-1F62-EAFD-3F61EC1D22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3C164A-B95A-4533-A1C9-75A43595CA22}" type="slidenum">
              <a:rPr lang="en-AE" smtClean="0"/>
              <a:t>‹#›</a:t>
            </a:fld>
            <a:endParaRPr lang="en-AE"/>
          </a:p>
        </p:txBody>
      </p:sp>
    </p:spTree>
    <p:extLst>
      <p:ext uri="{BB962C8B-B14F-4D97-AF65-F5344CB8AC3E}">
        <p14:creationId xmlns:p14="http://schemas.microsoft.com/office/powerpoint/2010/main" val="1865718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37F8739-A5CC-B90D-2479-689B3C447277}"/>
              </a:ext>
            </a:extLst>
          </p:cNvPr>
          <p:cNvSpPr>
            <a:spLocks noGrp="1"/>
          </p:cNvSpPr>
          <p:nvPr>
            <p:ph type="ctrTitle"/>
          </p:nvPr>
        </p:nvSpPr>
        <p:spPr/>
        <p:txBody>
          <a:bodyPr>
            <a:normAutofit fontScale="90000"/>
          </a:bodyPr>
          <a:lstStyle/>
          <a:p>
            <a:r>
              <a:rPr lang="en-US" dirty="0"/>
              <a:t>The Spread of Behavior in an Online Social Network Experiment</a:t>
            </a:r>
            <a:endParaRPr lang="en-PK" dirty="0"/>
          </a:p>
        </p:txBody>
      </p:sp>
      <p:sp>
        <p:nvSpPr>
          <p:cNvPr id="5" name="Subtitle 4">
            <a:extLst>
              <a:ext uri="{FF2B5EF4-FFF2-40B4-BE49-F238E27FC236}">
                <a16:creationId xmlns:a16="http://schemas.microsoft.com/office/drawing/2014/main" id="{AE5566FB-51FB-50CF-14A3-D032909EB244}"/>
              </a:ext>
            </a:extLst>
          </p:cNvPr>
          <p:cNvSpPr>
            <a:spLocks noGrp="1"/>
          </p:cNvSpPr>
          <p:nvPr>
            <p:ph type="subTitle" idx="1"/>
          </p:nvPr>
        </p:nvSpPr>
        <p:spPr>
          <a:xfrm>
            <a:off x="1524000" y="3602038"/>
            <a:ext cx="9144000" cy="3255962"/>
          </a:xfrm>
        </p:spPr>
        <p:txBody>
          <a:bodyPr>
            <a:normAutofit/>
          </a:bodyPr>
          <a:lstStyle/>
          <a:p>
            <a:r>
              <a:rPr lang="en-US" sz="3600" b="1" dirty="0"/>
              <a:t>By Damon </a:t>
            </a:r>
            <a:r>
              <a:rPr lang="en-US" sz="3600" b="1" dirty="0" err="1"/>
              <a:t>Centola</a:t>
            </a:r>
            <a:endParaRPr lang="en-US" sz="3600" b="1" dirty="0"/>
          </a:p>
          <a:p>
            <a:r>
              <a:rPr lang="en-US" dirty="0"/>
              <a:t>Discussed by:</a:t>
            </a:r>
          </a:p>
          <a:p>
            <a:r>
              <a:rPr lang="en-US" dirty="0"/>
              <a:t>Mirza Kashif</a:t>
            </a:r>
          </a:p>
          <a:p>
            <a:r>
              <a:rPr lang="en-US" dirty="0" err="1"/>
              <a:t>Tahaa</a:t>
            </a:r>
            <a:r>
              <a:rPr lang="en-US" dirty="0"/>
              <a:t> Imtiaz</a:t>
            </a:r>
          </a:p>
          <a:p>
            <a:r>
              <a:rPr lang="en-US" dirty="0"/>
              <a:t>Muhammad Usman</a:t>
            </a:r>
          </a:p>
          <a:p>
            <a:r>
              <a:rPr lang="en-US" dirty="0"/>
              <a:t>Anas Abid</a:t>
            </a:r>
            <a:endParaRPr lang="en-PK" dirty="0"/>
          </a:p>
        </p:txBody>
      </p:sp>
    </p:spTree>
    <p:extLst>
      <p:ext uri="{BB962C8B-B14F-4D97-AF65-F5344CB8AC3E}">
        <p14:creationId xmlns:p14="http://schemas.microsoft.com/office/powerpoint/2010/main" val="24768661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FD4E0-F4A0-6F90-FE0C-1E32A0362774}"/>
              </a:ext>
            </a:extLst>
          </p:cNvPr>
          <p:cNvSpPr>
            <a:spLocks noGrp="1"/>
          </p:cNvSpPr>
          <p:nvPr>
            <p:ph type="title"/>
          </p:nvPr>
        </p:nvSpPr>
        <p:spPr/>
        <p:txBody>
          <a:bodyPr/>
          <a:lstStyle/>
          <a:p>
            <a:endParaRPr lang="en-AE"/>
          </a:p>
        </p:txBody>
      </p:sp>
      <p:sp>
        <p:nvSpPr>
          <p:cNvPr id="3" name="Content Placeholder 2">
            <a:extLst>
              <a:ext uri="{FF2B5EF4-FFF2-40B4-BE49-F238E27FC236}">
                <a16:creationId xmlns:a16="http://schemas.microsoft.com/office/drawing/2014/main" id="{C8998B75-A4CB-F82E-DE32-A766B1667E0C}"/>
              </a:ext>
            </a:extLst>
          </p:cNvPr>
          <p:cNvSpPr>
            <a:spLocks noGrp="1"/>
          </p:cNvSpPr>
          <p:nvPr>
            <p:ph idx="1"/>
          </p:nvPr>
        </p:nvSpPr>
        <p:spPr/>
        <p:txBody>
          <a:bodyPr/>
          <a:lstStyle/>
          <a:p>
            <a:r>
              <a:rPr lang="en-US" sz="1800" dirty="0">
                <a:effectLst/>
                <a:latin typeface="Calibri" panose="020F0502020204030204" pitchFamily="34" charset="0"/>
                <a:ea typeface="Calibri" panose="020F0502020204030204" pitchFamily="34" charset="0"/>
                <a:cs typeface="Times New Roman" panose="02020603050405020304" pitchFamily="18" charset="0"/>
              </a:rPr>
              <a:t>Two contradictory hypotheses on how network topology influences diffusion</a:t>
            </a:r>
          </a:p>
          <a:p>
            <a:endParaRPr lang="en-US" sz="1800" dirty="0">
              <a:latin typeface="Calibri" panose="020F0502020204030204" pitchFamily="34" charset="0"/>
              <a:ea typeface="Calibri" panose="020F0502020204030204" pitchFamily="34" charset="0"/>
              <a:cs typeface="Times New Roman" panose="02020603050405020304" pitchFamily="18" charset="0"/>
            </a:endParaRPr>
          </a:p>
          <a:p>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r>
              <a:rPr lang="en-AE" sz="1800" dirty="0">
                <a:latin typeface="Calibri" panose="020F0502020204030204" pitchFamily="34" charset="0"/>
                <a:ea typeface="Calibri" panose="020F0502020204030204" pitchFamily="34" charset="0"/>
                <a:cs typeface="Times New Roman" panose="02020603050405020304" pitchFamily="18" charset="0"/>
              </a:rPr>
              <a:t>S</a:t>
            </a:r>
            <a:r>
              <a:rPr lang="en-AE" sz="1800" dirty="0">
                <a:effectLst/>
                <a:latin typeface="Calibri" panose="020F0502020204030204" pitchFamily="34" charset="0"/>
                <a:ea typeface="Calibri" panose="020F0502020204030204" pitchFamily="34" charset="0"/>
                <a:cs typeface="Times New Roman" panose="02020603050405020304" pitchFamily="18" charset="0"/>
              </a:rPr>
              <a:t>trength of weak ties</a:t>
            </a:r>
            <a:endParaRPr lang="en-US" sz="1800" dirty="0">
              <a:latin typeface="Calibri" panose="020F0502020204030204" pitchFamily="34" charset="0"/>
              <a:ea typeface="Calibri" panose="020F0502020204030204" pitchFamily="34" charset="0"/>
              <a:cs typeface="Times New Roman" panose="02020603050405020304" pitchFamily="18" charset="0"/>
            </a:endParaRPr>
          </a:p>
          <a:p>
            <a:pPr lvl="1"/>
            <a:r>
              <a:rPr lang="en-AE" sz="1800" dirty="0">
                <a:effectLst/>
                <a:latin typeface="Calibri" panose="020F0502020204030204" pitchFamily="34" charset="0"/>
                <a:ea typeface="Calibri" panose="020F0502020204030204" pitchFamily="34" charset="0"/>
                <a:cs typeface="Times New Roman" panose="02020603050405020304" pitchFamily="18" charset="0"/>
              </a:rPr>
              <a:t>Networks with a large number of "long ties" will diffuse a social behaviour farther and faster</a:t>
            </a:r>
          </a:p>
          <a:p>
            <a:pPr lvl="1"/>
            <a:endParaRPr lang="en-AE" sz="1800" dirty="0">
              <a:latin typeface="Calibri" panose="020F0502020204030204" pitchFamily="34" charset="0"/>
              <a:ea typeface="Calibri" panose="020F0502020204030204" pitchFamily="34" charset="0"/>
              <a:cs typeface="Times New Roman" panose="02020603050405020304" pitchFamily="18" charset="0"/>
            </a:endParaRPr>
          </a:p>
          <a:p>
            <a:pPr lvl="1"/>
            <a:endParaRPr lang="en-AE" sz="1800" dirty="0">
              <a:effectLst/>
              <a:latin typeface="Calibri" panose="020F0502020204030204" pitchFamily="34" charset="0"/>
              <a:ea typeface="Calibri" panose="020F0502020204030204" pitchFamily="34" charset="0"/>
              <a:cs typeface="Times New Roman" panose="02020603050405020304" pitchFamily="18" charset="0"/>
            </a:endParaRPr>
          </a:p>
          <a:p>
            <a:r>
              <a:rPr lang="en-AE" sz="1800" dirty="0">
                <a:latin typeface="Calibri" panose="020F0502020204030204" pitchFamily="34" charset="0"/>
                <a:ea typeface="Calibri" panose="020F0502020204030204" pitchFamily="34" charset="0"/>
                <a:cs typeface="Times New Roman" panose="02020603050405020304" pitchFamily="18" charset="0"/>
              </a:rPr>
              <a:t>S</a:t>
            </a:r>
            <a:r>
              <a:rPr lang="en-AE" sz="1800" dirty="0">
                <a:effectLst/>
                <a:latin typeface="Calibri" panose="020F0502020204030204" pitchFamily="34" charset="0"/>
                <a:ea typeface="Calibri" panose="020F0502020204030204" pitchFamily="34" charset="0"/>
                <a:cs typeface="Times New Roman" panose="02020603050405020304" pitchFamily="18" charset="0"/>
              </a:rPr>
              <a:t>econd hypothesis states </a:t>
            </a:r>
          </a:p>
          <a:p>
            <a:pPr lvl="1"/>
            <a:r>
              <a:rPr lang="en-AE" sz="1800" dirty="0">
                <a:latin typeface="Calibri" panose="020F0502020204030204" pitchFamily="34" charset="0"/>
                <a:ea typeface="Calibri" panose="020F0502020204030204" pitchFamily="34" charset="0"/>
                <a:cs typeface="Times New Roman" panose="02020603050405020304" pitchFamily="18" charset="0"/>
              </a:rPr>
              <a:t>U</a:t>
            </a:r>
            <a:r>
              <a:rPr lang="en-AE" sz="1800" dirty="0">
                <a:effectLst/>
                <a:latin typeface="Calibri" panose="020F0502020204030204" pitchFamily="34" charset="0"/>
                <a:ea typeface="Calibri" panose="020F0502020204030204" pitchFamily="34" charset="0"/>
                <a:cs typeface="Times New Roman" panose="02020603050405020304" pitchFamily="18" charset="0"/>
              </a:rPr>
              <a:t>nlike the first hypothesis, social behaviour is a more complex contagion where people are usually convinced to adopt a behaviour after being exposed to multiple sources of "infection”. </a:t>
            </a:r>
          </a:p>
        </p:txBody>
      </p:sp>
    </p:spTree>
    <p:extLst>
      <p:ext uri="{BB962C8B-B14F-4D97-AF65-F5344CB8AC3E}">
        <p14:creationId xmlns:p14="http://schemas.microsoft.com/office/powerpoint/2010/main" val="6874121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0B07F-5876-3EE2-9BFB-2621D6BE5C10}"/>
              </a:ext>
            </a:extLst>
          </p:cNvPr>
          <p:cNvSpPr>
            <a:spLocks noGrp="1"/>
          </p:cNvSpPr>
          <p:nvPr>
            <p:ph type="title"/>
          </p:nvPr>
        </p:nvSpPr>
        <p:spPr/>
        <p:txBody>
          <a:bodyPr/>
          <a:lstStyle/>
          <a:p>
            <a:endParaRPr lang="en-AE" dirty="0"/>
          </a:p>
        </p:txBody>
      </p:sp>
      <p:sp>
        <p:nvSpPr>
          <p:cNvPr id="3" name="Content Placeholder 2">
            <a:extLst>
              <a:ext uri="{FF2B5EF4-FFF2-40B4-BE49-F238E27FC236}">
                <a16:creationId xmlns:a16="http://schemas.microsoft.com/office/drawing/2014/main" id="{451C954C-046B-998B-4D89-F76334597D4F}"/>
              </a:ext>
            </a:extLst>
          </p:cNvPr>
          <p:cNvSpPr>
            <a:spLocks noGrp="1"/>
          </p:cNvSpPr>
          <p:nvPr>
            <p:ph idx="1"/>
          </p:nvPr>
        </p:nvSpPr>
        <p:spPr/>
        <p:txBody>
          <a:bodyPr/>
          <a:lstStyle/>
          <a:p>
            <a:r>
              <a:rPr lang="en-AE" sz="1800" dirty="0">
                <a:latin typeface="Calibri" panose="020F0502020204030204" pitchFamily="34" charset="0"/>
                <a:ea typeface="Calibri" panose="020F0502020204030204" pitchFamily="34" charset="0"/>
                <a:cs typeface="Times New Roman" panose="02020603050405020304" pitchFamily="18" charset="0"/>
              </a:rPr>
              <a:t>T</a:t>
            </a:r>
            <a:r>
              <a:rPr lang="en-AE" sz="1800" dirty="0">
                <a:effectLst/>
                <a:latin typeface="Calibri" panose="020F0502020204030204" pitchFamily="34" charset="0"/>
                <a:ea typeface="Calibri" panose="020F0502020204030204" pitchFamily="34" charset="0"/>
                <a:cs typeface="Times New Roman" panose="02020603050405020304" pitchFamily="18" charset="0"/>
              </a:rPr>
              <a:t>o test the effects of network structure on diffusion using a controlled experimental approach the researcher created an internet-based health community </a:t>
            </a:r>
          </a:p>
          <a:p>
            <a:endParaRPr lang="en-AE" sz="1800" dirty="0">
              <a:effectLst/>
              <a:latin typeface="Calibri" panose="020F0502020204030204" pitchFamily="34" charset="0"/>
              <a:ea typeface="Calibri" panose="020F0502020204030204" pitchFamily="34" charset="0"/>
              <a:cs typeface="Times New Roman" panose="02020603050405020304" pitchFamily="18" charset="0"/>
            </a:endParaRPr>
          </a:p>
          <a:p>
            <a:pPr lvl="1"/>
            <a:r>
              <a:rPr lang="en-AE" sz="1800" dirty="0">
                <a:effectLst/>
                <a:latin typeface="Calibri" panose="020F0502020204030204" pitchFamily="34" charset="0"/>
                <a:ea typeface="Calibri" panose="020F0502020204030204" pitchFamily="34" charset="0"/>
                <a:cs typeface="Times New Roman" panose="02020603050405020304" pitchFamily="18" charset="0"/>
              </a:rPr>
              <a:t>1528 participants </a:t>
            </a:r>
            <a:endParaRPr lang="en-AE" sz="1800" dirty="0">
              <a:latin typeface="Calibri" panose="020F0502020204030204" pitchFamily="34" charset="0"/>
              <a:ea typeface="Calibri" panose="020F0502020204030204" pitchFamily="34" charset="0"/>
              <a:cs typeface="Times New Roman" panose="02020603050405020304" pitchFamily="18" charset="0"/>
            </a:endParaRPr>
          </a:p>
          <a:p>
            <a:pPr lvl="1"/>
            <a:r>
              <a:rPr lang="en-AE" sz="1800" dirty="0">
                <a:effectLst/>
                <a:latin typeface="Calibri" panose="020F0502020204030204" pitchFamily="34" charset="0"/>
                <a:ea typeface="Calibri" panose="020F0502020204030204" pitchFamily="34" charset="0"/>
                <a:cs typeface="Times New Roman" panose="02020603050405020304" pitchFamily="18" charset="0"/>
              </a:rPr>
              <a:t>crated an online profile with an avatar</a:t>
            </a:r>
          </a:p>
          <a:p>
            <a:pPr lvl="1"/>
            <a:r>
              <a:rPr lang="en-AE" sz="1800" dirty="0">
                <a:effectLst/>
                <a:latin typeface="Calibri" panose="020F0502020204030204" pitchFamily="34" charset="0"/>
                <a:ea typeface="Calibri" panose="020F0502020204030204" pitchFamily="34" charset="0"/>
                <a:cs typeface="Times New Roman" panose="02020603050405020304" pitchFamily="18" charset="0"/>
              </a:rPr>
              <a:t>a username</a:t>
            </a:r>
            <a:endParaRPr lang="en-AE" sz="1800" dirty="0">
              <a:latin typeface="Calibri" panose="020F0502020204030204" pitchFamily="34" charset="0"/>
              <a:ea typeface="Calibri" panose="020F0502020204030204" pitchFamily="34" charset="0"/>
              <a:cs typeface="Times New Roman" panose="02020603050405020304" pitchFamily="18" charset="0"/>
            </a:endParaRPr>
          </a:p>
          <a:p>
            <a:pPr lvl="1"/>
            <a:r>
              <a:rPr lang="en-AE" sz="1800" dirty="0">
                <a:effectLst/>
                <a:latin typeface="Calibri" panose="020F0502020204030204" pitchFamily="34" charset="0"/>
                <a:ea typeface="Calibri" panose="020F0502020204030204" pitchFamily="34" charset="0"/>
                <a:cs typeface="Times New Roman" panose="02020603050405020304" pitchFamily="18" charset="0"/>
              </a:rPr>
              <a:t>a list of health interests </a:t>
            </a:r>
          </a:p>
          <a:p>
            <a:pPr lvl="1"/>
            <a:endParaRPr lang="en-AE" sz="1800" dirty="0">
              <a:effectLst/>
              <a:latin typeface="Calibri" panose="020F0502020204030204" pitchFamily="34" charset="0"/>
              <a:ea typeface="Calibri" panose="020F0502020204030204" pitchFamily="34" charset="0"/>
              <a:cs typeface="Times New Roman" panose="02020603050405020304" pitchFamily="18" charset="0"/>
            </a:endParaRPr>
          </a:p>
          <a:p>
            <a:r>
              <a:rPr lang="en-AE" sz="1800" dirty="0">
                <a:latin typeface="Calibri" panose="020F0502020204030204" pitchFamily="34" charset="0"/>
                <a:ea typeface="Calibri" panose="020F0502020204030204" pitchFamily="34" charset="0"/>
                <a:cs typeface="Times New Roman" panose="02020603050405020304" pitchFamily="18" charset="0"/>
              </a:rPr>
              <a:t>M</a:t>
            </a:r>
            <a:r>
              <a:rPr lang="en-AE" sz="1800" dirty="0">
                <a:effectLst/>
                <a:latin typeface="Calibri" panose="020F0502020204030204" pitchFamily="34" charset="0"/>
                <a:ea typeface="Calibri" panose="020F0502020204030204" pitchFamily="34" charset="0"/>
                <a:cs typeface="Times New Roman" panose="02020603050405020304" pitchFamily="18" charset="0"/>
              </a:rPr>
              <a:t>atched as members of an online health community with other study participants dubbed as "health buddies“</a:t>
            </a:r>
          </a:p>
          <a:p>
            <a:endParaRPr lang="en-AE" sz="1800" dirty="0">
              <a:effectLst/>
              <a:latin typeface="Calibri" panose="020F0502020204030204" pitchFamily="34" charset="0"/>
              <a:ea typeface="Calibri" panose="020F0502020204030204" pitchFamily="34" charset="0"/>
              <a:cs typeface="Times New Roman" panose="02020603050405020304" pitchFamily="18" charset="0"/>
            </a:endParaRPr>
          </a:p>
          <a:p>
            <a:r>
              <a:rPr lang="en-AE" sz="1800" dirty="0">
                <a:latin typeface="Calibri" panose="020F0502020204030204" pitchFamily="34" charset="0"/>
                <a:ea typeface="Calibri" panose="020F0502020204030204" pitchFamily="34" charset="0"/>
                <a:cs typeface="Times New Roman" panose="02020603050405020304" pitchFamily="18" charset="0"/>
              </a:rPr>
              <a:t>U</a:t>
            </a:r>
            <a:r>
              <a:rPr lang="en-AE" sz="1800" dirty="0">
                <a:effectLst/>
                <a:latin typeface="Calibri" panose="020F0502020204030204" pitchFamily="34" charset="0"/>
                <a:ea typeface="Calibri" panose="020F0502020204030204" pitchFamily="34" charset="0"/>
                <a:cs typeface="Times New Roman" panose="02020603050405020304" pitchFamily="18" charset="0"/>
              </a:rPr>
              <a:t>nable to communicate directly but they were able to receive emails from the study telling them of their health buddies' activities.</a:t>
            </a:r>
          </a:p>
          <a:p>
            <a:endParaRPr lang="en-AE"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9868402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A4FDC-F91F-F6AA-CDBD-7799CC806C03}"/>
              </a:ext>
            </a:extLst>
          </p:cNvPr>
          <p:cNvSpPr>
            <a:spLocks noGrp="1"/>
          </p:cNvSpPr>
          <p:nvPr>
            <p:ph type="title"/>
          </p:nvPr>
        </p:nvSpPr>
        <p:spPr/>
        <p:txBody>
          <a:bodyPr/>
          <a:lstStyle/>
          <a:p>
            <a:endParaRPr lang="en-AE"/>
          </a:p>
        </p:txBody>
      </p:sp>
      <p:sp>
        <p:nvSpPr>
          <p:cNvPr id="3" name="Content Placeholder 2">
            <a:extLst>
              <a:ext uri="{FF2B5EF4-FFF2-40B4-BE49-F238E27FC236}">
                <a16:creationId xmlns:a16="http://schemas.microsoft.com/office/drawing/2014/main" id="{24186CB1-10E4-65ED-E0BA-A310D66B9A01}"/>
              </a:ext>
            </a:extLst>
          </p:cNvPr>
          <p:cNvSpPr>
            <a:spLocks noGrp="1"/>
          </p:cNvSpPr>
          <p:nvPr>
            <p:ph idx="1"/>
          </p:nvPr>
        </p:nvSpPr>
        <p:spPr/>
        <p:txBody>
          <a:bodyPr/>
          <a:lstStyle/>
          <a:p>
            <a:pPr>
              <a:lnSpc>
                <a:spcPct val="107000"/>
              </a:lnSpc>
              <a:spcAft>
                <a:spcPts val="800"/>
              </a:spcAft>
            </a:pPr>
            <a:r>
              <a:rPr lang="en-AE" sz="1800" dirty="0">
                <a:effectLst/>
                <a:latin typeface="Calibri" panose="020F0502020204030204" pitchFamily="34" charset="0"/>
                <a:ea typeface="Calibri" panose="020F0502020204030204" pitchFamily="34" charset="0"/>
                <a:cs typeface="Times New Roman" panose="02020603050405020304" pitchFamily="18" charset="0"/>
              </a:rPr>
              <a:t>Participants were randomly allocated to one of two experimental conditions</a:t>
            </a:r>
          </a:p>
          <a:p>
            <a:pPr lvl="1">
              <a:lnSpc>
                <a:spcPct val="107000"/>
              </a:lnSpc>
              <a:spcAft>
                <a:spcPts val="800"/>
              </a:spcAft>
            </a:pPr>
            <a:r>
              <a:rPr lang="en-AE" sz="1800" dirty="0">
                <a:latin typeface="Calibri" panose="020F0502020204030204" pitchFamily="34" charset="0"/>
                <a:ea typeface="Calibri" panose="020F0502020204030204" pitchFamily="34" charset="0"/>
                <a:cs typeface="Times New Roman" panose="02020603050405020304" pitchFamily="18" charset="0"/>
              </a:rPr>
              <a:t>C</a:t>
            </a:r>
            <a:r>
              <a:rPr lang="en-AE" sz="1800" dirty="0">
                <a:effectLst/>
                <a:latin typeface="Calibri" panose="020F0502020204030204" pitchFamily="34" charset="0"/>
                <a:ea typeface="Calibri" panose="020F0502020204030204" pitchFamily="34" charset="0"/>
                <a:cs typeface="Times New Roman" panose="02020603050405020304" pitchFamily="18" charset="0"/>
              </a:rPr>
              <a:t>lustered-lattice network (</a:t>
            </a:r>
            <a:r>
              <a:rPr lang="en-US" sz="1800" dirty="0">
                <a:effectLst/>
                <a:latin typeface="Calibri" panose="020F0502020204030204" pitchFamily="34" charset="0"/>
                <a:ea typeface="Calibri" panose="020F0502020204030204" pitchFamily="34" charset="0"/>
                <a:cs typeface="Times New Roman" panose="02020603050405020304" pitchFamily="18" charset="0"/>
              </a:rPr>
              <a:t>all nodes have the same number of links)</a:t>
            </a:r>
            <a:endParaRPr lang="en-AE" sz="1400" dirty="0">
              <a:effectLst/>
              <a:latin typeface="Calibri" panose="020F0502020204030204" pitchFamily="34" charset="0"/>
              <a:ea typeface="Calibri" panose="020F0502020204030204" pitchFamily="34" charset="0"/>
              <a:cs typeface="Times New Roman" panose="02020603050405020304" pitchFamily="18" charset="0"/>
            </a:endParaRPr>
          </a:p>
          <a:p>
            <a:pPr lvl="1">
              <a:lnSpc>
                <a:spcPct val="107000"/>
              </a:lnSpc>
              <a:spcAft>
                <a:spcPts val="800"/>
              </a:spcAft>
            </a:pPr>
            <a:r>
              <a:rPr lang="en-AE" sz="1800" dirty="0">
                <a:latin typeface="Calibri" panose="020F0502020204030204" pitchFamily="34" charset="0"/>
                <a:ea typeface="Calibri" panose="020F0502020204030204" pitchFamily="34" charset="0"/>
                <a:cs typeface="Times New Roman" panose="02020603050405020304" pitchFamily="18" charset="0"/>
              </a:rPr>
              <a:t>R</a:t>
            </a:r>
            <a:r>
              <a:rPr lang="en-AE" sz="1800" dirty="0">
                <a:effectLst/>
                <a:latin typeface="Calibri" panose="020F0502020204030204" pitchFamily="34" charset="0"/>
                <a:ea typeface="Calibri" panose="020F0502020204030204" pitchFamily="34" charset="0"/>
                <a:cs typeface="Times New Roman" panose="02020603050405020304" pitchFamily="18" charset="0"/>
              </a:rPr>
              <a:t>andom network (</a:t>
            </a:r>
            <a:r>
              <a:rPr lang="en-US" sz="1800" dirty="0">
                <a:effectLst/>
                <a:latin typeface="Calibri" panose="020F0502020204030204" pitchFamily="34" charset="0"/>
                <a:ea typeface="Calibri" panose="020F0502020204030204" pitchFamily="34" charset="0"/>
                <a:cs typeface="Times New Roman" panose="02020603050405020304" pitchFamily="18" charset="0"/>
              </a:rPr>
              <a:t>contains links that are chosen completely at random with equal probability)</a:t>
            </a:r>
            <a:endParaRPr lang="en-AE"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AE" sz="1800" dirty="0">
                <a:latin typeface="Calibri" panose="020F0502020204030204" pitchFamily="34" charset="0"/>
                <a:ea typeface="Calibri" panose="020F0502020204030204" pitchFamily="34" charset="0"/>
                <a:cs typeface="Times New Roman" panose="02020603050405020304" pitchFamily="18" charset="0"/>
              </a:rPr>
              <a:t>R</a:t>
            </a:r>
            <a:r>
              <a:rPr lang="en-AE" sz="1800" dirty="0">
                <a:effectLst/>
                <a:latin typeface="Calibri" panose="020F0502020204030204" pitchFamily="34" charset="0"/>
                <a:ea typeface="Calibri" panose="020F0502020204030204" pitchFamily="34" charset="0"/>
                <a:cs typeface="Times New Roman" panose="02020603050405020304" pitchFamily="18" charset="0"/>
              </a:rPr>
              <a:t>edundant linkages that linked each node's neighbours to one another provided a high amount of clustering in the clustered-lattice–network condition</a:t>
            </a:r>
          </a:p>
          <a:p>
            <a:pPr>
              <a:lnSpc>
                <a:spcPct val="107000"/>
              </a:lnSpc>
              <a:spcAft>
                <a:spcPts val="800"/>
              </a:spcAft>
            </a:pPr>
            <a:r>
              <a:rPr lang="en-AE" sz="1800" dirty="0">
                <a:effectLst/>
                <a:latin typeface="Calibri" panose="020F0502020204030204" pitchFamily="34" charset="0"/>
                <a:ea typeface="Calibri" panose="020F0502020204030204" pitchFamily="34" charset="0"/>
                <a:cs typeface="Times New Roman" panose="02020603050405020304" pitchFamily="18" charset="0"/>
              </a:rPr>
              <a:t>The random network condition was constructed by using a randomization technique based on the small world–network concept to rewire the clustered-lattice network</a:t>
            </a:r>
            <a:endParaRPr lang="en-AE" sz="18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AE" sz="1800" dirty="0">
                <a:latin typeface="Calibri" panose="020F0502020204030204" pitchFamily="34" charset="0"/>
                <a:cs typeface="Times New Roman" panose="02020603050405020304" pitchFamily="18" charset="0"/>
              </a:rPr>
              <a:t>Assuring </a:t>
            </a:r>
            <a:r>
              <a:rPr lang="en-AE" sz="1800" dirty="0">
                <a:effectLst/>
                <a:latin typeface="Calibri" panose="020F0502020204030204" pitchFamily="34" charset="0"/>
                <a:ea typeface="Calibri" panose="020F0502020204030204" pitchFamily="34" charset="0"/>
                <a:cs typeface="Times New Roman" panose="02020603050405020304" pitchFamily="18" charset="0"/>
              </a:rPr>
              <a:t>that each node had the same number of neighbours as in the clustered network while also minimising network clustering and eliminating redundant linkages within and across neighbourhoods</a:t>
            </a:r>
            <a:endParaRPr lang="en-AE" dirty="0"/>
          </a:p>
        </p:txBody>
      </p:sp>
    </p:spTree>
    <p:extLst>
      <p:ext uri="{BB962C8B-B14F-4D97-AF65-F5344CB8AC3E}">
        <p14:creationId xmlns:p14="http://schemas.microsoft.com/office/powerpoint/2010/main" val="71590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A53CB-5E3A-A7AD-49D7-C22CAAD7ED06}"/>
              </a:ext>
            </a:extLst>
          </p:cNvPr>
          <p:cNvSpPr>
            <a:spLocks noGrp="1"/>
          </p:cNvSpPr>
          <p:nvPr>
            <p:ph type="title"/>
          </p:nvPr>
        </p:nvSpPr>
        <p:spPr/>
        <p:txBody>
          <a:bodyPr/>
          <a:lstStyle/>
          <a:p>
            <a:endParaRPr lang="en-AE"/>
          </a:p>
        </p:txBody>
      </p:sp>
      <p:sp>
        <p:nvSpPr>
          <p:cNvPr id="3" name="Content Placeholder 2">
            <a:extLst>
              <a:ext uri="{FF2B5EF4-FFF2-40B4-BE49-F238E27FC236}">
                <a16:creationId xmlns:a16="http://schemas.microsoft.com/office/drawing/2014/main" id="{E02F16A4-04E9-303F-CFBE-A4D929F7332F}"/>
              </a:ext>
            </a:extLst>
          </p:cNvPr>
          <p:cNvSpPr>
            <a:spLocks noGrp="1"/>
          </p:cNvSpPr>
          <p:nvPr>
            <p:ph idx="1"/>
          </p:nvPr>
        </p:nvSpPr>
        <p:spPr/>
        <p:txBody>
          <a:bodyPr>
            <a:normAutofit fontScale="92500" lnSpcReduction="10000"/>
          </a:bodyPr>
          <a:lstStyle/>
          <a:p>
            <a:r>
              <a:rPr lang="en-US" dirty="0"/>
              <a:t>Network topologies were created before the participants arrived and they could not alter the topology in which they were embedded</a:t>
            </a:r>
          </a:p>
          <a:p>
            <a:endParaRPr lang="en-US" dirty="0"/>
          </a:p>
          <a:p>
            <a:r>
              <a:rPr lang="en-US" dirty="0"/>
              <a:t>Each participant was randomly assigned to occupy a single node in one network</a:t>
            </a:r>
          </a:p>
          <a:p>
            <a:endParaRPr lang="en-US" dirty="0"/>
          </a:p>
          <a:p>
            <a:r>
              <a:rPr lang="en-US" dirty="0"/>
              <a:t>Occupants of the immediately adjacent nodes in the network constituted a participant’s health buddies</a:t>
            </a:r>
          </a:p>
          <a:p>
            <a:endParaRPr lang="en-US" dirty="0"/>
          </a:p>
          <a:p>
            <a:r>
              <a:rPr lang="en-US" dirty="0"/>
              <a:t>Each node in a social network had an identical number of neighbors as the other nodes in the network</a:t>
            </a:r>
            <a:endParaRPr lang="en-AE" dirty="0"/>
          </a:p>
        </p:txBody>
      </p:sp>
    </p:spTree>
    <p:extLst>
      <p:ext uri="{BB962C8B-B14F-4D97-AF65-F5344CB8AC3E}">
        <p14:creationId xmlns:p14="http://schemas.microsoft.com/office/powerpoint/2010/main" val="11105198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3600" dirty="0"/>
              <a:t>Connection of each participant</a:t>
            </a:r>
          </a:p>
        </p:txBody>
      </p:sp>
      <p:sp>
        <p:nvSpPr>
          <p:cNvPr id="3" name="Subtitle 2"/>
          <p:cNvSpPr>
            <a:spLocks noGrp="1"/>
          </p:cNvSpPr>
          <p:nvPr>
            <p:ph idx="1"/>
          </p:nvPr>
        </p:nvSpPr>
        <p:spPr/>
        <p:txBody>
          <a:bodyPr/>
          <a:lstStyle/>
          <a:p>
            <a:pPr marL="285750" indent="-285750" algn="l">
              <a:buFont typeface="Arial" panose="020B0604020202020204" pitchFamily="34" charset="0"/>
              <a:buChar char="•"/>
            </a:pPr>
            <a:r>
              <a:rPr lang="en-US" dirty="0"/>
              <a:t>Introducing network topology</a:t>
            </a:r>
          </a:p>
          <a:p>
            <a:pPr marL="285750" indent="-285750" algn="l">
              <a:buFont typeface="Arial" panose="020B0604020202020204" pitchFamily="34" charset="0"/>
              <a:buChar char="•"/>
            </a:pPr>
            <a:r>
              <a:rPr lang="en-US" dirty="0"/>
              <a:t>Criteria between the members</a:t>
            </a:r>
          </a:p>
          <a:p>
            <a:pPr marL="285750" indent="-285750" algn="l">
              <a:buFont typeface="Arial" panose="020B0604020202020204" pitchFamily="34" charset="0"/>
              <a:buChar char="•"/>
            </a:pPr>
            <a:r>
              <a:rPr lang="en-US" dirty="0"/>
              <a:t>Advantages</a:t>
            </a:r>
          </a:p>
          <a:p>
            <a:pPr algn="l"/>
            <a:r>
              <a:rPr lang="en-US" dirty="0"/>
              <a:t>        study isolates effect of network topology</a:t>
            </a:r>
          </a:p>
          <a:p>
            <a:pPr algn="l"/>
            <a:r>
              <a:rPr lang="en-US" dirty="0"/>
              <a:t>        Participants got a study on health related behavior </a:t>
            </a:r>
          </a:p>
          <a:p>
            <a:pPr algn="l"/>
            <a:r>
              <a:rPr lang="en-US" dirty="0"/>
              <a:t>        It eliminates possibility of social ties</a:t>
            </a:r>
          </a:p>
          <a:p>
            <a:pPr algn="l"/>
            <a:r>
              <a:rPr lang="en-US" dirty="0"/>
              <a:t>        Design allow diffusion process</a:t>
            </a:r>
          </a:p>
        </p:txBody>
      </p:sp>
    </p:spTree>
    <p:extLst>
      <p:ext uri="{BB962C8B-B14F-4D97-AF65-F5344CB8AC3E}">
        <p14:creationId xmlns:p14="http://schemas.microsoft.com/office/powerpoint/2010/main" val="20923560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dirty="0"/>
              <a:t>Experiments</a:t>
            </a:r>
          </a:p>
        </p:txBody>
      </p:sp>
      <p:sp>
        <p:nvSpPr>
          <p:cNvPr id="3" name="Subtitle 2"/>
          <p:cNvSpPr>
            <a:spLocks noGrp="1"/>
          </p:cNvSpPr>
          <p:nvPr>
            <p:ph idx="1"/>
          </p:nvPr>
        </p:nvSpPr>
        <p:spPr/>
        <p:txBody>
          <a:bodyPr>
            <a:normAutofit/>
          </a:bodyPr>
          <a:lstStyle/>
          <a:p>
            <a:pPr marL="285750" indent="-285750" algn="l">
              <a:buFont typeface="Arial" panose="020B0604020202020204" pitchFamily="34" charset="0"/>
              <a:buChar char="•"/>
            </a:pPr>
            <a:r>
              <a:rPr lang="en-US" dirty="0"/>
              <a:t>Six independent trials of experimental design </a:t>
            </a:r>
          </a:p>
          <a:p>
            <a:pPr marL="285750" indent="-285750" algn="l">
              <a:buFont typeface="Arial" panose="020B0604020202020204" pitchFamily="34" charset="0"/>
              <a:buChar char="•"/>
            </a:pPr>
            <a:r>
              <a:rPr lang="en-US" dirty="0"/>
              <a:t>Diffusion was initiated by selecting a random “seed node” </a:t>
            </a:r>
          </a:p>
          <a:p>
            <a:pPr marL="285750" indent="-285750" algn="l">
              <a:buFont typeface="Arial" panose="020B0604020202020204" pitchFamily="34" charset="0"/>
              <a:buChar char="•"/>
            </a:pPr>
            <a:r>
              <a:rPr lang="en-US" dirty="0"/>
              <a:t>Every time adopt the behavior the message was sent to health buddies inviting them to adopt.</a:t>
            </a:r>
          </a:p>
          <a:p>
            <a:pPr marL="285750" indent="-285750" algn="l">
              <a:buFont typeface="Arial" panose="020B0604020202020204" pitchFamily="34" charset="0"/>
              <a:buChar char="•"/>
            </a:pPr>
            <a:r>
              <a:rPr lang="en-US" dirty="0"/>
              <a:t>more the participant adopted behavior more the incoming of signals.</a:t>
            </a:r>
          </a:p>
          <a:p>
            <a:pPr algn="l"/>
            <a:endParaRPr lang="en-US" dirty="0"/>
          </a:p>
        </p:txBody>
      </p:sp>
    </p:spTree>
    <p:extLst>
      <p:ext uri="{BB962C8B-B14F-4D97-AF65-F5344CB8AC3E}">
        <p14:creationId xmlns:p14="http://schemas.microsoft.com/office/powerpoint/2010/main" val="18265798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A5AEAF0-F895-128A-4022-683A3BD5D211}"/>
              </a:ext>
            </a:extLst>
          </p:cNvPr>
          <p:cNvSpPr>
            <a:spLocks noGrp="1"/>
          </p:cNvSpPr>
          <p:nvPr>
            <p:ph type="title"/>
          </p:nvPr>
        </p:nvSpPr>
        <p:spPr/>
        <p:txBody>
          <a:bodyPr/>
          <a:lstStyle/>
          <a:p>
            <a:r>
              <a:rPr lang="en-US" dirty="0"/>
              <a:t>Findings</a:t>
            </a:r>
            <a:endParaRPr lang="en-PK" dirty="0"/>
          </a:p>
        </p:txBody>
      </p:sp>
      <p:sp>
        <p:nvSpPr>
          <p:cNvPr id="5" name="Content Placeholder 4">
            <a:extLst>
              <a:ext uri="{FF2B5EF4-FFF2-40B4-BE49-F238E27FC236}">
                <a16:creationId xmlns:a16="http://schemas.microsoft.com/office/drawing/2014/main" id="{A9F2097C-1213-0FC0-EBD2-D37860E0DC9B}"/>
              </a:ext>
            </a:extLst>
          </p:cNvPr>
          <p:cNvSpPr>
            <a:spLocks noGrp="1"/>
          </p:cNvSpPr>
          <p:nvPr>
            <p:ph idx="1"/>
          </p:nvPr>
        </p:nvSpPr>
        <p:spPr/>
        <p:txBody>
          <a:bodyPr>
            <a:normAutofit/>
          </a:bodyPr>
          <a:lstStyle/>
          <a:p>
            <a:r>
              <a:rPr lang="en-US" sz="2400">
                <a:effectLst/>
                <a:latin typeface="Calibri" panose="020F0502020204030204" pitchFamily="34" charset="0"/>
                <a:ea typeface="Calibri" panose="020F0502020204030204" pitchFamily="34" charset="0"/>
                <a:cs typeface="Times New Roman" panose="02020603050405020304" pitchFamily="18" charset="0"/>
              </a:rPr>
              <a:t>The researcher </a:t>
            </a:r>
            <a:r>
              <a:rPr lang="en-US" sz="2400" dirty="0">
                <a:effectLst/>
                <a:latin typeface="Calibri" panose="020F0502020204030204" pitchFamily="34" charset="0"/>
                <a:ea typeface="Calibri" panose="020F0502020204030204" pitchFamily="34" charset="0"/>
                <a:cs typeface="Times New Roman" panose="02020603050405020304" pitchFamily="18" charset="0"/>
              </a:rPr>
              <a:t>finds that structure of the network has an important effect on the effect of adoption of a behavior. </a:t>
            </a:r>
          </a:p>
          <a:p>
            <a:r>
              <a:rPr lang="en-US" sz="2400" dirty="0">
                <a:effectLst/>
                <a:latin typeface="Calibri" panose="020F0502020204030204" pitchFamily="34" charset="0"/>
                <a:ea typeface="Calibri" panose="020F0502020204030204" pitchFamily="34" charset="0"/>
                <a:cs typeface="Times New Roman" panose="02020603050405020304" pitchFamily="18" charset="0"/>
              </a:rPr>
              <a:t>Six independent trials of the experiment were done</a:t>
            </a:r>
            <a:endParaRPr lang="en-US" sz="2400" dirty="0">
              <a:latin typeface="Calibri" panose="020F0502020204030204" pitchFamily="34" charset="0"/>
              <a:ea typeface="Calibri" panose="020F0502020204030204" pitchFamily="34" charset="0"/>
              <a:cs typeface="Times New Roman" panose="02020603050405020304" pitchFamily="18" charset="0"/>
            </a:endParaRPr>
          </a:p>
          <a:p>
            <a:r>
              <a:rPr lang="en-US" sz="2400" dirty="0">
                <a:latin typeface="Calibri" panose="020F0502020204030204" pitchFamily="34" charset="0"/>
                <a:ea typeface="Calibri" panose="020F0502020204030204" pitchFamily="34" charset="0"/>
                <a:cs typeface="Times New Roman" panose="02020603050405020304" pitchFamily="18" charset="0"/>
              </a:rPr>
              <a:t>A</a:t>
            </a:r>
            <a:r>
              <a:rPr lang="en-US" sz="2400" dirty="0">
                <a:effectLst/>
                <a:latin typeface="Calibri" panose="020F0502020204030204" pitchFamily="34" charset="0"/>
                <a:ea typeface="Calibri" panose="020F0502020204030204" pitchFamily="34" charset="0"/>
                <a:cs typeface="Times New Roman" panose="02020603050405020304" pitchFamily="18" charset="0"/>
              </a:rPr>
              <a:t>doption rate was quicker in clustered and bigger groups than in random circles. </a:t>
            </a:r>
          </a:p>
          <a:p>
            <a:r>
              <a:rPr lang="en-US" sz="2400" dirty="0">
                <a:latin typeface="Calibri" panose="020F0502020204030204" pitchFamily="34" charset="0"/>
                <a:ea typeface="Calibri" panose="020F0502020204030204" pitchFamily="34" charset="0"/>
                <a:cs typeface="Times New Roman" panose="02020603050405020304" pitchFamily="18" charset="0"/>
              </a:rPr>
              <a:t>R</a:t>
            </a:r>
            <a:r>
              <a:rPr lang="en-US" sz="2400" dirty="0">
                <a:effectLst/>
                <a:latin typeface="Calibri" panose="020F0502020204030204" pitchFamily="34" charset="0"/>
                <a:ea typeface="Calibri" panose="020F0502020204030204" pitchFamily="34" charset="0"/>
                <a:cs typeface="Times New Roman" panose="02020603050405020304" pitchFamily="18" charset="0"/>
              </a:rPr>
              <a:t>ate of adoption in clustered networks was four times faster than random circles.</a:t>
            </a:r>
          </a:p>
          <a:p>
            <a:r>
              <a:rPr lang="en-US" sz="2400" dirty="0">
                <a:effectLst/>
                <a:latin typeface="Calibri" panose="020F0502020204030204" pitchFamily="34" charset="0"/>
                <a:ea typeface="Calibri" panose="020F0502020204030204" pitchFamily="34" charset="0"/>
                <a:cs typeface="Times New Roman" panose="02020603050405020304" pitchFamily="18" charset="0"/>
              </a:rPr>
              <a:t>On an individual level the author finds that larger the number of health buddies each person had the faster they adopted a behavior. </a:t>
            </a:r>
          </a:p>
        </p:txBody>
      </p:sp>
    </p:spTree>
    <p:extLst>
      <p:ext uri="{BB962C8B-B14F-4D97-AF65-F5344CB8AC3E}">
        <p14:creationId xmlns:p14="http://schemas.microsoft.com/office/powerpoint/2010/main" val="25113945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6CA25-16CC-2CC9-B707-AB752DE54943}"/>
              </a:ext>
            </a:extLst>
          </p:cNvPr>
          <p:cNvSpPr>
            <a:spLocks noGrp="1"/>
          </p:cNvSpPr>
          <p:nvPr>
            <p:ph type="title"/>
          </p:nvPr>
        </p:nvSpPr>
        <p:spPr/>
        <p:txBody>
          <a:bodyPr/>
          <a:lstStyle/>
          <a:p>
            <a:r>
              <a:rPr lang="en-US" dirty="0"/>
              <a:t>Findings</a:t>
            </a:r>
            <a:endParaRPr lang="en-PK" dirty="0"/>
          </a:p>
        </p:txBody>
      </p:sp>
      <p:sp>
        <p:nvSpPr>
          <p:cNvPr id="3" name="Content Placeholder 2">
            <a:extLst>
              <a:ext uri="{FF2B5EF4-FFF2-40B4-BE49-F238E27FC236}">
                <a16:creationId xmlns:a16="http://schemas.microsoft.com/office/drawing/2014/main" id="{74562800-2233-DE92-3C13-F76C7CC9C366}"/>
              </a:ext>
            </a:extLst>
          </p:cNvPr>
          <p:cNvSpPr>
            <a:spLocks noGrp="1"/>
          </p:cNvSpPr>
          <p:nvPr>
            <p:ph idx="1"/>
          </p:nvPr>
        </p:nvSpPr>
        <p:spPr/>
        <p:txBody>
          <a:bodyPr/>
          <a:lstStyle/>
          <a:p>
            <a:r>
              <a:rPr lang="en-US" sz="2000" dirty="0">
                <a:effectLst/>
                <a:latin typeface="Calibri" panose="020F0502020204030204" pitchFamily="34" charset="0"/>
                <a:ea typeface="Calibri" panose="020F0502020204030204" pitchFamily="34" charset="0"/>
                <a:cs typeface="Times New Roman" panose="02020603050405020304" pitchFamily="18" charset="0"/>
              </a:rPr>
              <a:t>Social signals were given to the analyze the effect of signals on adoption. </a:t>
            </a:r>
            <a:endParaRPr lang="en-US" sz="2000" dirty="0">
              <a:latin typeface="Calibri" panose="020F0502020204030204" pitchFamily="34" charset="0"/>
              <a:ea typeface="Calibri" panose="020F0502020204030204" pitchFamily="34" charset="0"/>
              <a:cs typeface="Times New Roman" panose="02020603050405020304" pitchFamily="18" charset="0"/>
            </a:endParaRPr>
          </a:p>
          <a:p>
            <a:pPr lvl="1"/>
            <a:r>
              <a:rPr lang="en-US" sz="1600" dirty="0">
                <a:effectLst/>
                <a:latin typeface="Calibri" panose="020F0502020204030204" pitchFamily="34" charset="0"/>
                <a:ea typeface="Calibri" panose="020F0502020204030204" pitchFamily="34" charset="0"/>
                <a:cs typeface="Times New Roman" panose="02020603050405020304" pitchFamily="18" charset="0"/>
              </a:rPr>
              <a:t>states that after receiving a second signal adoption increased and after a third signal the adoption rate increased significantly but the marginal effect was small. </a:t>
            </a:r>
          </a:p>
          <a:p>
            <a:r>
              <a:rPr lang="en-US" sz="2000" dirty="0">
                <a:effectLst/>
                <a:latin typeface="Calibri" panose="020F0502020204030204" pitchFamily="34" charset="0"/>
                <a:ea typeface="Calibri" panose="020F0502020204030204" pitchFamily="34" charset="0"/>
                <a:cs typeface="Times New Roman" panose="02020603050405020304" pitchFamily="18" charset="0"/>
              </a:rPr>
              <a:t>The author finds that 15% of the individuals who received one signal made a return visit and 30% of the individuals who received two signals made a return visit and 40% of the individuals who received 3 signals made at least one return visit. </a:t>
            </a:r>
          </a:p>
          <a:p>
            <a:r>
              <a:rPr lang="en-US" sz="2000" dirty="0">
                <a:effectLst/>
                <a:latin typeface="Calibri" panose="020F0502020204030204" pitchFamily="34" charset="0"/>
                <a:ea typeface="Calibri" panose="020F0502020204030204" pitchFamily="34" charset="0"/>
                <a:cs typeface="Times New Roman" panose="02020603050405020304" pitchFamily="18" charset="0"/>
              </a:rPr>
              <a:t>A concern raised by the author is that adoption is also affected by the level of commitment towards a behavior, regarding this he states that behaviors come with a cost that be stated as opportunity cost such as time deprivation, physical pain etc.</a:t>
            </a:r>
            <a:endParaRPr lang="en-PK" sz="2000" dirty="0">
              <a:effectLst/>
              <a:latin typeface="Calibri" panose="020F0502020204030204" pitchFamily="34" charset="0"/>
              <a:ea typeface="Calibri" panose="020F0502020204030204" pitchFamily="34" charset="0"/>
              <a:cs typeface="Times New Roman" panose="02020603050405020304" pitchFamily="18" charset="0"/>
            </a:endParaRPr>
          </a:p>
          <a:p>
            <a:endParaRPr lang="en-PK" dirty="0"/>
          </a:p>
        </p:txBody>
      </p:sp>
    </p:spTree>
    <p:extLst>
      <p:ext uri="{BB962C8B-B14F-4D97-AF65-F5344CB8AC3E}">
        <p14:creationId xmlns:p14="http://schemas.microsoft.com/office/powerpoint/2010/main" val="23494147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113</TotalTime>
  <Words>688</Words>
  <Application>Microsoft Office PowerPoint</Application>
  <PresentationFormat>Widescreen</PresentationFormat>
  <Paragraphs>65</Paragraphs>
  <Slides>9</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Office Theme</vt:lpstr>
      <vt:lpstr>The Spread of Behavior in an Online Social Network Experiment</vt:lpstr>
      <vt:lpstr>PowerPoint Presentation</vt:lpstr>
      <vt:lpstr>PowerPoint Presentation</vt:lpstr>
      <vt:lpstr>PowerPoint Presentation</vt:lpstr>
      <vt:lpstr>PowerPoint Presentation</vt:lpstr>
      <vt:lpstr>Connection of each participant</vt:lpstr>
      <vt:lpstr>Experiments</vt:lpstr>
      <vt:lpstr>Findings</vt:lpstr>
      <vt:lpstr>Findings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Sheikh Usman</cp:lastModifiedBy>
  <cp:revision>6</cp:revision>
  <dcterms:created xsi:type="dcterms:W3CDTF">2022-05-08T15:01:29Z</dcterms:created>
  <dcterms:modified xsi:type="dcterms:W3CDTF">2022-05-08T18:51:11Z</dcterms:modified>
</cp:coreProperties>
</file>