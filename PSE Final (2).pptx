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83" r:id="rId2"/>
    <p:sldId id="257" r:id="rId3"/>
    <p:sldId id="277" r:id="rId4"/>
    <p:sldId id="258" r:id="rId5"/>
    <p:sldId id="260" r:id="rId6"/>
    <p:sldId id="279" r:id="rId7"/>
    <p:sldId id="280" r:id="rId8"/>
    <p:sldId id="281" r:id="rId9"/>
    <p:sldId id="272" r:id="rId10"/>
    <p:sldId id="273" r:id="rId11"/>
    <p:sldId id="274" r:id="rId12"/>
    <p:sldId id="275" r:id="rId13"/>
    <p:sldId id="259" r:id="rId14"/>
    <p:sldId id="262" r:id="rId15"/>
    <p:sldId id="267" r:id="rId16"/>
    <p:sldId id="268" r:id="rId17"/>
    <p:sldId id="269" r:id="rId18"/>
    <p:sldId id="270" r:id="rId19"/>
    <p:sldId id="271" r:id="rId20"/>
    <p:sldId id="265" r:id="rId21"/>
    <p:sldId id="266" r:id="rId22"/>
    <p:sldId id="276" r:id="rId23"/>
    <p:sldId id="282" r:id="rId24"/>
    <p:sldId id="26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80910" autoAdjust="0"/>
  </p:normalViewPr>
  <p:slideViewPr>
    <p:cSldViewPr snapToGrid="0">
      <p:cViewPr varScale="1">
        <p:scale>
          <a:sx n="54" d="100"/>
          <a:sy n="54" d="100"/>
        </p:scale>
        <p:origin x="14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114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4A3A-8BB1-4160-A359-E101D048C493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2EE69-4D33-4F27-A8BE-256E792A5C0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056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2CB87-134B-45FB-B663-AE2B8FE664D6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39869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wealthiest 10% of individuals earn about 63.7% of total market income, but they pay 86.9% of total personal income tax.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South Africa 2015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C60F2-E6C5-469C-866D-1F9778A3FC08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7171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the poorest households comparatively receive much more benefit from spending on education than their share of market income.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C60F2-E6C5-469C-866D-1F9778A3FC08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67100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the poorest households comparatively receive much more benefit from health spending than their share of market income.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C60F2-E6C5-469C-866D-1F9778A3FC08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80249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4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605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80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469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6690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244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2399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729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779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6557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496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34CA4EE-6D6D-431D-A702-88042E1DB86E}" type="datetimeFigureOut">
              <a:rPr lang="en-PK" smtClean="0"/>
              <a:t>05/09/2022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14D965-FA9A-471B-B05A-FB7E221FFD71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54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89EC2A-0162-2748-CE5F-DECD57AC3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Effect of Taxation on Income inequality and Public Welfare</a:t>
            </a:r>
            <a:endParaRPr lang="en-PK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328BA8-AEA0-C45E-27E0-607A5DFA4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1346" y="4325112"/>
            <a:ext cx="2769008" cy="20258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Mirza Kashif</a:t>
            </a:r>
          </a:p>
          <a:p>
            <a:r>
              <a:rPr lang="en-US" dirty="0"/>
              <a:t>Abdul Rehman</a:t>
            </a:r>
          </a:p>
          <a:p>
            <a:r>
              <a:rPr lang="en-US" dirty="0" err="1"/>
              <a:t>Jehanzeb</a:t>
            </a:r>
            <a:r>
              <a:rPr lang="en-US" dirty="0"/>
              <a:t> Shahzad</a:t>
            </a:r>
          </a:p>
          <a:p>
            <a:r>
              <a:rPr lang="en-US" dirty="0"/>
              <a:t>Muhammad Usman</a:t>
            </a:r>
          </a:p>
          <a:p>
            <a:r>
              <a:rPr lang="en-US" dirty="0"/>
              <a:t>Zain Khan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7471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85E4-097A-6F40-4F21-2E8D2BEB5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8860-418F-FCA6-A596-2B3103F05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Progressive income taxes, when considered separately, positively impact income distribution.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Contributing to decreasing inequality, and this effect is more pronounced the higher the degree of progressivity and the higher the share of GDP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In terms of the magnitude of the impact, the effects of taxes on income distribution changes tend to be of an equivalent scale to those for public expenditures. </a:t>
            </a:r>
          </a:p>
        </p:txBody>
      </p:sp>
    </p:spTree>
    <p:extLst>
      <p:ext uri="{BB962C8B-B14F-4D97-AF65-F5344CB8AC3E}">
        <p14:creationId xmlns:p14="http://schemas.microsoft.com/office/powerpoint/2010/main" val="88730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351E-AAF3-BCAD-6D75-F028285C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05BC-91A3-8783-5450-66CD9190F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Income inequality has increased sharply over the past 40 years.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Taxation with negative net tax rates for the poorest households can be used to achieve two goals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providing a minimal level of consumption for the poor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reducing income disparity between different sectors of the population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The ultimate policy instrument for reducing income disparity is income taxation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(Henry &amp; </a:t>
            </a:r>
            <a:r>
              <a:rPr lang="en-US" sz="2400" b="0" i="0" dirty="0" err="1">
                <a:solidFill>
                  <a:srgbClr val="000000"/>
                </a:solidFill>
                <a:effectLst/>
              </a:rPr>
              <a:t>Maniquet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 2021)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AE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Full income equality is not a legitimate objective (</a:t>
            </a:r>
            <a:r>
              <a:rPr lang="en-US" sz="2400" dirty="0" err="1"/>
              <a:t>Mirrlees</a:t>
            </a:r>
            <a:r>
              <a:rPr lang="en-US" sz="2400" dirty="0"/>
              <a:t>, 1971)</a:t>
            </a: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272974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1084-C845-5910-A059-6E469A88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6A83-ED47-8314-7273-1DE5173BF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Most of the empirical studies on tax incidence are country-specific studies relying on microsimulation models and computable general equilibrium models.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 general conclusion reached in this literature is that the redistributive effects of taxes are weak, especially so for developing countries. (Bird and </a:t>
            </a:r>
            <a:r>
              <a:rPr lang="en-US" dirty="0" err="1"/>
              <a:t>Zolt</a:t>
            </a:r>
            <a:r>
              <a:rPr lang="en-US" dirty="0"/>
              <a:t>, 2005; </a:t>
            </a:r>
            <a:r>
              <a:rPr lang="en-US" dirty="0" err="1"/>
              <a:t>Harberger</a:t>
            </a:r>
            <a:r>
              <a:rPr lang="en-US" dirty="0"/>
              <a:t>, 2006; and Martinez-Vazquez, 2008).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While progressivity reduces observed inequality in reported gross and net income, it has a significantly smaller impact on “true inequality. (Duncan and </a:t>
            </a:r>
            <a:r>
              <a:rPr lang="en-US" dirty="0" err="1"/>
              <a:t>Sabirianova</a:t>
            </a:r>
            <a:r>
              <a:rPr lang="en-US" dirty="0"/>
              <a:t> Peter, 2008)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321 billion cash benefits to households with low income in UK (07-08)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effectLst/>
                <a:ea typeface="Calibri" panose="020F0502020204030204" pitchFamily="34" charset="0"/>
              </a:rPr>
              <a:t>Higgins et. Al 2016 claimed that 25% Poor paid more taxes than they received transfers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16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B3AB-944E-20FE-BE09-3E5888B4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9D433-1E20-44AF-3B70-8ED4BF59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effectLst/>
                <a:ea typeface="Calibri" panose="020F0502020204030204" pitchFamily="34" charset="0"/>
              </a:rPr>
              <a:t>Cyan et. Al 2016 Pakistan showed that groups with lower labor force participation paid more taxes as compared to those with higher participation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>
                <a:effectLst/>
                <a:ea typeface="Calibri" panose="020F0502020204030204" pitchFamily="34" charset="0"/>
              </a:rPr>
              <a:t>Quatrebarbes</a:t>
            </a:r>
            <a:r>
              <a:rPr lang="en-US" dirty="0">
                <a:effectLst/>
                <a:ea typeface="Calibri" panose="020F0502020204030204" pitchFamily="34" charset="0"/>
              </a:rPr>
              <a:t> 2016 claimed VAT should vary in different economic sectors expect on staple food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Inequalities in income reflect differences in worker productivity which ultimately leads to income inequality (</a:t>
            </a:r>
            <a:r>
              <a:rPr lang="en-US" dirty="0" err="1"/>
              <a:t>Mirrlees</a:t>
            </a:r>
            <a:r>
              <a:rPr lang="en-US" dirty="0"/>
              <a:t>, et al, 2001)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Seemingly equivalent workers have significant income disparities too (</a:t>
            </a:r>
            <a:r>
              <a:rPr lang="en-US" dirty="0" err="1"/>
              <a:t>Kerney</a:t>
            </a:r>
            <a:r>
              <a:rPr lang="en-US" dirty="0"/>
              <a:t>, et al, 2008)</a:t>
            </a:r>
            <a:endParaRPr lang="en-AE" b="1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24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497A-D575-087D-5280-DEA32315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90FB2-6B23-E7CD-0885-226935A8B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Carried out a survey with 21 participants</a:t>
            </a:r>
          </a:p>
          <a:p>
            <a:endParaRPr lang="en-US" dirty="0"/>
          </a:p>
          <a:p>
            <a:r>
              <a:rPr lang="en-US" dirty="0"/>
              <a:t>Peer reviewed articles finding for our research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154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4206-58BD-5E37-A57B-11C8580C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14188-5232-1D25-079E-82DC336B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Taxes and transfers have a significant redistributive impact</a:t>
            </a:r>
          </a:p>
          <a:p>
            <a:endParaRPr lang="en-US" dirty="0"/>
          </a:p>
          <a:p>
            <a:r>
              <a:rPr lang="en-US" dirty="0"/>
              <a:t>Inequality in income after taxes and transfers, measured by Gini index, was 25% lower than for income before taxes and transfers on average in the OECD area (</a:t>
            </a:r>
            <a:r>
              <a:rPr lang="en-US" dirty="0" err="1"/>
              <a:t>Joumard</a:t>
            </a:r>
            <a:r>
              <a:rPr lang="en-US" dirty="0"/>
              <a:t>, </a:t>
            </a:r>
            <a:r>
              <a:rPr lang="en-US" dirty="0" err="1"/>
              <a:t>Pisu</a:t>
            </a:r>
            <a:r>
              <a:rPr lang="en-US" dirty="0"/>
              <a:t> &amp; Bloch, 2012)</a:t>
            </a:r>
          </a:p>
          <a:p>
            <a:endParaRPr lang="en-US" dirty="0"/>
          </a:p>
          <a:p>
            <a:r>
              <a:rPr lang="en-US" dirty="0"/>
              <a:t>For the same period, poverty measured after taxes and transfers was 55% lower than before taxes and transfers for the OECD (</a:t>
            </a:r>
            <a:r>
              <a:rPr lang="en-US" dirty="0" err="1"/>
              <a:t>Joumard</a:t>
            </a:r>
            <a:r>
              <a:rPr lang="en-US" dirty="0"/>
              <a:t>, </a:t>
            </a:r>
            <a:r>
              <a:rPr lang="en-US" dirty="0" err="1"/>
              <a:t>Pisu</a:t>
            </a:r>
            <a:r>
              <a:rPr lang="en-US" dirty="0"/>
              <a:t> &amp; Bloch, 2012)</a:t>
            </a:r>
          </a:p>
          <a:p>
            <a:endParaRPr lang="en-US" dirty="0"/>
          </a:p>
          <a:p>
            <a:r>
              <a:rPr lang="en-US" dirty="0"/>
              <a:t>Cash transfers reduce income dispersion more than taxes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9381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F0D1-9C11-8E6A-7D9F-0AEAA94E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Tax Approach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C92E4-4E76-7AEB-8A6A-2F762B93C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approach to optimal taxation is based on several methodological assumptions:</a:t>
            </a:r>
          </a:p>
          <a:p>
            <a:endParaRPr lang="en-US" dirty="0"/>
          </a:p>
          <a:p>
            <a:pPr lvl="1"/>
            <a:r>
              <a:rPr lang="en-US" dirty="0"/>
              <a:t>government must raise a certain amount of revenue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limited in the types of tax instruments it can use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decisions must be consistent with individual and firm optimization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makes its decisions in order to maximize a "social welfare function"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1039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inequality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Inequality is the state of not being equal especially in rights, opportunities and status </a:t>
            </a:r>
          </a:p>
          <a:p>
            <a:r>
              <a:rPr lang="en-US" dirty="0"/>
              <a:t>4 types of inequality </a:t>
            </a:r>
          </a:p>
          <a:p>
            <a:pPr lvl="1"/>
            <a:r>
              <a:rPr lang="en-US" dirty="0"/>
              <a:t>inequality of outcome</a:t>
            </a:r>
          </a:p>
          <a:p>
            <a:pPr lvl="1"/>
            <a:r>
              <a:rPr lang="en-US" dirty="0"/>
              <a:t>inequality of wealth</a:t>
            </a:r>
          </a:p>
          <a:p>
            <a:pPr lvl="1"/>
            <a:r>
              <a:rPr lang="en-US" dirty="0"/>
              <a:t>inequality over a particular individual’s lifetime </a:t>
            </a:r>
          </a:p>
          <a:p>
            <a:pPr lvl="1"/>
            <a:r>
              <a:rPr lang="en-US" dirty="0"/>
              <a:t>income inequality of opportunity</a:t>
            </a:r>
          </a:p>
          <a:p>
            <a:r>
              <a:rPr lang="en-US" dirty="0"/>
              <a:t>To quantify income inequality, economists use Gini index/Lorenz curve</a:t>
            </a:r>
          </a:p>
          <a:p>
            <a:r>
              <a:rPr lang="en-US" dirty="0"/>
              <a:t>0.55 represents a high level of inequality, 0,45-0.55 represents middle high, 0.35-0.45 represents middle and a value lower than 0.35 represents a low level of inequality</a:t>
            </a:r>
          </a:p>
        </p:txBody>
      </p:sp>
    </p:spTree>
    <p:extLst>
      <p:ext uri="{BB962C8B-B14F-4D97-AF65-F5344CB8AC3E}">
        <p14:creationId xmlns:p14="http://schemas.microsoft.com/office/powerpoint/2010/main" val="337557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Incompetence of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between a developed nation and developing nation is the efficacy of government – Macroeconomic laws</a:t>
            </a:r>
          </a:p>
          <a:p>
            <a:r>
              <a:rPr lang="en-US" dirty="0"/>
              <a:t>drop their parental role perhaps because they lack the financial resources to do so (</a:t>
            </a:r>
            <a:r>
              <a:rPr lang="en-US" dirty="0" err="1"/>
              <a:t>Ibadin</a:t>
            </a:r>
            <a:r>
              <a:rPr lang="en-US" dirty="0"/>
              <a:t> &amp; </a:t>
            </a:r>
            <a:r>
              <a:rPr lang="en-US" dirty="0" err="1"/>
              <a:t>Oladipupo</a:t>
            </a:r>
            <a:r>
              <a:rPr lang="en-US" dirty="0"/>
              <a:t>, 2015)</a:t>
            </a:r>
          </a:p>
          <a:p>
            <a:r>
              <a:rPr lang="en-US" dirty="0"/>
              <a:t>provision of merit and de merit goods, a stable exchange rate, economic growth, income equality, less unemployment and fairness</a:t>
            </a:r>
          </a:p>
          <a:p>
            <a:r>
              <a:rPr lang="en-US" dirty="0"/>
              <a:t>Source of revenue - Taxes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1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Payments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Governments have been adamant in improving social welfare</a:t>
            </a:r>
          </a:p>
          <a:p>
            <a:r>
              <a:rPr lang="en-US" dirty="0"/>
              <a:t>Transfer payments are detrimental to income disparity - impossible to sustain so far into existence</a:t>
            </a:r>
          </a:p>
          <a:p>
            <a:r>
              <a:rPr lang="en-US" dirty="0"/>
              <a:t>Rewarding people for incompetence in a capitalist society</a:t>
            </a:r>
          </a:p>
          <a:p>
            <a:r>
              <a:rPr lang="en-US" dirty="0"/>
              <a:t>Prolong the inevitable – income disparity </a:t>
            </a:r>
          </a:p>
          <a:p>
            <a:r>
              <a:rPr lang="en-US" dirty="0"/>
              <a:t>Transfer payments yield no return in the long run</a:t>
            </a:r>
          </a:p>
          <a:p>
            <a:r>
              <a:rPr lang="en-US" dirty="0"/>
              <a:t>An efficient tax system – only solution to disparity- Action Aid (2013) </a:t>
            </a:r>
          </a:p>
        </p:txBody>
      </p:sp>
    </p:spTree>
    <p:extLst>
      <p:ext uri="{BB962C8B-B14F-4D97-AF65-F5344CB8AC3E}">
        <p14:creationId xmlns:p14="http://schemas.microsoft.com/office/powerpoint/2010/main" val="2251532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Value Added Tax</a:t>
            </a:r>
            <a:r>
              <a:rPr lang="en-US" dirty="0"/>
              <a:t> increases income inequality, which is the Gini coefficient so it is positively correlated with income inequality</a:t>
            </a:r>
          </a:p>
          <a:p>
            <a:r>
              <a:rPr lang="en-US" dirty="0"/>
              <a:t>Indirect taxes are regressive - excluding a particular group is impossible</a:t>
            </a:r>
          </a:p>
          <a:p>
            <a:r>
              <a:rPr lang="en-US" b="1" dirty="0"/>
              <a:t>Petroleum Profit Tax (PPT) </a:t>
            </a:r>
            <a:r>
              <a:rPr lang="en-US" dirty="0"/>
              <a:t>increases income inequality</a:t>
            </a:r>
          </a:p>
          <a:p>
            <a:r>
              <a:rPr lang="en-US" dirty="0"/>
              <a:t>Taxes on necessities such as petrol always end up in cost push inflation</a:t>
            </a:r>
          </a:p>
          <a:p>
            <a:r>
              <a:rPr lang="en-US" b="1" dirty="0"/>
              <a:t>Corporate Income Taxes </a:t>
            </a:r>
            <a:r>
              <a:rPr lang="en-US" dirty="0"/>
              <a:t>in fact decrease income disparity</a:t>
            </a:r>
          </a:p>
          <a:p>
            <a:r>
              <a:rPr lang="en-US" dirty="0"/>
              <a:t>Easy to exclude certain groups</a:t>
            </a:r>
          </a:p>
        </p:txBody>
      </p:sp>
    </p:spTree>
    <p:extLst>
      <p:ext uri="{BB962C8B-B14F-4D97-AF65-F5344CB8AC3E}">
        <p14:creationId xmlns:p14="http://schemas.microsoft.com/office/powerpoint/2010/main" val="912039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9CB7-7740-1277-5CDA-29795A29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interaction of taxes and public spending and income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24546-DBEB-5468-8D70-C931B19EF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Tax-benefit systems have become more redistributive since the 1980s. </a:t>
            </a:r>
          </a:p>
          <a:p>
            <a:r>
              <a:rPr lang="en-US" dirty="0"/>
              <a:t>The trend has not been large enough to offset the increasing trend in market-income inequality which grew by twice as much as redistribution. </a:t>
            </a:r>
          </a:p>
          <a:p>
            <a:r>
              <a:rPr lang="en-US" dirty="0"/>
              <a:t>In terms of redistribution strength, direct “benefits” had a much stronger impact on redistribution than personal income taxes and social security contributions, despite the much larger relative size of these taxes in GDP.</a:t>
            </a:r>
          </a:p>
        </p:txBody>
      </p:sp>
    </p:spTree>
    <p:extLst>
      <p:ext uri="{BB962C8B-B14F-4D97-AF65-F5344CB8AC3E}">
        <p14:creationId xmlns:p14="http://schemas.microsoft.com/office/powerpoint/2010/main" val="3257677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4BD78C-E808-B5F8-966F-3CA7ACE86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431"/>
            <a:ext cx="12191999" cy="679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46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555F-7015-E8CB-8B3A-BF1C9253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Progressive Taxation</a:t>
            </a:r>
            <a:endParaRPr lang="en-PK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0064-F4A4-4C63-298C-54910961F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progressive tax is one where individuals with higher taxable incomes pay progressively higher proportions of their income in tax </a:t>
            </a: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(Woolard, Metz, </a:t>
            </a:r>
            <a:r>
              <a:rPr lang="en-US" sz="180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Inchauste</a:t>
            </a: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Lustig, </a:t>
            </a:r>
            <a:r>
              <a:rPr lang="en-US" sz="180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Maboshe</a:t>
            </a: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&amp; </a:t>
            </a:r>
            <a:r>
              <a:rPr lang="en-US" sz="180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Purfield</a:t>
            </a: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2015)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en-PK" dirty="0"/>
          </a:p>
        </p:txBody>
      </p:sp>
      <p:pic>
        <p:nvPicPr>
          <p:cNvPr id="4" name="Picture 3" descr="progressive-tax">
            <a:extLst>
              <a:ext uri="{FF2B5EF4-FFF2-40B4-BE49-F238E27FC236}">
                <a16:creationId xmlns:a16="http://schemas.microsoft.com/office/drawing/2014/main" id="{4C06840D-94C9-D7FA-8008-77307177D2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281" y="2328378"/>
            <a:ext cx="7317438" cy="45296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3995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43ED1-D5E8-94B1-345E-53AAEB41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Progressive Taxation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AE3BB-180E-02AA-23B4-693AA7FE0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rogressive taxation leads to social justice.</a:t>
            </a: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Oishi et al. (2018) analyzed the effect of progressive taxation on income inequality and happiness of Americans</a:t>
            </a:r>
          </a:p>
          <a:p>
            <a:pPr marL="0" indent="0"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Their results indicated that income inequality was significantly smaller in the periods when the income tax was more progressive. </a:t>
            </a:r>
          </a:p>
          <a:p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rogressive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axation acts as automatic stabilizer</a:t>
            </a:r>
            <a:endParaRPr lang="en-P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BEC9F-30F5-5E69-BC9D-8BAE848FC9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Tax Evasion</a:t>
            </a:r>
          </a:p>
          <a:p>
            <a:pPr lvl="1"/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evasion may increase actual disposable income of the rich and therefore increase inequality in actual net income.</a:t>
            </a:r>
            <a:endParaRPr lang="en-P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 earlier studies, that the evasion effect is much stronger in the high-income bracket of the income distribution (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Slemrod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1994; Feldstein, 1995). </a:t>
            </a: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rich tend to be more sensitive to changes in the tax rates because they are better able to hide their income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02752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D71B-6C86-378B-0C5D-B7FCA888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Distribution of market income and personal income tax contributions</a:t>
            </a:r>
            <a:endParaRPr lang="en-PK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8023-C80B-C185-0920-C2E0765CF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F15BA-9B2E-9018-94FE-75B0DE060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967" y="1443789"/>
            <a:ext cx="6719370" cy="5414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9078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5A3D-CCAE-3FB9-B75C-16BE8AB0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Incidence of education spending </a:t>
            </a:r>
            <a:endParaRPr lang="en-PK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64BFAA-A818-DAA3-B46C-224ECD586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5726" y="1846263"/>
            <a:ext cx="5500873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6106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165F-7120-EA06-D947-B5D9ECFE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Incidence of health spending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11021-F5E4-BB4E-129C-F3FE3EDD1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2ADA6-D27C-5C53-1605-134A61D9D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31" y="1825625"/>
            <a:ext cx="10515600" cy="4725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017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1FBC1-BEC5-6CAD-111F-7944B6AA1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424594"/>
            <a:ext cx="10197830" cy="5763552"/>
          </a:xfrm>
        </p:spPr>
      </p:pic>
    </p:spTree>
    <p:extLst>
      <p:ext uri="{BB962C8B-B14F-4D97-AF65-F5344CB8AC3E}">
        <p14:creationId xmlns:p14="http://schemas.microsoft.com/office/powerpoint/2010/main" val="3819010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0282B-8EE0-A43F-74CC-F443500C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79AE1-A53E-3EC0-5633-6701E4FA4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Cash benefit gives 44% of gross income to the low income earners and 1% to high income earners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GST negatively impact the purchasing power of people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004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</a:t>
            </a:r>
          </a:p>
        </p:txBody>
      </p:sp>
      <p:pic>
        <p:nvPicPr>
          <p:cNvPr id="4" name="Content Placeholder 3" descr="C:\Users\z\AppData\Local\Microsoft\Windows\INetCache\Content.MSO\B1C6BD07.tmp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2442" y="1846263"/>
            <a:ext cx="9547441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0016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816A-6AB6-5329-FAC4-078DD03FF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6146" name="Picture 2" descr="Forms response chart. Question title: Do you think the financial gap between the rich and poor is continuing to get wider?. Number of responses: 21 responses.">
            <a:extLst>
              <a:ext uri="{FF2B5EF4-FFF2-40B4-BE49-F238E27FC236}">
                <a16:creationId xmlns:a16="http://schemas.microsoft.com/office/drawing/2014/main" id="{86F1099B-23E2-A48B-2082-E32A41CA52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2442" y="1846263"/>
            <a:ext cx="954744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057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33059-5175-4DE8-B694-A7718EF7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0457-2DA9-2282-6192-4E739E194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VAT one of the main source of revenue for Government</a:t>
            </a:r>
          </a:p>
          <a:p>
            <a:r>
              <a:rPr lang="en-US" dirty="0"/>
              <a:t>Taxes act as moderator at times of instability, controls inequality and welfare</a:t>
            </a:r>
          </a:p>
          <a:p>
            <a:r>
              <a:rPr lang="en-US" dirty="0"/>
              <a:t>GST differs among developed and developing countries to better understand the tax reforms and their impacts more research needed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existing literature supports the argument that progressive taxation policy has considerable role in reducing income inequalities and boosting overall public welfare. </a:t>
            </a:r>
            <a:endParaRPr lang="en-PK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75877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1237</Words>
  <Application>Microsoft Office PowerPoint</Application>
  <PresentationFormat>Widescreen</PresentationFormat>
  <Paragraphs>125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Calibri Light</vt:lpstr>
      <vt:lpstr>Courier New</vt:lpstr>
      <vt:lpstr>Times New Roman</vt:lpstr>
      <vt:lpstr>Retrospect</vt:lpstr>
      <vt:lpstr>Effect of Taxation on Income inequality and Public Welfare</vt:lpstr>
      <vt:lpstr>Introduction</vt:lpstr>
      <vt:lpstr>Introduction</vt:lpstr>
      <vt:lpstr>Literature Review</vt:lpstr>
      <vt:lpstr>Literature Review</vt:lpstr>
      <vt:lpstr>Methodology</vt:lpstr>
      <vt:lpstr>Findings</vt:lpstr>
      <vt:lpstr>Optimal Tax Approach</vt:lpstr>
      <vt:lpstr>Income inequality</vt:lpstr>
      <vt:lpstr>Incompetence of Government</vt:lpstr>
      <vt:lpstr>Transfer Payments </vt:lpstr>
      <vt:lpstr>Findings </vt:lpstr>
      <vt:lpstr>The interaction of taxes and public spending and income distribution</vt:lpstr>
      <vt:lpstr>PowerPoint Presentation</vt:lpstr>
      <vt:lpstr>Progressive Taxation</vt:lpstr>
      <vt:lpstr>Progressive Taxation</vt:lpstr>
      <vt:lpstr>Distribution of market income and personal income tax contributions</vt:lpstr>
      <vt:lpstr>Incidence of education spending </vt:lpstr>
      <vt:lpstr>Incidence of health spending </vt:lpstr>
      <vt:lpstr>PowerPoint Presentation</vt:lpstr>
      <vt:lpstr>Results</vt:lpstr>
      <vt:lpstr>Survey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Sheikh Usman</dc:creator>
  <cp:lastModifiedBy>HP</cp:lastModifiedBy>
  <cp:revision>6</cp:revision>
  <dcterms:created xsi:type="dcterms:W3CDTF">2022-05-08T19:46:31Z</dcterms:created>
  <dcterms:modified xsi:type="dcterms:W3CDTF">2022-05-08T20:17:21Z</dcterms:modified>
</cp:coreProperties>
</file>