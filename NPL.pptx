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12"/>
  </p:notesMasterIdLst>
  <p:sldIdLst>
    <p:sldId id="270" r:id="rId2"/>
    <p:sldId id="267" r:id="rId3"/>
    <p:sldId id="268" r:id="rId4"/>
    <p:sldId id="269" r:id="rId5"/>
    <p:sldId id="257" r:id="rId6"/>
    <p:sldId id="261" r:id="rId7"/>
    <p:sldId id="262" r:id="rId8"/>
    <p:sldId id="258" r:id="rId9"/>
    <p:sldId id="264"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813" autoAdjust="0"/>
  </p:normalViewPr>
  <p:slideViewPr>
    <p:cSldViewPr snapToGrid="0">
      <p:cViewPr varScale="1">
        <p:scale>
          <a:sx n="78" d="100"/>
          <a:sy n="78" d="100"/>
        </p:scale>
        <p:origin x="183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B2F37E-F38A-460F-AC3E-EE93CF283F79}" type="datetimeFigureOut">
              <a:rPr lang="x-none" smtClean="0"/>
              <a:t>3/24/2022</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122BB1-BDE0-49D0-9E4D-05072B37ACDA}" type="slidenum">
              <a:rPr lang="x-none" smtClean="0"/>
              <a:t>‹#›</a:t>
            </a:fld>
            <a:endParaRPr lang="x-none"/>
          </a:p>
        </p:txBody>
      </p:sp>
    </p:spTree>
    <p:extLst>
      <p:ext uri="{BB962C8B-B14F-4D97-AF65-F5344CB8AC3E}">
        <p14:creationId xmlns:p14="http://schemas.microsoft.com/office/powerpoint/2010/main" val="1188425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non performing loan is any loan in which interest and principle payments are more than 90 days overdue. (IMF, 2005). </a:t>
            </a:r>
          </a:p>
          <a:p>
            <a:r>
              <a:rPr lang="en-US" dirty="0" smtClean="0"/>
              <a:t>Nonperforming loans are of immense importance as they define the asset quality, credit risk of the Bank.</a:t>
            </a:r>
          </a:p>
          <a:p>
            <a:r>
              <a:rPr lang="en-US" dirty="0" smtClean="0"/>
              <a:t>The main function of banks is credit creation through mobilization of deposits.</a:t>
            </a:r>
          </a:p>
          <a:p>
            <a:endParaRPr lang="en-US" dirty="0"/>
          </a:p>
        </p:txBody>
      </p:sp>
      <p:sp>
        <p:nvSpPr>
          <p:cNvPr id="4" name="Slide Number Placeholder 3"/>
          <p:cNvSpPr>
            <a:spLocks noGrp="1"/>
          </p:cNvSpPr>
          <p:nvPr>
            <p:ph type="sldNum" sz="quarter" idx="10"/>
          </p:nvPr>
        </p:nvSpPr>
        <p:spPr/>
        <p:txBody>
          <a:bodyPr/>
          <a:lstStyle/>
          <a:p>
            <a:fld id="{DE122BB1-BDE0-49D0-9E4D-05072B37ACDA}" type="slidenum">
              <a:rPr lang="x-none" smtClean="0"/>
              <a:t>2</a:t>
            </a:fld>
            <a:endParaRPr lang="x-none"/>
          </a:p>
        </p:txBody>
      </p:sp>
    </p:spTree>
    <p:extLst>
      <p:ext uri="{BB962C8B-B14F-4D97-AF65-F5344CB8AC3E}">
        <p14:creationId xmlns:p14="http://schemas.microsoft.com/office/powerpoint/2010/main" val="1911871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Non Performing Loans increase the banks would not be able to give out loans which would ultimately hinder economic growth.</a:t>
            </a:r>
          </a:p>
          <a:p>
            <a:r>
              <a:rPr lang="en-US" dirty="0" smtClean="0"/>
              <a:t>Economic growth cannot prosper without strong financial sector. </a:t>
            </a:r>
          </a:p>
          <a:p>
            <a:endParaRPr lang="en-US" dirty="0"/>
          </a:p>
        </p:txBody>
      </p:sp>
      <p:sp>
        <p:nvSpPr>
          <p:cNvPr id="4" name="Slide Number Placeholder 3"/>
          <p:cNvSpPr>
            <a:spLocks noGrp="1"/>
          </p:cNvSpPr>
          <p:nvPr>
            <p:ph type="sldNum" sz="quarter" idx="10"/>
          </p:nvPr>
        </p:nvSpPr>
        <p:spPr/>
        <p:txBody>
          <a:bodyPr/>
          <a:lstStyle/>
          <a:p>
            <a:fld id="{DE122BB1-BDE0-49D0-9E4D-05072B37ACDA}" type="slidenum">
              <a:rPr lang="x-none" smtClean="0"/>
              <a:t>3</a:t>
            </a:fld>
            <a:endParaRPr lang="x-none"/>
          </a:p>
        </p:txBody>
      </p:sp>
    </p:spTree>
    <p:extLst>
      <p:ext uri="{BB962C8B-B14F-4D97-AF65-F5344CB8AC3E}">
        <p14:creationId xmlns:p14="http://schemas.microsoft.com/office/powerpoint/2010/main" val="3167475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study based on NPL published in 1991 by T. Clair which came a conclusion that rapid credit growth can cause the credit quality to deteriorate which can eventually cause banks to declare bankruptcy.</a:t>
            </a:r>
          </a:p>
          <a:p>
            <a:r>
              <a:rPr lang="en-US" dirty="0" smtClean="0"/>
              <a:t>According to a research done in Pakistan in 2012 it was found that interest rate; exchange rate, unemployment, inflation, and energy crisis have positive association with NPLs while GDP growth has negative relationship with NPLs.</a:t>
            </a:r>
          </a:p>
          <a:p>
            <a:endParaRPr lang="en-US" dirty="0"/>
          </a:p>
        </p:txBody>
      </p:sp>
      <p:sp>
        <p:nvSpPr>
          <p:cNvPr id="4" name="Slide Number Placeholder 3"/>
          <p:cNvSpPr>
            <a:spLocks noGrp="1"/>
          </p:cNvSpPr>
          <p:nvPr>
            <p:ph type="sldNum" sz="quarter" idx="10"/>
          </p:nvPr>
        </p:nvSpPr>
        <p:spPr/>
        <p:txBody>
          <a:bodyPr/>
          <a:lstStyle/>
          <a:p>
            <a:fld id="{DE122BB1-BDE0-49D0-9E4D-05072B37ACDA}" type="slidenum">
              <a:rPr lang="x-none" smtClean="0"/>
              <a:t>4</a:t>
            </a:fld>
            <a:endParaRPr lang="x-none"/>
          </a:p>
        </p:txBody>
      </p:sp>
    </p:spTree>
    <p:extLst>
      <p:ext uri="{BB962C8B-B14F-4D97-AF65-F5344CB8AC3E}">
        <p14:creationId xmlns:p14="http://schemas.microsoft.com/office/powerpoint/2010/main" val="3542449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GDP</a:t>
            </a:r>
            <a:r>
              <a:rPr lang="en-US" sz="1200" b="1"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is the total monetary or market value of all the finished goods and services produced within a country</a:t>
            </a:r>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Weighted </a:t>
            </a:r>
            <a:r>
              <a:rPr lang="en-US" sz="1200" b="1" i="0" kern="1200" dirty="0">
                <a:solidFill>
                  <a:schemeClr val="tx1"/>
                </a:solidFill>
                <a:effectLst/>
                <a:latin typeface="+mn-lt"/>
                <a:ea typeface="+mn-ea"/>
                <a:cs typeface="+mn-cs"/>
              </a:rPr>
              <a:t>average interest </a:t>
            </a:r>
            <a:r>
              <a:rPr lang="en-US" sz="1200" b="0" i="0" kern="1200" dirty="0">
                <a:solidFill>
                  <a:schemeClr val="tx1"/>
                </a:solidFill>
                <a:effectLst/>
                <a:latin typeface="+mn-lt"/>
                <a:ea typeface="+mn-ea"/>
                <a:cs typeface="+mn-cs"/>
              </a:rPr>
              <a:t>rate is an average that is adjusted to reflect the contribution of each loan to the total debt. The weighted average multiplies each loan's interest rate by the loan balance and divides the sum by the total loan balance</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Maturity time period </a:t>
            </a:r>
            <a:r>
              <a:rPr lang="en-US" sz="1200" b="0" i="0" kern="1200" dirty="0" smtClean="0">
                <a:solidFill>
                  <a:schemeClr val="tx1"/>
                </a:solidFill>
                <a:effectLst/>
                <a:latin typeface="+mn-lt"/>
                <a:ea typeface="+mn-ea"/>
                <a:cs typeface="+mn-cs"/>
              </a:rPr>
              <a:t>refers to the period</a:t>
            </a:r>
            <a:r>
              <a:rPr lang="en-US" sz="1200" b="0" i="0" kern="1200" baseline="0" dirty="0" smtClean="0">
                <a:solidFill>
                  <a:schemeClr val="tx1"/>
                </a:solidFill>
                <a:effectLst/>
                <a:latin typeface="+mn-lt"/>
                <a:ea typeface="+mn-ea"/>
                <a:cs typeface="+mn-cs"/>
              </a:rPr>
              <a:t> in</a:t>
            </a:r>
            <a:r>
              <a:rPr lang="en-US" sz="1200" b="0" i="0" kern="1200" dirty="0" smtClean="0">
                <a:solidFill>
                  <a:schemeClr val="tx1"/>
                </a:solidFill>
                <a:effectLst/>
                <a:latin typeface="+mn-lt"/>
                <a:ea typeface="+mn-ea"/>
                <a:cs typeface="+mn-cs"/>
              </a:rPr>
              <a:t> which a borrower's final loan payment is due.</a:t>
            </a:r>
          </a:p>
          <a:p>
            <a:r>
              <a:rPr lang="en-US" b="1" dirty="0" smtClean="0"/>
              <a:t>CDR</a:t>
            </a:r>
            <a:r>
              <a:rPr lang="en-US" b="1" baseline="0" dirty="0" smtClean="0"/>
              <a:t> </a:t>
            </a:r>
            <a:r>
              <a:rPr lang="en-US" baseline="0" dirty="0" smtClean="0"/>
              <a:t>is t</a:t>
            </a:r>
            <a:r>
              <a:rPr lang="en-US" dirty="0" smtClean="0"/>
              <a:t>he ratio of how much a bank lends out of it’s deposits</a:t>
            </a:r>
          </a:p>
          <a:p>
            <a:r>
              <a:rPr lang="en-US" sz="1200" b="1" i="0" kern="1200" dirty="0" smtClean="0">
                <a:solidFill>
                  <a:schemeClr val="tx1"/>
                </a:solidFill>
                <a:effectLst/>
                <a:latin typeface="+mn-lt"/>
                <a:ea typeface="+mn-ea"/>
                <a:cs typeface="+mn-cs"/>
              </a:rPr>
              <a:t>CAR</a:t>
            </a:r>
            <a:r>
              <a:rPr lang="en-US" sz="1200" b="0" i="0" kern="1200" baseline="0" dirty="0" smtClean="0">
                <a:solidFill>
                  <a:schemeClr val="tx1"/>
                </a:solidFill>
                <a:effectLst/>
                <a:latin typeface="+mn-lt"/>
                <a:ea typeface="+mn-ea"/>
                <a:cs typeface="+mn-cs"/>
              </a:rPr>
              <a:t> is a ratio</a:t>
            </a:r>
            <a:r>
              <a:rPr lang="en-US" sz="1200" b="0" i="0" kern="1200" dirty="0" smtClean="0">
                <a:solidFill>
                  <a:schemeClr val="tx1"/>
                </a:solidFill>
                <a:effectLst/>
                <a:latin typeface="+mn-lt"/>
                <a:ea typeface="+mn-ea"/>
                <a:cs typeface="+mn-cs"/>
              </a:rPr>
              <a:t> which show the cushion to absorb a reasonable amount of losses before a</a:t>
            </a:r>
            <a:r>
              <a:rPr lang="en-US" sz="1200" b="0" i="0" kern="1200" baseline="0" dirty="0" smtClean="0">
                <a:solidFill>
                  <a:schemeClr val="tx1"/>
                </a:solidFill>
                <a:effectLst/>
                <a:latin typeface="+mn-lt"/>
                <a:ea typeface="+mn-ea"/>
                <a:cs typeface="+mn-cs"/>
              </a:rPr>
              <a:t> bank</a:t>
            </a:r>
            <a:r>
              <a:rPr lang="en-US" sz="1200" b="0" i="0" kern="1200" dirty="0" smtClean="0">
                <a:solidFill>
                  <a:schemeClr val="tx1"/>
                </a:solidFill>
                <a:effectLst/>
                <a:latin typeface="+mn-lt"/>
                <a:ea typeface="+mn-ea"/>
                <a:cs typeface="+mn-cs"/>
              </a:rPr>
              <a:t> becomes insolvent.</a:t>
            </a:r>
            <a:endParaRPr lang="x-none" dirty="0"/>
          </a:p>
        </p:txBody>
      </p:sp>
      <p:sp>
        <p:nvSpPr>
          <p:cNvPr id="4" name="Slide Number Placeholder 3"/>
          <p:cNvSpPr>
            <a:spLocks noGrp="1"/>
          </p:cNvSpPr>
          <p:nvPr>
            <p:ph type="sldNum" sz="quarter" idx="5"/>
          </p:nvPr>
        </p:nvSpPr>
        <p:spPr/>
        <p:txBody>
          <a:bodyPr/>
          <a:lstStyle/>
          <a:p>
            <a:fld id="{DE122BB1-BDE0-49D0-9E4D-05072B37ACDA}" type="slidenum">
              <a:rPr lang="x-none" smtClean="0"/>
              <a:t>5</a:t>
            </a:fld>
            <a:endParaRPr lang="x-none"/>
          </a:p>
        </p:txBody>
      </p:sp>
    </p:spTree>
    <p:extLst>
      <p:ext uri="{BB962C8B-B14F-4D97-AF65-F5344CB8AC3E}">
        <p14:creationId xmlns:p14="http://schemas.microsoft.com/office/powerpoint/2010/main" val="4173014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122BB1-BDE0-49D0-9E4D-05072B37ACDA}" type="slidenum">
              <a:rPr lang="x-none" smtClean="0"/>
              <a:t>6</a:t>
            </a:fld>
            <a:endParaRPr lang="x-none"/>
          </a:p>
        </p:txBody>
      </p:sp>
    </p:spTree>
    <p:extLst>
      <p:ext uri="{BB962C8B-B14F-4D97-AF65-F5344CB8AC3E}">
        <p14:creationId xmlns:p14="http://schemas.microsoft.com/office/powerpoint/2010/main" val="762177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122BB1-BDE0-49D0-9E4D-05072B37ACDA}" type="slidenum">
              <a:rPr lang="x-none" smtClean="0"/>
              <a:t>9</a:t>
            </a:fld>
            <a:endParaRPr lang="x-none"/>
          </a:p>
        </p:txBody>
      </p:sp>
    </p:spTree>
    <p:extLst>
      <p:ext uri="{BB962C8B-B14F-4D97-AF65-F5344CB8AC3E}">
        <p14:creationId xmlns:p14="http://schemas.microsoft.com/office/powerpoint/2010/main" val="1431953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EC1DD58-9D67-4921-8CF8-DDCBBED06CFA}" type="datetimeFigureOut">
              <a:rPr lang="x-none" smtClean="0"/>
              <a:t>3/24/2022</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7DFAB92C-B845-4A98-91C0-CF9C780FC702}" type="slidenum">
              <a:rPr lang="x-none" smtClean="0"/>
              <a:t>‹#›</a:t>
            </a:fld>
            <a:endParaRPr lang="x-non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8990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EC1DD58-9D67-4921-8CF8-DDCBBED06CFA}" type="datetimeFigureOut">
              <a:rPr lang="x-none" smtClean="0"/>
              <a:t>3/24/2022</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1063676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EC1DD58-9D67-4921-8CF8-DDCBBED06CFA}" type="datetimeFigureOut">
              <a:rPr lang="x-none" smtClean="0"/>
              <a:t>3/24/2022</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7DFAB92C-B845-4A98-91C0-CF9C780FC702}" type="slidenum">
              <a:rPr lang="x-none" smtClean="0"/>
              <a:t>‹#›</a:t>
            </a:fld>
            <a:endParaRPr lang="x-non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84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EC1DD58-9D67-4921-8CF8-DDCBBED06CFA}" type="datetimeFigureOut">
              <a:rPr lang="x-none" smtClean="0"/>
              <a:t>3/24/2022</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472471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EC1DD58-9D67-4921-8CF8-DDCBBED06CFA}" type="datetimeFigureOut">
              <a:rPr lang="x-none" smtClean="0"/>
              <a:t>3/24/2022</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1539417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EC1DD58-9D67-4921-8CF8-DDCBBED06CFA}" type="datetimeFigureOut">
              <a:rPr lang="x-none" smtClean="0"/>
              <a:t>3/24/2022</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3749469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EC1DD58-9D67-4921-8CF8-DDCBBED06CFA}" type="datetimeFigureOut">
              <a:rPr lang="x-none" smtClean="0"/>
              <a:t>3/24/2022</a:t>
            </a:fld>
            <a:endParaRPr lang="x-none"/>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x-none"/>
          </a:p>
        </p:txBody>
      </p:sp>
      <p:sp>
        <p:nvSpPr>
          <p:cNvPr id="9" name="Slide Number Placeholder 8"/>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920352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EC1DD58-9D67-4921-8CF8-DDCBBED06CFA}" type="datetimeFigureOut">
              <a:rPr lang="x-none" smtClean="0"/>
              <a:t>3/24/2022</a:t>
            </a:fld>
            <a:endParaRPr lang="x-none"/>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x-none"/>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DFAB92C-B845-4A98-91C0-CF9C780FC702}" type="slidenum">
              <a:rPr lang="x-none" smtClean="0"/>
              <a:t>‹#›</a:t>
            </a:fld>
            <a:endParaRPr lang="x-none"/>
          </a:p>
        </p:txBody>
      </p:sp>
    </p:spTree>
    <p:extLst>
      <p:ext uri="{BB962C8B-B14F-4D97-AF65-F5344CB8AC3E}">
        <p14:creationId xmlns:p14="http://schemas.microsoft.com/office/powerpoint/2010/main" val="2230491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EC1DD58-9D67-4921-8CF8-DDCBBED06CFA}" type="datetimeFigureOut">
              <a:rPr lang="x-none" smtClean="0"/>
              <a:t>3/24/2022</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124483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EC1DD58-9D67-4921-8CF8-DDCBBED06CFA}" type="datetimeFigureOut">
              <a:rPr lang="x-none" smtClean="0"/>
              <a:t>3/24/2022</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918496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EC1DD58-9D67-4921-8CF8-DDCBBED06CFA}" type="datetimeFigureOut">
              <a:rPr lang="x-none" smtClean="0"/>
              <a:t>3/24/2022</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2933330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EC1DD58-9D67-4921-8CF8-DDCBBED06CFA}" type="datetimeFigureOut">
              <a:rPr lang="x-none" smtClean="0"/>
              <a:t>3/24/2022</a:t>
            </a:fld>
            <a:endParaRPr lang="x-none"/>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x-none"/>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DFAB92C-B845-4A98-91C0-CF9C780FC702}" type="slidenum">
              <a:rPr lang="x-none" smtClean="0"/>
              <a:t>‹#›</a:t>
            </a:fld>
            <a:endParaRPr lang="x-none"/>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7375293"/>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5913"/>
          </a:xfrm>
        </p:spPr>
        <p:txBody>
          <a:bodyPr>
            <a:normAutofit/>
          </a:bodyPr>
          <a:lstStyle/>
          <a:p>
            <a:pPr algn="ctr"/>
            <a:r>
              <a:rPr lang="en-US" sz="6600" dirty="0"/>
              <a:t>Crucial Factors of Nonperforming loans </a:t>
            </a:r>
            <a:r>
              <a:rPr lang="en-US" sz="6600" dirty="0" smtClean="0"/>
              <a:t>Evidence</a:t>
            </a:r>
            <a:r>
              <a:rPr lang="en-US" sz="6600" dirty="0"/>
              <a:t/>
            </a:r>
            <a:br>
              <a:rPr lang="en-US" sz="6600" dirty="0"/>
            </a:br>
            <a:r>
              <a:rPr lang="en-US" sz="6600" dirty="0"/>
              <a:t>from Pakistani Banking Sector</a:t>
            </a:r>
          </a:p>
        </p:txBody>
      </p:sp>
      <p:sp>
        <p:nvSpPr>
          <p:cNvPr id="3" name="Subtitle 2"/>
          <p:cNvSpPr>
            <a:spLocks noGrp="1"/>
          </p:cNvSpPr>
          <p:nvPr>
            <p:ph type="subTitle" idx="1"/>
          </p:nvPr>
        </p:nvSpPr>
        <p:spPr/>
        <p:txBody>
          <a:bodyPr>
            <a:normAutofit fontScale="85000" lnSpcReduction="20000"/>
          </a:bodyPr>
          <a:lstStyle/>
          <a:p>
            <a:r>
              <a:rPr lang="en-US" dirty="0" smtClean="0"/>
              <a:t>Presentation By:</a:t>
            </a:r>
          </a:p>
          <a:p>
            <a:r>
              <a:rPr lang="en-US" dirty="0" smtClean="0"/>
              <a:t>Muhammad Usman</a:t>
            </a:r>
          </a:p>
          <a:p>
            <a:r>
              <a:rPr lang="en-US" dirty="0" smtClean="0"/>
              <a:t>Mirza Kashif</a:t>
            </a:r>
            <a:endParaRPr lang="en-US" dirty="0"/>
          </a:p>
        </p:txBody>
      </p:sp>
    </p:spTree>
    <p:extLst>
      <p:ext uri="{BB962C8B-B14F-4D97-AF65-F5344CB8AC3E}">
        <p14:creationId xmlns:p14="http://schemas.microsoft.com/office/powerpoint/2010/main" val="17054621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E0176-1E6E-451D-83E0-40FF999A4FA5}"/>
              </a:ext>
            </a:extLst>
          </p:cNvPr>
          <p:cNvSpPr>
            <a:spLocks noGrp="1"/>
          </p:cNvSpPr>
          <p:nvPr>
            <p:ph type="title"/>
          </p:nvPr>
        </p:nvSpPr>
        <p:spPr/>
        <p:txBody>
          <a:bodyPr/>
          <a:lstStyle/>
          <a:p>
            <a:r>
              <a:rPr lang="en-US" dirty="0"/>
              <a:t>Introduction</a:t>
            </a:r>
            <a:endParaRPr lang="x-none" dirty="0"/>
          </a:p>
        </p:txBody>
      </p:sp>
      <p:sp>
        <p:nvSpPr>
          <p:cNvPr id="3" name="Content Placeholder 2">
            <a:extLst>
              <a:ext uri="{FF2B5EF4-FFF2-40B4-BE49-F238E27FC236}">
                <a16:creationId xmlns:a16="http://schemas.microsoft.com/office/drawing/2014/main" id="{09806A20-228F-4D63-B34C-1D712F41886F}"/>
              </a:ext>
            </a:extLst>
          </p:cNvPr>
          <p:cNvSpPr>
            <a:spLocks noGrp="1"/>
          </p:cNvSpPr>
          <p:nvPr>
            <p:ph idx="1"/>
          </p:nvPr>
        </p:nvSpPr>
        <p:spPr/>
        <p:txBody>
          <a:bodyPr>
            <a:normAutofit/>
          </a:bodyPr>
          <a:lstStyle/>
          <a:p>
            <a:r>
              <a:rPr lang="en-US" dirty="0"/>
              <a:t>A non performing loan is any loan in which interest and principle payments are more than 90 days overdue. (</a:t>
            </a:r>
            <a:r>
              <a:rPr lang="en-US" i="1" dirty="0"/>
              <a:t>IMF, 2005). </a:t>
            </a:r>
          </a:p>
          <a:p>
            <a:r>
              <a:rPr lang="en-US" dirty="0"/>
              <a:t>Nonperforming loans are of immense importance as they define the asset quality, credit risk of the Bank.</a:t>
            </a:r>
          </a:p>
          <a:p>
            <a:r>
              <a:rPr lang="en-US" dirty="0"/>
              <a:t>The main function of banks is credit creation through mobilization of deposits.</a:t>
            </a:r>
          </a:p>
        </p:txBody>
      </p:sp>
      <p:pic>
        <p:nvPicPr>
          <p:cNvPr id="4" name="Picture 3"/>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909222" y="3857414"/>
            <a:ext cx="2815281" cy="2111461"/>
          </a:xfrm>
          <a:prstGeom prst="rect">
            <a:avLst/>
          </a:prstGeom>
        </p:spPr>
      </p:pic>
    </p:spTree>
    <p:extLst>
      <p:ext uri="{BB962C8B-B14F-4D97-AF65-F5344CB8AC3E}">
        <p14:creationId xmlns:p14="http://schemas.microsoft.com/office/powerpoint/2010/main" val="20206013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C18D6-2B63-44CA-8197-DF4774C7444E}"/>
              </a:ext>
            </a:extLst>
          </p:cNvPr>
          <p:cNvSpPr>
            <a:spLocks noGrp="1"/>
          </p:cNvSpPr>
          <p:nvPr>
            <p:ph type="title"/>
          </p:nvPr>
        </p:nvSpPr>
        <p:spPr/>
        <p:txBody>
          <a:bodyPr/>
          <a:lstStyle/>
          <a:p>
            <a:r>
              <a:rPr lang="en-US" dirty="0"/>
              <a:t>Effect of NPL at a Macro Level </a:t>
            </a:r>
            <a:endParaRPr lang="x-none" dirty="0"/>
          </a:p>
        </p:txBody>
      </p:sp>
      <p:sp>
        <p:nvSpPr>
          <p:cNvPr id="3" name="Content Placeholder 2">
            <a:extLst>
              <a:ext uri="{FF2B5EF4-FFF2-40B4-BE49-F238E27FC236}">
                <a16:creationId xmlns:a16="http://schemas.microsoft.com/office/drawing/2014/main" id="{467FFD67-6168-420A-8BBB-123C51C30178}"/>
              </a:ext>
            </a:extLst>
          </p:cNvPr>
          <p:cNvSpPr>
            <a:spLocks noGrp="1"/>
          </p:cNvSpPr>
          <p:nvPr>
            <p:ph idx="1"/>
          </p:nvPr>
        </p:nvSpPr>
        <p:spPr/>
        <p:txBody>
          <a:bodyPr/>
          <a:lstStyle/>
          <a:p>
            <a:r>
              <a:rPr lang="en-US" dirty="0"/>
              <a:t>If Non Performing Loans increase the banks would not be able to give out loans which would ultimately hinder economic growth.</a:t>
            </a:r>
          </a:p>
          <a:p>
            <a:r>
              <a:rPr lang="en-US" dirty="0"/>
              <a:t>Economic growth cannot prosper without strong financial sector. </a:t>
            </a:r>
          </a:p>
          <a:p>
            <a:endParaRPr lang="en-US" dirty="0"/>
          </a:p>
          <a:p>
            <a:endParaRPr lang="en-US" dirty="0"/>
          </a:p>
          <a:p>
            <a:endParaRPr lang="x-none" dirty="0"/>
          </a:p>
        </p:txBody>
      </p:sp>
      <p:pic>
        <p:nvPicPr>
          <p:cNvPr id="6" name="Picture 5">
            <a:extLst>
              <a:ext uri="{FF2B5EF4-FFF2-40B4-BE49-F238E27FC236}">
                <a16:creationId xmlns:a16="http://schemas.microsoft.com/office/drawing/2014/main" id="{47BB494B-7A36-4E26-A403-71C2137D418B}"/>
              </a:ext>
            </a:extLst>
          </p:cNvPr>
          <p:cNvPicPr>
            <a:picLocks noChangeAspect="1"/>
          </p:cNvPicPr>
          <p:nvPr/>
        </p:nvPicPr>
        <p:blipFill>
          <a:blip r:embed="rId3"/>
          <a:stretch>
            <a:fillRect/>
          </a:stretch>
        </p:blipFill>
        <p:spPr>
          <a:xfrm>
            <a:off x="516392" y="3975334"/>
            <a:ext cx="11159213" cy="1758616"/>
          </a:xfrm>
          <a:prstGeom prst="rect">
            <a:avLst/>
          </a:prstGeom>
        </p:spPr>
      </p:pic>
    </p:spTree>
    <p:extLst>
      <p:ext uri="{BB962C8B-B14F-4D97-AF65-F5344CB8AC3E}">
        <p14:creationId xmlns:p14="http://schemas.microsoft.com/office/powerpoint/2010/main" val="5236894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46B7-6A2A-4BC6-996F-D0DB0A163961}"/>
              </a:ext>
            </a:extLst>
          </p:cNvPr>
          <p:cNvSpPr>
            <a:spLocks noGrp="1"/>
          </p:cNvSpPr>
          <p:nvPr>
            <p:ph type="title"/>
          </p:nvPr>
        </p:nvSpPr>
        <p:spPr/>
        <p:txBody>
          <a:bodyPr/>
          <a:lstStyle/>
          <a:p>
            <a:r>
              <a:rPr lang="en-US" dirty="0"/>
              <a:t>Evidence from Past Studies</a:t>
            </a:r>
            <a:endParaRPr lang="x-none" dirty="0"/>
          </a:p>
        </p:txBody>
      </p:sp>
      <p:sp>
        <p:nvSpPr>
          <p:cNvPr id="3" name="Content Placeholder 2">
            <a:extLst>
              <a:ext uri="{FF2B5EF4-FFF2-40B4-BE49-F238E27FC236}">
                <a16:creationId xmlns:a16="http://schemas.microsoft.com/office/drawing/2014/main" id="{CC1CB16B-9022-48F7-82D8-2C7E7DFFF1BD}"/>
              </a:ext>
            </a:extLst>
          </p:cNvPr>
          <p:cNvSpPr>
            <a:spLocks noGrp="1"/>
          </p:cNvSpPr>
          <p:nvPr>
            <p:ph idx="1"/>
          </p:nvPr>
        </p:nvSpPr>
        <p:spPr/>
        <p:txBody>
          <a:bodyPr/>
          <a:lstStyle/>
          <a:p>
            <a:r>
              <a:rPr lang="en-US" dirty="0"/>
              <a:t>A study based on NPL published in 1991 by T. Clair which came a conclusion that rapid credit growth can cause the credit quality to deteriorate which can eventually cause banks to declare bankruptcy.</a:t>
            </a:r>
          </a:p>
          <a:p>
            <a:r>
              <a:rPr lang="en-US" dirty="0"/>
              <a:t>According to a research done in Pakistan in 2012 it was found that interest rate; exchange rate, unemployment, inflation, and energy crisis have positive association with NPLs while GDP growth has negative relationship with NPLs.</a:t>
            </a:r>
          </a:p>
          <a:p>
            <a:endParaRPr lang="x-none" dirty="0"/>
          </a:p>
        </p:txBody>
      </p:sp>
      <p:pic>
        <p:nvPicPr>
          <p:cNvPr id="4" name="Picture 3"/>
          <p:cNvPicPr>
            <a:picLocks noChangeAspect="1"/>
          </p:cNvPicPr>
          <p:nvPr/>
        </p:nvPicPr>
        <p:blipFill>
          <a:blip r:embed="rId3" cstate="print">
            <a:extLst>
              <a:ext uri="{BEBA8EAE-BF5A-486C-A8C5-ECC9F3942E4B}">
                <a14:imgProps xmlns:a14="http://schemas.microsoft.com/office/drawing/2010/main">
                  <a14:imgLayer r:embed="rId4">
                    <a14:imgEffect>
                      <a14:backgroundRemoval t="967" b="95304" l="9753" r="89973"/>
                    </a14:imgEffect>
                  </a14:imgLayer>
                </a14:imgProps>
              </a:ext>
              <a:ext uri="{28A0092B-C50C-407E-A947-70E740481C1C}">
                <a14:useLocalDpi xmlns:a14="http://schemas.microsoft.com/office/drawing/2010/main" val="0"/>
              </a:ext>
            </a:extLst>
          </a:blip>
          <a:stretch>
            <a:fillRect/>
          </a:stretch>
        </p:blipFill>
        <p:spPr>
          <a:xfrm>
            <a:off x="9599140" y="3593521"/>
            <a:ext cx="2898593" cy="2882666"/>
          </a:xfrm>
          <a:prstGeom prst="rect">
            <a:avLst/>
          </a:prstGeom>
        </p:spPr>
      </p:pic>
    </p:spTree>
    <p:extLst>
      <p:ext uri="{BB962C8B-B14F-4D97-AF65-F5344CB8AC3E}">
        <p14:creationId xmlns:p14="http://schemas.microsoft.com/office/powerpoint/2010/main" val="31732370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09FA-E437-44C1-96DE-539B748FE84F}"/>
              </a:ext>
            </a:extLst>
          </p:cNvPr>
          <p:cNvSpPr>
            <a:spLocks noGrp="1"/>
          </p:cNvSpPr>
          <p:nvPr>
            <p:ph type="title"/>
          </p:nvPr>
        </p:nvSpPr>
        <p:spPr/>
        <p:txBody>
          <a:bodyPr/>
          <a:lstStyle/>
          <a:p>
            <a:r>
              <a:rPr lang="en-US" dirty="0" smtClean="0"/>
              <a:t>NPL</a:t>
            </a:r>
            <a:endParaRPr lang="x-none" dirty="0"/>
          </a:p>
        </p:txBody>
      </p:sp>
      <p:sp>
        <p:nvSpPr>
          <p:cNvPr id="3" name="Content Placeholder 2">
            <a:extLst>
              <a:ext uri="{FF2B5EF4-FFF2-40B4-BE49-F238E27FC236}">
                <a16:creationId xmlns:a16="http://schemas.microsoft.com/office/drawing/2014/main" id="{C7E90EA4-C92C-4CCF-AA8D-53811ED3139B}"/>
              </a:ext>
            </a:extLst>
          </p:cNvPr>
          <p:cNvSpPr>
            <a:spLocks noGrp="1"/>
          </p:cNvSpPr>
          <p:nvPr>
            <p:ph idx="1"/>
          </p:nvPr>
        </p:nvSpPr>
        <p:spPr/>
        <p:txBody>
          <a:bodyPr>
            <a:normAutofit/>
          </a:bodyPr>
          <a:lstStyle/>
          <a:p>
            <a:r>
              <a:rPr lang="en-US" dirty="0"/>
              <a:t>NPL = f (GDP, </a:t>
            </a:r>
            <a:r>
              <a:rPr lang="en-US" dirty="0" smtClean="0"/>
              <a:t>WALR</a:t>
            </a:r>
            <a:r>
              <a:rPr lang="en-US" dirty="0"/>
              <a:t>, MAT, CDR, CAR)</a:t>
            </a:r>
          </a:p>
          <a:p>
            <a:pPr marL="0" indent="0">
              <a:buNone/>
            </a:pPr>
            <a:r>
              <a:rPr lang="en-US" dirty="0" smtClean="0"/>
              <a:t> </a:t>
            </a:r>
          </a:p>
          <a:p>
            <a:r>
              <a:rPr lang="en-US" b="1" dirty="0" smtClean="0"/>
              <a:t>Gross Domestic Product </a:t>
            </a:r>
            <a:r>
              <a:rPr lang="en-US" dirty="0"/>
              <a:t>is the total monetary or market value of all the finished goods and services produced within a country</a:t>
            </a:r>
            <a:endParaRPr lang="en-US" b="1" dirty="0"/>
          </a:p>
          <a:p>
            <a:r>
              <a:rPr lang="en-US" b="1" dirty="0"/>
              <a:t>Weighted </a:t>
            </a:r>
            <a:r>
              <a:rPr lang="en-US" b="1" dirty="0" smtClean="0"/>
              <a:t>Average </a:t>
            </a:r>
            <a:r>
              <a:rPr lang="en-US" b="1" dirty="0"/>
              <a:t>L</a:t>
            </a:r>
            <a:r>
              <a:rPr lang="en-US" b="1" dirty="0" smtClean="0"/>
              <a:t>ending Rate </a:t>
            </a:r>
            <a:r>
              <a:rPr lang="en-US" dirty="0"/>
              <a:t>is the weighted average of interest rates charged by banks on loans using share of the corresponding loan amount to total loans as weight. </a:t>
            </a:r>
            <a:endParaRPr lang="en-US" dirty="0" smtClean="0"/>
          </a:p>
          <a:p>
            <a:r>
              <a:rPr lang="en-US" b="1" dirty="0" smtClean="0"/>
              <a:t>Maturity </a:t>
            </a:r>
            <a:r>
              <a:rPr lang="en-US" b="1" dirty="0"/>
              <a:t>time period </a:t>
            </a:r>
            <a:r>
              <a:rPr lang="en-US" dirty="0"/>
              <a:t>refers to the period in which a borrower's final loan payment is due.</a:t>
            </a:r>
          </a:p>
          <a:p>
            <a:r>
              <a:rPr lang="en-US" b="1" dirty="0" smtClean="0"/>
              <a:t>Credit Deposit Ratio </a:t>
            </a:r>
            <a:r>
              <a:rPr lang="en-US" dirty="0"/>
              <a:t>is the ratio of how much a bank lends out of it’s </a:t>
            </a:r>
            <a:r>
              <a:rPr lang="en-US" dirty="0" smtClean="0"/>
              <a:t>deposits.</a:t>
            </a:r>
            <a:endParaRPr lang="en-US" dirty="0"/>
          </a:p>
          <a:p>
            <a:r>
              <a:rPr lang="en-US" b="1" dirty="0" smtClean="0"/>
              <a:t>Capital Adequacy Ratio</a:t>
            </a:r>
            <a:r>
              <a:rPr lang="en-US" dirty="0" smtClean="0"/>
              <a:t> </a:t>
            </a:r>
            <a:r>
              <a:rPr lang="en-US" dirty="0"/>
              <a:t>is a ratio which show the cushion to absorb a reasonable amount of losses before a bank becomes insolvent.</a:t>
            </a:r>
            <a:endParaRPr lang="x-none" dirty="0"/>
          </a:p>
          <a:p>
            <a:pPr marL="0" indent="0">
              <a:buNone/>
            </a:pPr>
            <a:endParaRPr lang="en-US" dirty="0"/>
          </a:p>
        </p:txBody>
      </p:sp>
      <p:pic>
        <p:nvPicPr>
          <p:cNvPr id="4" name="Picture 3"/>
          <p:cNvPicPr>
            <a:picLocks noChangeAspect="1"/>
          </p:cNvPicPr>
          <p:nvPr/>
        </p:nvPicPr>
        <p:blipFill rotWithShape="1">
          <a:blip r:embed="rId3" cstate="hqprint">
            <a:extLst>
              <a:ext uri="{28A0092B-C50C-407E-A947-70E740481C1C}">
                <a14:useLocalDpi xmlns:a14="http://schemas.microsoft.com/office/drawing/2010/main" val="0"/>
              </a:ext>
            </a:extLst>
          </a:blip>
          <a:srcRect l="968" r="3315"/>
          <a:stretch/>
        </p:blipFill>
        <p:spPr>
          <a:xfrm>
            <a:off x="8519401" y="229396"/>
            <a:ext cx="3157039" cy="1855273"/>
          </a:xfrm>
          <a:prstGeom prst="rect">
            <a:avLst/>
          </a:prstGeom>
        </p:spPr>
      </p:pic>
    </p:spTree>
    <p:extLst>
      <p:ext uri="{BB962C8B-B14F-4D97-AF65-F5344CB8AC3E}">
        <p14:creationId xmlns:p14="http://schemas.microsoft.com/office/powerpoint/2010/main" val="18117937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021ED-C75F-4465-99EA-655778A88DE4}"/>
              </a:ext>
            </a:extLst>
          </p:cNvPr>
          <p:cNvSpPr>
            <a:spLocks noGrp="1"/>
          </p:cNvSpPr>
          <p:nvPr>
            <p:ph type="title"/>
          </p:nvPr>
        </p:nvSpPr>
        <p:spPr/>
        <p:txBody>
          <a:bodyPr/>
          <a:lstStyle/>
          <a:p>
            <a:r>
              <a:rPr lang="en-US" dirty="0" smtClean="0"/>
              <a:t>Factors affecting NPLs</a:t>
            </a:r>
            <a:endParaRPr lang="x-none" dirty="0"/>
          </a:p>
        </p:txBody>
      </p:sp>
      <p:sp>
        <p:nvSpPr>
          <p:cNvPr id="3" name="Content Placeholder 2">
            <a:extLst>
              <a:ext uri="{FF2B5EF4-FFF2-40B4-BE49-F238E27FC236}">
                <a16:creationId xmlns:a16="http://schemas.microsoft.com/office/drawing/2014/main" id="{6F6F64AF-14B6-42C8-9B96-A3DBD5B2F97D}"/>
              </a:ext>
            </a:extLst>
          </p:cNvPr>
          <p:cNvSpPr>
            <a:spLocks noGrp="1"/>
          </p:cNvSpPr>
          <p:nvPr>
            <p:ph idx="1"/>
          </p:nvPr>
        </p:nvSpPr>
        <p:spPr/>
        <p:txBody>
          <a:bodyPr>
            <a:normAutofit fontScale="25000" lnSpcReduction="20000"/>
          </a:bodyPr>
          <a:lstStyle/>
          <a:p>
            <a:pPr marL="0" indent="0">
              <a:buNone/>
            </a:pPr>
            <a:r>
              <a:rPr lang="en-US" sz="7200" b="1" i="1" u="sng" dirty="0"/>
              <a:t>Gross domestic Product </a:t>
            </a:r>
          </a:p>
          <a:p>
            <a:pPr marL="0" indent="0">
              <a:buNone/>
            </a:pPr>
            <a:r>
              <a:rPr lang="en-US" sz="7200" dirty="0"/>
              <a:t>A higher GDP would mean that the borrowers would be performing better and therefore would be in a better position to repay loans</a:t>
            </a:r>
          </a:p>
          <a:p>
            <a:pPr marL="0" indent="0">
              <a:buNone/>
            </a:pPr>
            <a:r>
              <a:rPr lang="en-US" sz="7200" b="1" u="sng" dirty="0"/>
              <a:t>Weighted average lending rate</a:t>
            </a:r>
          </a:p>
          <a:p>
            <a:pPr marL="0" indent="0">
              <a:buNone/>
            </a:pPr>
            <a:r>
              <a:rPr lang="en-US" sz="7200" dirty="0"/>
              <a:t>An increase in lending rate hurts the loan repayment capacity of the borrower therefore NPLs level increase by the increase in interest rate</a:t>
            </a:r>
          </a:p>
          <a:p>
            <a:pPr marL="0" indent="0">
              <a:buNone/>
            </a:pPr>
            <a:r>
              <a:rPr lang="en-US" sz="7200" b="1" u="sng" dirty="0"/>
              <a:t>Maturity time period </a:t>
            </a:r>
          </a:p>
          <a:p>
            <a:pPr marL="0" indent="0">
              <a:buNone/>
            </a:pPr>
            <a:r>
              <a:rPr lang="en-US" sz="7200" dirty="0"/>
              <a:t>Longer maturity period would mean that borrowers would have a longer time to repay their loans</a:t>
            </a:r>
          </a:p>
          <a:p>
            <a:pPr marL="0" indent="0">
              <a:buNone/>
            </a:pPr>
            <a:r>
              <a:rPr lang="en-US" sz="7200" b="1" u="sng" dirty="0"/>
              <a:t>Credit deposit ratio </a:t>
            </a:r>
          </a:p>
          <a:p>
            <a:pPr marL="0" indent="0">
              <a:buNone/>
            </a:pPr>
            <a:r>
              <a:rPr lang="en-US" sz="7200" dirty="0" smtClean="0"/>
              <a:t>A high </a:t>
            </a:r>
            <a:r>
              <a:rPr lang="en-US" sz="7200" dirty="0"/>
              <a:t>Credit deposit </a:t>
            </a:r>
            <a:r>
              <a:rPr lang="en-US" sz="7200" dirty="0" smtClean="0"/>
              <a:t>ratio </a:t>
            </a:r>
            <a:r>
              <a:rPr lang="en-US" sz="7200" dirty="0" smtClean="0"/>
              <a:t>would mean that if the banks have lent out a higher proportion of loans compared to it’s deposits, there are higher changes of NPLs.</a:t>
            </a:r>
          </a:p>
          <a:p>
            <a:pPr marL="0" indent="0">
              <a:buNone/>
            </a:pPr>
            <a:r>
              <a:rPr lang="en-US" sz="7200" b="1" u="sng" dirty="0" smtClean="0"/>
              <a:t>Capital </a:t>
            </a:r>
            <a:r>
              <a:rPr lang="en-US" sz="7200" b="1" u="sng" dirty="0"/>
              <a:t>adequacy ratio </a:t>
            </a:r>
          </a:p>
          <a:p>
            <a:pPr marL="0" indent="0">
              <a:buNone/>
            </a:pPr>
            <a:r>
              <a:rPr lang="en-US" sz="7200" dirty="0"/>
              <a:t>CAR is critical to ensure that banks have enough cushion to absorb a reasonable amount of losses before they become insolvent. A higher CAR would allow banks to make more loans and hence increasing the probability of NPLs</a:t>
            </a:r>
          </a:p>
          <a:p>
            <a:endParaRPr lang="x-none"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3741" y="0"/>
            <a:ext cx="3702908" cy="2221745"/>
          </a:xfrm>
          <a:prstGeom prst="rect">
            <a:avLst/>
          </a:prstGeom>
        </p:spPr>
      </p:pic>
    </p:spTree>
    <p:extLst>
      <p:ext uri="{BB962C8B-B14F-4D97-AF65-F5344CB8AC3E}">
        <p14:creationId xmlns:p14="http://schemas.microsoft.com/office/powerpoint/2010/main" val="28830637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981C2-EBA4-47A0-9FCE-5F6A937A2C0E}"/>
              </a:ext>
            </a:extLst>
          </p:cNvPr>
          <p:cNvSpPr>
            <a:spLocks noGrp="1"/>
          </p:cNvSpPr>
          <p:nvPr>
            <p:ph type="title"/>
          </p:nvPr>
        </p:nvSpPr>
        <p:spPr/>
        <p:txBody>
          <a:bodyPr/>
          <a:lstStyle/>
          <a:p>
            <a:endParaRPr lang="x-none"/>
          </a:p>
        </p:txBody>
      </p:sp>
      <p:sp>
        <p:nvSpPr>
          <p:cNvPr id="3" name="Content Placeholder 2">
            <a:extLst>
              <a:ext uri="{FF2B5EF4-FFF2-40B4-BE49-F238E27FC236}">
                <a16:creationId xmlns:a16="http://schemas.microsoft.com/office/drawing/2014/main" id="{91F3EE28-BF9D-47CC-8F70-29A33E5B7E42}"/>
              </a:ext>
            </a:extLst>
          </p:cNvPr>
          <p:cNvSpPr>
            <a:spLocks noGrp="1"/>
          </p:cNvSpPr>
          <p:nvPr>
            <p:ph idx="1"/>
          </p:nvPr>
        </p:nvSpPr>
        <p:spPr/>
        <p:txBody>
          <a:bodyPr>
            <a:normAutofit/>
          </a:bodyPr>
          <a:lstStyle/>
          <a:p>
            <a:pPr>
              <a:buFont typeface="Wingdings" panose="05000000000000000000" pitchFamily="2" charset="2"/>
              <a:buChar char="§"/>
            </a:pPr>
            <a:r>
              <a:rPr lang="en-US" sz="2800" dirty="0"/>
              <a:t>GDP, CDR, MAT and CAR have a negative relation with NPLs in Pakistan</a:t>
            </a:r>
          </a:p>
          <a:p>
            <a:pPr>
              <a:buFont typeface="Wingdings" panose="05000000000000000000" pitchFamily="2" charset="2"/>
              <a:buChar char="§"/>
            </a:pPr>
            <a:endParaRPr lang="en-US" sz="2800" dirty="0"/>
          </a:p>
          <a:p>
            <a:pPr>
              <a:buFont typeface="Wingdings" panose="05000000000000000000" pitchFamily="2" charset="2"/>
              <a:buChar char="§"/>
            </a:pPr>
            <a:r>
              <a:rPr lang="en-US" sz="2800" dirty="0"/>
              <a:t>Weighted average lending rate has positive relation with </a:t>
            </a:r>
            <a:r>
              <a:rPr lang="en-US" sz="2800" dirty="0" smtClean="0"/>
              <a:t>NPLs</a:t>
            </a:r>
          </a:p>
          <a:p>
            <a:pPr>
              <a:buFont typeface="Wingdings" panose="05000000000000000000" pitchFamily="2" charset="2"/>
              <a:buChar char="§"/>
            </a:pPr>
            <a:endParaRPr lang="x-none" sz="2800" dirty="0"/>
          </a:p>
        </p:txBody>
      </p:sp>
    </p:spTree>
    <p:extLst>
      <p:ext uri="{BB962C8B-B14F-4D97-AF65-F5344CB8AC3E}">
        <p14:creationId xmlns:p14="http://schemas.microsoft.com/office/powerpoint/2010/main" val="30114058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9B03D-FD96-42DD-8D45-DAE6D7E1E033}"/>
              </a:ext>
            </a:extLst>
          </p:cNvPr>
          <p:cNvSpPr>
            <a:spLocks noGrp="1"/>
          </p:cNvSpPr>
          <p:nvPr>
            <p:ph type="title"/>
          </p:nvPr>
        </p:nvSpPr>
        <p:spPr/>
        <p:txBody>
          <a:bodyPr/>
          <a:lstStyle/>
          <a:p>
            <a:r>
              <a:rPr lang="en-US" dirty="0" smtClean="0"/>
              <a:t>Drawbacks of NPLs</a:t>
            </a:r>
            <a:endParaRPr lang="x-none" dirty="0"/>
          </a:p>
        </p:txBody>
      </p:sp>
      <p:sp>
        <p:nvSpPr>
          <p:cNvPr id="3" name="Content Placeholder 2">
            <a:extLst>
              <a:ext uri="{FF2B5EF4-FFF2-40B4-BE49-F238E27FC236}">
                <a16:creationId xmlns:a16="http://schemas.microsoft.com/office/drawing/2014/main" id="{F6CA9952-1786-4FE1-BE67-DCBC2765ADC9}"/>
              </a:ext>
            </a:extLst>
          </p:cNvPr>
          <p:cNvSpPr>
            <a:spLocks noGrp="1"/>
          </p:cNvSpPr>
          <p:nvPr>
            <p:ph idx="1"/>
          </p:nvPr>
        </p:nvSpPr>
        <p:spPr/>
        <p:txBody>
          <a:bodyPr>
            <a:normAutofit/>
          </a:bodyPr>
          <a:lstStyle/>
          <a:p>
            <a:r>
              <a:rPr lang="en-US" dirty="0"/>
              <a:t>Reduction in net interest income;</a:t>
            </a:r>
          </a:p>
          <a:p>
            <a:r>
              <a:rPr lang="en-US" dirty="0"/>
              <a:t>Increase in impairments costs;</a:t>
            </a:r>
          </a:p>
          <a:p>
            <a:r>
              <a:rPr lang="en-US" dirty="0"/>
              <a:t>Additional capital requirement </a:t>
            </a:r>
            <a:r>
              <a:rPr lang="en-US" dirty="0" smtClean="0"/>
              <a:t>for </a:t>
            </a:r>
            <a:r>
              <a:rPr lang="en-US" dirty="0"/>
              <a:t>high-risk weighted assets;</a:t>
            </a:r>
          </a:p>
          <a:p>
            <a:r>
              <a:rPr lang="en-US" dirty="0"/>
              <a:t>Lower ratings and increased cost of funding, adversely affecting equity valuations;</a:t>
            </a:r>
          </a:p>
          <a:p>
            <a:r>
              <a:rPr lang="en-US" dirty="0"/>
              <a:t>Reduced risk appetite for new lending; and</a:t>
            </a:r>
          </a:p>
          <a:p>
            <a:r>
              <a:rPr lang="en-US" dirty="0"/>
              <a:t>Additional management time and servicing costs to resolve the problem.</a:t>
            </a:r>
            <a:endParaRPr lang="x-non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10191" y="0"/>
            <a:ext cx="3681809" cy="2706130"/>
          </a:xfrm>
          <a:prstGeom prst="rect">
            <a:avLst/>
          </a:prstGeom>
        </p:spPr>
      </p:pic>
    </p:spTree>
    <p:extLst>
      <p:ext uri="{BB962C8B-B14F-4D97-AF65-F5344CB8AC3E}">
        <p14:creationId xmlns:p14="http://schemas.microsoft.com/office/powerpoint/2010/main" val="12877724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Recommendations to reduce NPLs</a:t>
            </a:r>
            <a:endParaRPr lang="en-US" dirty="0"/>
          </a:p>
        </p:txBody>
      </p:sp>
      <p:sp>
        <p:nvSpPr>
          <p:cNvPr id="3" name="Content Placeholder 2"/>
          <p:cNvSpPr>
            <a:spLocks noGrp="1"/>
          </p:cNvSpPr>
          <p:nvPr>
            <p:ph idx="1"/>
          </p:nvPr>
        </p:nvSpPr>
        <p:spPr>
          <a:xfrm>
            <a:off x="1097280" y="1845733"/>
            <a:ext cx="10058400" cy="4443855"/>
          </a:xfrm>
        </p:spPr>
        <p:txBody>
          <a:bodyPr>
            <a:normAutofit lnSpcReduction="10000"/>
          </a:bodyPr>
          <a:lstStyle/>
          <a:p>
            <a:r>
              <a:rPr lang="en-US" b="1" i="1" u="sng" dirty="0"/>
              <a:t>Detect </a:t>
            </a:r>
            <a:r>
              <a:rPr lang="en-US" b="1" i="1" u="sng" dirty="0" smtClean="0"/>
              <a:t>NPL early</a:t>
            </a:r>
            <a:r>
              <a:rPr lang="en-US" b="1" i="1" dirty="0" smtClean="0"/>
              <a:t>:</a:t>
            </a:r>
            <a:r>
              <a:rPr lang="en-US" i="1" dirty="0" smtClean="0"/>
              <a:t>  </a:t>
            </a:r>
            <a:r>
              <a:rPr lang="en-US" i="1" dirty="0" smtClean="0"/>
              <a:t>The banks should </a:t>
            </a:r>
            <a:r>
              <a:rPr lang="en-US" dirty="0" smtClean="0"/>
              <a:t>not </a:t>
            </a:r>
            <a:r>
              <a:rPr lang="en-US" dirty="0" smtClean="0"/>
              <a:t>just rely </a:t>
            </a:r>
            <a:r>
              <a:rPr lang="en-US" dirty="0"/>
              <a:t>solely on lagging </a:t>
            </a:r>
            <a:r>
              <a:rPr lang="en-US" dirty="0" smtClean="0"/>
              <a:t>indicators</a:t>
            </a:r>
          </a:p>
          <a:p>
            <a:r>
              <a:rPr lang="en-US" b="1" i="1" u="sng" dirty="0" smtClean="0"/>
              <a:t>Better </a:t>
            </a:r>
            <a:r>
              <a:rPr lang="en-US" b="1" i="1" u="sng" dirty="0"/>
              <a:t>to have a problem loan than an NPL</a:t>
            </a:r>
            <a:r>
              <a:rPr lang="en-US" b="1" i="1" dirty="0"/>
              <a:t>:</a:t>
            </a:r>
            <a:r>
              <a:rPr lang="en-US" dirty="0"/>
              <a:t> It is far better if the lending department can work with the customer to resolve the problem rather than the customer </a:t>
            </a:r>
            <a:r>
              <a:rPr lang="en-US" dirty="0" smtClean="0"/>
              <a:t>goes </a:t>
            </a:r>
            <a:r>
              <a:rPr lang="en-US" dirty="0"/>
              <a:t>into default and after 45 days be transferred to the loan Workout </a:t>
            </a:r>
            <a:r>
              <a:rPr lang="en-US" dirty="0" smtClean="0"/>
              <a:t>Department</a:t>
            </a:r>
          </a:p>
          <a:p>
            <a:r>
              <a:rPr lang="en-US" b="1" i="1" u="sng" dirty="0"/>
              <a:t>Banks must focus on leading indicators of </a:t>
            </a:r>
            <a:r>
              <a:rPr lang="en-US" b="1" i="1" u="sng" dirty="0" smtClean="0"/>
              <a:t>problems</a:t>
            </a:r>
            <a:r>
              <a:rPr lang="en-US" b="1" i="1" dirty="0"/>
              <a:t>:</a:t>
            </a:r>
            <a:r>
              <a:rPr lang="en-US" i="1" dirty="0" smtClean="0"/>
              <a:t> </a:t>
            </a:r>
            <a:r>
              <a:rPr lang="en-US" dirty="0" smtClean="0"/>
              <a:t>increased </a:t>
            </a:r>
            <a:r>
              <a:rPr lang="en-US" dirty="0"/>
              <a:t>use of overdraft, seeking new credit lines, slow </a:t>
            </a:r>
            <a:r>
              <a:rPr lang="en-US" dirty="0" smtClean="0"/>
              <a:t>payment </a:t>
            </a:r>
            <a:r>
              <a:rPr lang="en-US" dirty="0"/>
              <a:t>of trade creditors, late supply of </a:t>
            </a:r>
            <a:r>
              <a:rPr lang="en-US" dirty="0" smtClean="0"/>
              <a:t>information. These tend to show potential signs of an NPL</a:t>
            </a:r>
          </a:p>
          <a:p>
            <a:r>
              <a:rPr lang="en-US" b="1" i="1" u="sng" dirty="0" smtClean="0"/>
              <a:t>Management </a:t>
            </a:r>
            <a:r>
              <a:rPr lang="en-US" b="1" i="1" u="sng" dirty="0"/>
              <a:t>analysis</a:t>
            </a:r>
            <a:r>
              <a:rPr lang="en-US" b="1" i="1" dirty="0"/>
              <a:t>:</a:t>
            </a:r>
            <a:r>
              <a:rPr lang="en-US" dirty="0"/>
              <a:t> A thorough analysis of borrower’s management must be conducted prior to the loan disbursement that might involves a review of the general management capabilities, crisis management capabilities, management’s integrity and turnaround management </a:t>
            </a:r>
            <a:r>
              <a:rPr lang="en-US" dirty="0" smtClean="0"/>
              <a:t>capabilities</a:t>
            </a:r>
            <a:endParaRPr lang="en-US" dirty="0"/>
          </a:p>
          <a:p>
            <a:r>
              <a:rPr lang="en-US" b="1" i="1" u="sng" dirty="0"/>
              <a:t>Financial statement analysis</a:t>
            </a:r>
            <a:r>
              <a:rPr lang="en-US" b="1" i="1" dirty="0"/>
              <a:t>:</a:t>
            </a:r>
            <a:r>
              <a:rPr lang="en-US" dirty="0"/>
              <a:t> Financial statement analysis attempts to evaluate, from a financial perspective, the company’s performance in the light of the causes and viability of the core </a:t>
            </a:r>
            <a:r>
              <a:rPr lang="en-US" dirty="0" smtClean="0"/>
              <a:t>businesses</a:t>
            </a:r>
          </a:p>
          <a:p>
            <a:endParaRPr lang="en-US" dirty="0"/>
          </a:p>
        </p:txBody>
      </p:sp>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ackgroundRemoval t="0" b="100000" l="10000" r="90000"/>
                    </a14:imgEffect>
                  </a14:imgLayer>
                </a14:imgProps>
              </a:ext>
              <a:ext uri="{28A0092B-C50C-407E-A947-70E740481C1C}">
                <a14:useLocalDpi xmlns:a14="http://schemas.microsoft.com/office/drawing/2010/main" val="0"/>
              </a:ext>
            </a:extLst>
          </a:blip>
          <a:stretch>
            <a:fillRect/>
          </a:stretch>
        </p:blipFill>
        <p:spPr>
          <a:xfrm>
            <a:off x="8897828" y="68583"/>
            <a:ext cx="3739015" cy="2093849"/>
          </a:xfrm>
          <a:prstGeom prst="rect">
            <a:avLst/>
          </a:prstGeom>
        </p:spPr>
      </p:pic>
    </p:spTree>
    <p:extLst>
      <p:ext uri="{BB962C8B-B14F-4D97-AF65-F5344CB8AC3E}">
        <p14:creationId xmlns:p14="http://schemas.microsoft.com/office/powerpoint/2010/main" val="33406074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35975" y="2886312"/>
            <a:ext cx="9823322" cy="2315882"/>
          </a:xfrm>
        </p:spPr>
        <p:txBody>
          <a:bodyPr>
            <a:normAutofit/>
          </a:bodyPr>
          <a:lstStyle/>
          <a:p>
            <a:pPr algn="ctr"/>
            <a:r>
              <a:rPr lang="en-US" sz="8800" b="1" dirty="0" smtClean="0">
                <a:solidFill>
                  <a:schemeClr val="accent1">
                    <a:lumMod val="75000"/>
                  </a:schemeClr>
                </a:solidFill>
              </a:rPr>
              <a:t>Thank You</a:t>
            </a:r>
            <a:r>
              <a:rPr lang="en-US" sz="8800" b="1" dirty="0" smtClean="0">
                <a:solidFill>
                  <a:schemeClr val="accent1">
                    <a:lumMod val="75000"/>
                  </a:schemeClr>
                </a:solidFill>
              </a:rPr>
              <a:t>!</a:t>
            </a:r>
            <a:endParaRPr lang="en-US" sz="8800" b="1" dirty="0">
              <a:solidFill>
                <a:schemeClr val="accent1">
                  <a:lumMod val="75000"/>
                </a:schemeClr>
              </a:solidFill>
            </a:endParaRPr>
          </a:p>
        </p:txBody>
      </p:sp>
    </p:spTree>
    <p:extLst>
      <p:ext uri="{BB962C8B-B14F-4D97-AF65-F5344CB8AC3E}">
        <p14:creationId xmlns:p14="http://schemas.microsoft.com/office/powerpoint/2010/main" val="258737189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165</TotalTime>
  <Words>857</Words>
  <Application>Microsoft Office PowerPoint</Application>
  <PresentationFormat>Widescreen</PresentationFormat>
  <Paragraphs>69</Paragraphs>
  <Slides>10</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Calibri Light</vt:lpstr>
      <vt:lpstr>Wingdings</vt:lpstr>
      <vt:lpstr>Retrospect</vt:lpstr>
      <vt:lpstr>Crucial Factors of Nonperforming loans Evidence from Pakistani Banking Sector</vt:lpstr>
      <vt:lpstr>Introduction</vt:lpstr>
      <vt:lpstr>Effect of NPL at a Macro Level </vt:lpstr>
      <vt:lpstr>Evidence from Past Studies</vt:lpstr>
      <vt:lpstr>NPL</vt:lpstr>
      <vt:lpstr>Factors affecting NPLs</vt:lpstr>
      <vt:lpstr>PowerPoint Presentation</vt:lpstr>
      <vt:lpstr>Drawbacks of NPLs</vt:lpstr>
      <vt:lpstr>Recommendations to reduce NPLs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Mirza Kashif 420</dc:creator>
  <cp:lastModifiedBy>student</cp:lastModifiedBy>
  <cp:revision>32</cp:revision>
  <dcterms:created xsi:type="dcterms:W3CDTF">2022-03-22T04:45:33Z</dcterms:created>
  <dcterms:modified xsi:type="dcterms:W3CDTF">2022-03-24T06:01:16Z</dcterms:modified>
</cp:coreProperties>
</file>