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65" r:id="rId2"/>
    <p:sldId id="266" r:id="rId3"/>
    <p:sldId id="267" r:id="rId4"/>
    <p:sldId id="259" r:id="rId5"/>
    <p:sldId id="260" r:id="rId6"/>
    <p:sldId id="257" r:id="rId7"/>
    <p:sldId id="258" r:id="rId8"/>
    <p:sldId id="261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760BEB-B145-41D5-97A4-06DEA613C524}" type="datetimeFigureOut">
              <a:rPr lang="en-US" smtClean="0"/>
              <a:t>09-May-22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144BC1-4ECA-46C9-BC7E-917EB47F0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981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A3BB3-9E4F-41DB-B655-8A50DEEE0AF1}" type="datetimeFigureOut">
              <a:rPr lang="en-US" smtClean="0"/>
              <a:t>09-May-22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52059-5FAC-4683-BEF1-63D33B463AA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356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A3BB3-9E4F-41DB-B655-8A50DEEE0AF1}" type="datetimeFigureOut">
              <a:rPr lang="en-US" smtClean="0"/>
              <a:t>09-May-22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52059-5FAC-4683-BEF1-63D33B463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552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A3BB3-9E4F-41DB-B655-8A50DEEE0AF1}" type="datetimeFigureOut">
              <a:rPr lang="en-US" smtClean="0"/>
              <a:t>09-May-22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52059-5FAC-4683-BEF1-63D33B463AA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0875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A3BB3-9E4F-41DB-B655-8A50DEEE0AF1}" type="datetimeFigureOut">
              <a:rPr lang="en-US" smtClean="0"/>
              <a:t>09-May-22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52059-5FAC-4683-BEF1-63D33B463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542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A3BB3-9E4F-41DB-B655-8A50DEEE0AF1}" type="datetimeFigureOut">
              <a:rPr lang="en-US" smtClean="0"/>
              <a:t>09-May-22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52059-5FAC-4683-BEF1-63D33B463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267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A3BB3-9E4F-41DB-B655-8A50DEEE0AF1}" type="datetimeFigureOut">
              <a:rPr lang="en-US" smtClean="0"/>
              <a:t>09-May-22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52059-5FAC-4683-BEF1-63D33B463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365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A3BB3-9E4F-41DB-B655-8A50DEEE0AF1}" type="datetimeFigureOut">
              <a:rPr lang="en-US" smtClean="0"/>
              <a:t>09-May-22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52059-5FAC-4683-BEF1-63D33B463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23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D0A3BB3-9E4F-41DB-B655-8A50DEEE0AF1}" type="datetimeFigureOut">
              <a:rPr lang="en-US" smtClean="0"/>
              <a:t>09-May-22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BA52059-5FAC-4683-BEF1-63D33B463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705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A3BB3-9E4F-41DB-B655-8A50DEEE0AF1}" type="datetimeFigureOut">
              <a:rPr lang="en-US" smtClean="0"/>
              <a:t>09-May-22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52059-5FAC-4683-BEF1-63D33B463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757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A3BB3-9E4F-41DB-B655-8A50DEEE0AF1}" type="datetimeFigureOut">
              <a:rPr lang="en-US" smtClean="0"/>
              <a:t>09-May-22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52059-5FAC-4683-BEF1-63D33B463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489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A3BB3-9E4F-41DB-B655-8A50DEEE0AF1}" type="datetimeFigureOut">
              <a:rPr lang="en-US" smtClean="0"/>
              <a:t>09-May-22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52059-5FAC-4683-BEF1-63D33B463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387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D0A3BB3-9E4F-41DB-B655-8A50DEEE0AF1}" type="datetimeFigureOut">
              <a:rPr lang="en-US" smtClean="0"/>
              <a:t>09-May-22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BA52059-5FAC-4683-BEF1-63D33B463AAD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8517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991FD-F5A9-8190-DDCA-22CBB2E4F4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799" y="720436"/>
            <a:ext cx="10058400" cy="2173039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Fast-Food Chains Price Discriminate on the Race and Income Characteristics of an Area?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4482A6-2C5C-24EC-7B6E-92AE2224C5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9727" y="3070166"/>
            <a:ext cx="10552545" cy="114300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Final Presentation: Econometrics 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F63162-55FD-6823-0EC1-B984F28F9F07}"/>
              </a:ext>
            </a:extLst>
          </p:cNvPr>
          <p:cNvSpPr txBox="1"/>
          <p:nvPr/>
        </p:nvSpPr>
        <p:spPr>
          <a:xfrm>
            <a:off x="6391564" y="4389857"/>
            <a:ext cx="536632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Presented By: </a:t>
            </a:r>
          </a:p>
          <a:p>
            <a:pPr algn="r"/>
            <a:r>
              <a:rPr lang="en-US" sz="2000" dirty="0" err="1"/>
              <a:t>Jehanzeb</a:t>
            </a:r>
            <a:r>
              <a:rPr lang="en-US" sz="2000" dirty="0"/>
              <a:t> Shahzad</a:t>
            </a:r>
          </a:p>
          <a:p>
            <a:pPr algn="r"/>
            <a:r>
              <a:rPr lang="en-US" sz="2000" dirty="0"/>
              <a:t>Abdul Rehman Shoukat</a:t>
            </a:r>
          </a:p>
          <a:p>
            <a:pPr algn="r"/>
            <a:r>
              <a:rPr lang="en-US" sz="2000" dirty="0"/>
              <a:t>Zain Khan</a:t>
            </a:r>
          </a:p>
          <a:p>
            <a:pPr algn="r"/>
            <a:r>
              <a:rPr lang="en-US" sz="2000" dirty="0"/>
              <a:t>Mirza Kashif</a:t>
            </a:r>
          </a:p>
          <a:p>
            <a:pPr algn="r"/>
            <a:r>
              <a:rPr lang="en-US" sz="2000" dirty="0"/>
              <a:t>Muhammad Usman</a:t>
            </a:r>
          </a:p>
        </p:txBody>
      </p:sp>
    </p:spTree>
    <p:extLst>
      <p:ext uri="{BB962C8B-B14F-4D97-AF65-F5344CB8AC3E}">
        <p14:creationId xmlns:p14="http://schemas.microsoft.com/office/powerpoint/2010/main" val="1822609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91F41-F4CE-5372-B5D5-4FACF7AC0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A40B31-D2DB-7C4E-4B7E-A64FB5FFA5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This article reports tests for differences in prices charged by fast-food restaurants that serve markets with customers of widely divergent incomes and ethnic backgrounds.</a:t>
            </a:r>
          </a:p>
          <a:p>
            <a:pPr>
              <a:lnSpc>
                <a:spcPct val="150000"/>
              </a:lnSpc>
            </a:pPr>
            <a:r>
              <a:rPr lang="en-US" dirty="0"/>
              <a:t>Do Fast-Food Chains Prices Discriminate on the Race and Income Characteristics of an Area?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06DDF2B-ADF0-F516-8D10-BD8426C100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9088" y="4282904"/>
            <a:ext cx="4417441" cy="5422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407B9C2-9AE6-4F20-31D4-9F08BD7548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4592" y="4825117"/>
            <a:ext cx="5006435" cy="54221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69476C1-E465-ED9D-CE05-42CC0FF87A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5000" y="5367330"/>
            <a:ext cx="6565615" cy="635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059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5A090-17FB-E474-042D-E69BC6EA4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and Descriptive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E34A01-2967-C6A1-C7C8-65B9AE11EC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Data on individual fast-food restaurants were gathered in a study by Card and Krueger (1994) that investigated the effect of a minimum-wage change in New Jersey on employment in the fast-food industry.</a:t>
            </a:r>
          </a:p>
          <a:p>
            <a:pPr>
              <a:lnSpc>
                <a:spcPct val="150000"/>
              </a:lnSpc>
            </a:pPr>
            <a:r>
              <a:rPr lang="en-US" dirty="0"/>
              <a:t>In their study, Card and Krueger attempted to contact all Burger King, KFC, Wendy's, and Roy Rogers restaurants that were listed in all of New Jersey and eastern Pennsylvania.</a:t>
            </a:r>
          </a:p>
          <a:p>
            <a:pPr>
              <a:lnSpc>
                <a:spcPct val="150000"/>
              </a:lnSpc>
            </a:pPr>
            <a:r>
              <a:rPr lang="en-US" dirty="0"/>
              <a:t>The total number of observations/samples was 410.</a:t>
            </a:r>
          </a:p>
        </p:txBody>
      </p:sp>
    </p:spTree>
    <p:extLst>
      <p:ext uri="{BB962C8B-B14F-4D97-AF65-F5344CB8AC3E}">
        <p14:creationId xmlns:p14="http://schemas.microsoft.com/office/powerpoint/2010/main" val="1456447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89F0C-3167-D847-4D51-548815D11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and Descriptive Statistics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DAA21-765F-52CF-B6C9-CED61F2E4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Obtained a complete set of price data for 387 stores in the first phase of the survey and for 376 stores in the second phase of the survey.</a:t>
            </a:r>
          </a:p>
          <a:p>
            <a:pPr>
              <a:lnSpc>
                <a:spcPct val="150000"/>
              </a:lnSpc>
            </a:pPr>
            <a:r>
              <a:rPr lang="en-US" dirty="0"/>
              <a:t>The survey contained questions on a variety of store characteristics, including the number of employees, wages, and ownership status.</a:t>
            </a:r>
          </a:p>
          <a:p>
            <a:pPr>
              <a:lnSpc>
                <a:spcPct val="150000"/>
              </a:lnSpc>
            </a:pPr>
            <a:r>
              <a:rPr lang="en-US" dirty="0"/>
              <a:t>Also, zip-codes were used as the original price data with census data by zip-code region which is relevant for the density and crime-rate statistics. 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3525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944" y="148058"/>
            <a:ext cx="10058400" cy="145075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Equation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635" y="1737360"/>
            <a:ext cx="8332084" cy="1003085"/>
          </a:xfrm>
        </p:spPr>
      </p:pic>
      <p:sp>
        <p:nvSpPr>
          <p:cNvPr id="6" name="TextBox 5"/>
          <p:cNvSpPr txBox="1"/>
          <p:nvPr/>
        </p:nvSpPr>
        <p:spPr>
          <a:xfrm>
            <a:off x="652635" y="2740445"/>
            <a:ext cx="10419019" cy="2352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Piz is the price of an item in store </a:t>
            </a:r>
            <a:r>
              <a:rPr lang="en-US" sz="2000" dirty="0" err="1"/>
              <a:t>i</a:t>
            </a:r>
            <a:r>
              <a:rPr lang="en-US" sz="2000" dirty="0"/>
              <a:t> in zip code z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/>
              <a:t>Rz</a:t>
            </a:r>
            <a:r>
              <a:rPr lang="en-US" sz="2000" dirty="0"/>
              <a:t> is a vector of variables representing the race and </a:t>
            </a:r>
            <a:r>
              <a:rPr lang="en-US" sz="2000" dirty="0" err="1"/>
              <a:t>income</a:t>
            </a:r>
            <a:r>
              <a:rPr lang="en-US" sz="2000" dirty="0"/>
              <a:t> characteristics of zip code z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/>
              <a:t>COMPiz</a:t>
            </a:r>
            <a:r>
              <a:rPr lang="en-US" sz="2000" dirty="0"/>
              <a:t> is a vector of variables controlling the competition faced by store </a:t>
            </a:r>
            <a:r>
              <a:rPr lang="en-US" sz="2000" dirty="0" err="1"/>
              <a:t>i</a:t>
            </a:r>
            <a:r>
              <a:rPr lang="en-US" sz="2000" dirty="0"/>
              <a:t> in zip code z,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/>
              <a:t>MCiz</a:t>
            </a:r>
            <a:r>
              <a:rPr lang="en-US" sz="2000" dirty="0"/>
              <a:t> is a vector of variables related to the marginal cost of operation of store </a:t>
            </a:r>
            <a:r>
              <a:rPr lang="en-US" sz="2000" dirty="0" err="1"/>
              <a:t>i</a:t>
            </a:r>
            <a:r>
              <a:rPr lang="en-US" sz="2000" dirty="0"/>
              <a:t> in zip code z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€ is the error term</a:t>
            </a:r>
          </a:p>
        </p:txBody>
      </p:sp>
    </p:spTree>
    <p:extLst>
      <p:ext uri="{BB962C8B-B14F-4D97-AF65-F5344CB8AC3E}">
        <p14:creationId xmlns:p14="http://schemas.microsoft.com/office/powerpoint/2010/main" val="7406764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Distributions of fast food stores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5782" y="1845945"/>
            <a:ext cx="5316134" cy="4023360"/>
          </a:xfrm>
        </p:spPr>
        <p:txBody>
          <a:bodyPr>
            <a:normAutofit/>
          </a:bodyPr>
          <a:lstStyle/>
          <a:p>
            <a:r>
              <a:rPr lang="en-US" dirty="0"/>
              <a:t>The table presents the percentage of stores located in areas with different race and income compositions</a:t>
            </a:r>
          </a:p>
          <a:p>
            <a:r>
              <a:rPr lang="en-US" dirty="0"/>
              <a:t>Prop Black = Black people/everyone</a:t>
            </a:r>
          </a:p>
          <a:p>
            <a:r>
              <a:rPr lang="en-US" dirty="0"/>
              <a:t>Proportion below poverty: pop below poverty/ Pop for which poverty is determined</a:t>
            </a:r>
          </a:p>
          <a:p>
            <a:r>
              <a:rPr lang="en-US" dirty="0"/>
              <a:t>Cut off points of 20% and 10% are arbitrary </a:t>
            </a:r>
          </a:p>
          <a:p>
            <a:r>
              <a:rPr lang="en-US" dirty="0"/>
              <a:t>Average percentage of black people across a zip code is 11.4%</a:t>
            </a:r>
          </a:p>
          <a:p>
            <a:r>
              <a:rPr lang="en-US" dirty="0"/>
              <a:t>Average percentage of poor people across a zip code is 7%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8238" y="2864745"/>
            <a:ext cx="4937125" cy="1985760"/>
          </a:xfrm>
        </p:spPr>
      </p:pic>
    </p:spTree>
    <p:extLst>
      <p:ext uri="{BB962C8B-B14F-4D97-AF65-F5344CB8AC3E}">
        <p14:creationId xmlns:p14="http://schemas.microsoft.com/office/powerpoint/2010/main" val="3473617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entree, soda, and fry prices are summed to determine the meal price</a:t>
            </a:r>
          </a:p>
          <a:p>
            <a:r>
              <a:rPr lang="en-US" dirty="0"/>
              <a:t>1 unit change in independent variable will bring about a b1*100% change in dependent variable (log-level)</a:t>
            </a:r>
          </a:p>
          <a:p>
            <a:r>
              <a:rPr lang="en-US" dirty="0"/>
              <a:t>if we change x by one percent, </a:t>
            </a:r>
            <a:br>
              <a:rPr lang="en-US" dirty="0"/>
            </a:br>
            <a:r>
              <a:rPr lang="en-US" dirty="0"/>
              <a:t>we’d expect y to change by β1 percent (log-log)</a:t>
            </a:r>
          </a:p>
          <a:p>
            <a:r>
              <a:rPr lang="en-US" dirty="0"/>
              <a:t>R*100% variation in Y is explained by the model.</a:t>
            </a:r>
          </a:p>
          <a:p>
            <a:r>
              <a:rPr lang="en-US" dirty="0"/>
              <a:t>Problem: restaurants of the same chain may have supplied prices for different types of items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24472" y="1846263"/>
            <a:ext cx="4524656" cy="402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642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Isolating Commodities 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227525" y="1846263"/>
            <a:ext cx="4677587" cy="4022725"/>
          </a:xfrm>
          <a:prstGeom prst="rect">
            <a:avLst/>
          </a:prstGeo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415441" y="1846263"/>
            <a:ext cx="4542718" cy="402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4287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Reasons why prices differ in black areas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According to the data, prices in black areas are higher regardless of income or cost controls</a:t>
            </a:r>
          </a:p>
          <a:p>
            <a:pPr>
              <a:lnSpc>
                <a:spcPct val="150000"/>
              </a:lnSpc>
            </a:pPr>
            <a:r>
              <a:rPr lang="en-US" dirty="0"/>
              <a:t>prices rise about 5% for a 50% increase in the black population, even after controlling for differences in cost and competition</a:t>
            </a:r>
          </a:p>
          <a:p>
            <a:pPr>
              <a:lnSpc>
                <a:spcPct val="150000"/>
              </a:lnSpc>
            </a:pPr>
            <a:r>
              <a:rPr lang="en-US" dirty="0"/>
              <a:t>Cost Explanation: differences in prices are arising because of unmeasured cost differences that are correlated with the proportion-black variable (crime rate – insurance costs are high &amp; less branches in black vicinity by owners so less economies of scale and less price reductions)</a:t>
            </a:r>
          </a:p>
          <a:p>
            <a:pPr>
              <a:lnSpc>
                <a:spcPct val="150000"/>
              </a:lnSpc>
            </a:pPr>
            <a:r>
              <a:rPr lang="en-US" dirty="0"/>
              <a:t>Imperfect Competition: Differences in demand elasticities – Female labor participation – working mothers are less sensitive to price</a:t>
            </a:r>
          </a:p>
          <a:p>
            <a:pPr>
              <a:lnSpc>
                <a:spcPct val="150000"/>
              </a:lnSpc>
            </a:pPr>
            <a:r>
              <a:rPr lang="en-US" dirty="0"/>
              <a:t>Discrimination: white workers/ customer are prejudiced against black workers Young (1994)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70536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0AA1A-B561-09C6-014A-84BF424A4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P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02D54-0F14-F32D-BEEA-FB91C62C88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The results indicate that fast food restaurants charge more in  neighborhoods occupied by the Black community.</a:t>
            </a:r>
          </a:p>
          <a:p>
            <a:pPr>
              <a:lnSpc>
                <a:spcPct val="150000"/>
              </a:lnSpc>
            </a:pPr>
            <a:r>
              <a:rPr lang="en-US" dirty="0"/>
              <a:t>For every 50% increase in the population of blacks in a area price are increased by 5%.</a:t>
            </a:r>
          </a:p>
          <a:p>
            <a:pPr lvl="1">
              <a:lnSpc>
                <a:spcPct val="150000"/>
              </a:lnSpc>
            </a:pP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/>
              <a:t>The difference might be due to unmeasured costs in the area populated by the Black community.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5361473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994BD-671A-1A64-93F1-5D5584DAF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Relevance to Developing Countries</a:t>
            </a:r>
            <a:endParaRPr lang="en-P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C4784F-937B-1781-D7CC-2C6918F2CB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819274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Prices are relatively higher in Developed Countries.</a:t>
            </a:r>
          </a:p>
          <a:p>
            <a:pPr>
              <a:lnSpc>
                <a:spcPct val="150000"/>
              </a:lnSpc>
            </a:pPr>
            <a:r>
              <a:rPr lang="en-US" dirty="0"/>
              <a:t>Prices are almost same in Developing Countries.</a:t>
            </a:r>
          </a:p>
          <a:p>
            <a:pPr>
              <a:lnSpc>
                <a:spcPct val="150000"/>
              </a:lnSpc>
            </a:pPr>
            <a:r>
              <a:rPr lang="en-US" dirty="0"/>
              <a:t>Price discrimination across race in Pakistan is not there, might be due to less diversity.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26AB8E-5815-B1EA-7E10-319B319920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1868" y="1930275"/>
            <a:ext cx="4411579" cy="4142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81426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143</TotalTime>
  <Words>701</Words>
  <Application>Microsoft Office PowerPoint</Application>
  <PresentationFormat>Widescreen</PresentationFormat>
  <Paragraphs>54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Retrospect</vt:lpstr>
      <vt:lpstr>Do Fast-Food Chains Price Discriminate on the Race and Income Characteristics of an Area?</vt:lpstr>
      <vt:lpstr>Introduction</vt:lpstr>
      <vt:lpstr>Methodology and Descriptive Statistics</vt:lpstr>
      <vt:lpstr>Methodology and Descriptive Statistics (cont.)</vt:lpstr>
      <vt:lpstr>Regression Equation</vt:lpstr>
      <vt:lpstr>Distributions of fast food stores</vt:lpstr>
      <vt:lpstr>Variables</vt:lpstr>
      <vt:lpstr>Isolating Commodities </vt:lpstr>
      <vt:lpstr>Reasons why prices differ in black areas</vt:lpstr>
      <vt:lpstr>Conclusion</vt:lpstr>
      <vt:lpstr>Relevance to Developing Countries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Abdul Rehman</cp:lastModifiedBy>
  <cp:revision>23</cp:revision>
  <dcterms:created xsi:type="dcterms:W3CDTF">2022-05-08T16:15:59Z</dcterms:created>
  <dcterms:modified xsi:type="dcterms:W3CDTF">2022-05-08T20:06:34Z</dcterms:modified>
</cp:coreProperties>
</file>