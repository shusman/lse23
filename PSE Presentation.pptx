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83" r:id="rId2"/>
    <p:sldId id="257" r:id="rId3"/>
    <p:sldId id="277" r:id="rId4"/>
    <p:sldId id="258" r:id="rId5"/>
    <p:sldId id="260" r:id="rId6"/>
    <p:sldId id="279" r:id="rId7"/>
    <p:sldId id="272" r:id="rId8"/>
    <p:sldId id="280" r:id="rId9"/>
    <p:sldId id="281" r:id="rId10"/>
    <p:sldId id="284" r:id="rId11"/>
    <p:sldId id="285" r:id="rId12"/>
    <p:sldId id="286" r:id="rId13"/>
    <p:sldId id="261" r:id="rId14"/>
    <p:sldId id="267" r:id="rId15"/>
    <p:sldId id="268" r:id="rId16"/>
    <p:sldId id="269" r:id="rId17"/>
    <p:sldId id="270" r:id="rId18"/>
    <p:sldId id="271" r:id="rId19"/>
    <p:sldId id="273" r:id="rId20"/>
    <p:sldId id="274" r:id="rId21"/>
    <p:sldId id="275" r:id="rId22"/>
    <p:sldId id="259" r:id="rId23"/>
    <p:sldId id="265" r:id="rId24"/>
    <p:sldId id="276" r:id="rId25"/>
    <p:sldId id="282" r:id="rId26"/>
    <p:sldId id="264"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1" autoAdjust="0"/>
    <p:restoredTop sz="80910" autoAdjust="0"/>
  </p:normalViewPr>
  <p:slideViewPr>
    <p:cSldViewPr snapToGrid="0">
      <p:cViewPr varScale="1">
        <p:scale>
          <a:sx n="94" d="100"/>
          <a:sy n="94" d="100"/>
        </p:scale>
        <p:origin x="1278" y="78"/>
      </p:cViewPr>
      <p:guideLst/>
    </p:cSldViewPr>
  </p:slideViewPr>
  <p:notesTextViewPr>
    <p:cViewPr>
      <p:scale>
        <a:sx n="1" d="1"/>
        <a:sy n="1" d="1"/>
      </p:scale>
      <p:origin x="0" y="0"/>
    </p:cViewPr>
  </p:notesTextViewPr>
  <p:sorterViewPr>
    <p:cViewPr>
      <p:scale>
        <a:sx n="60" d="100"/>
        <a:sy n="60" d="100"/>
      </p:scale>
      <p:origin x="0" y="-1147"/>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B94A3A-8BB1-4160-A359-E101D048C493}" type="datetimeFigureOut">
              <a:rPr lang="en-PK" smtClean="0"/>
              <a:t>05/09/2022</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22EE69-4D33-4F27-A8BE-256E792A5C09}" type="slidenum">
              <a:rPr lang="en-PK" smtClean="0"/>
              <a:t>‹#›</a:t>
            </a:fld>
            <a:endParaRPr lang="en-PK"/>
          </a:p>
        </p:txBody>
      </p:sp>
    </p:spTree>
    <p:extLst>
      <p:ext uri="{BB962C8B-B14F-4D97-AF65-F5344CB8AC3E}">
        <p14:creationId xmlns:p14="http://schemas.microsoft.com/office/powerpoint/2010/main" val="1200562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Journanl</a:t>
            </a:r>
            <a:r>
              <a:rPr lang="en-US" dirty="0"/>
              <a:t> of public economics</a:t>
            </a:r>
          </a:p>
          <a:p>
            <a:r>
              <a:rPr lang="en-US" dirty="0" err="1"/>
              <a:t>Europian</a:t>
            </a:r>
            <a:r>
              <a:rPr lang="en-US" dirty="0"/>
              <a:t> Journal of political economics</a:t>
            </a:r>
          </a:p>
          <a:p>
            <a:r>
              <a:rPr lang="en-US" dirty="0" err="1"/>
              <a:t>Thw</a:t>
            </a:r>
            <a:r>
              <a:rPr lang="en-US" dirty="0"/>
              <a:t> </a:t>
            </a:r>
            <a:r>
              <a:rPr lang="en-US" dirty="0" err="1"/>
              <a:t>wconomic</a:t>
            </a:r>
            <a:r>
              <a:rPr lang="en-US" dirty="0"/>
              <a:t> journal</a:t>
            </a:r>
          </a:p>
          <a:p>
            <a:r>
              <a:rPr lang="en-US" dirty="0"/>
              <a:t>Journal of macro economics</a:t>
            </a:r>
          </a:p>
        </p:txBody>
      </p:sp>
      <p:sp>
        <p:nvSpPr>
          <p:cNvPr id="4" name="Slide Number Placeholder 3"/>
          <p:cNvSpPr>
            <a:spLocks noGrp="1"/>
          </p:cNvSpPr>
          <p:nvPr>
            <p:ph type="sldNum" sz="quarter" idx="5"/>
          </p:nvPr>
        </p:nvSpPr>
        <p:spPr/>
        <p:txBody>
          <a:bodyPr/>
          <a:lstStyle/>
          <a:p>
            <a:fld id="{7422EE69-4D33-4F27-A8BE-256E792A5C09}" type="slidenum">
              <a:rPr lang="en-PK" smtClean="0"/>
              <a:t>6</a:t>
            </a:fld>
            <a:endParaRPr lang="en-PK"/>
          </a:p>
        </p:txBody>
      </p:sp>
    </p:spTree>
    <p:extLst>
      <p:ext uri="{BB962C8B-B14F-4D97-AF65-F5344CB8AC3E}">
        <p14:creationId xmlns:p14="http://schemas.microsoft.com/office/powerpoint/2010/main" val="4136637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GINI Coefficient Difference b/w 45 degree line and Lorenz curve</a:t>
            </a:r>
          </a:p>
        </p:txBody>
      </p:sp>
      <p:sp>
        <p:nvSpPr>
          <p:cNvPr id="4" name="Slide Number Placeholder 3"/>
          <p:cNvSpPr>
            <a:spLocks noGrp="1"/>
          </p:cNvSpPr>
          <p:nvPr>
            <p:ph type="sldNum" sz="quarter" idx="5"/>
          </p:nvPr>
        </p:nvSpPr>
        <p:spPr/>
        <p:txBody>
          <a:bodyPr/>
          <a:lstStyle/>
          <a:p>
            <a:fld id="{7422EE69-4D33-4F27-A8BE-256E792A5C09}" type="slidenum">
              <a:rPr lang="en-PK" smtClean="0"/>
              <a:t>7</a:t>
            </a:fld>
            <a:endParaRPr lang="en-PK"/>
          </a:p>
        </p:txBody>
      </p:sp>
    </p:spTree>
    <p:extLst>
      <p:ext uri="{BB962C8B-B14F-4D97-AF65-F5344CB8AC3E}">
        <p14:creationId xmlns:p14="http://schemas.microsoft.com/office/powerpoint/2010/main" val="319956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7642CB87-134B-45FB-B663-AE2B8FE664D6}" type="slidenum">
              <a:rPr lang="en-AE" smtClean="0"/>
              <a:t>9</a:t>
            </a:fld>
            <a:endParaRPr lang="en-AE"/>
          </a:p>
        </p:txBody>
      </p:sp>
    </p:spTree>
    <p:extLst>
      <p:ext uri="{BB962C8B-B14F-4D97-AF65-F5344CB8AC3E}">
        <p14:creationId xmlns:p14="http://schemas.microsoft.com/office/powerpoint/2010/main" val="1639869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er Roman"/>
                <a:ea typeface="Calibri" panose="020F0502020204030204" pitchFamily="34" charset="0"/>
                <a:cs typeface="Times New Roman" panose="02020603050405020304" pitchFamily="18" charset="0"/>
              </a:rPr>
              <a:t>The bottom has 4700 Pound after taxes and benefits but on the other hand for Top there is 52400 final income per year when compared with bottom it has 14300 Pound which is approximately 3 to 4 times larger</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0F111E9C-FADB-489A-B29D-AF76E7525D9D}" type="slidenum">
              <a:rPr lang="en-US" smtClean="0"/>
              <a:t>10</a:t>
            </a:fld>
            <a:endParaRPr lang="en-US"/>
          </a:p>
        </p:txBody>
      </p:sp>
    </p:spTree>
    <p:extLst>
      <p:ext uri="{BB962C8B-B14F-4D97-AF65-F5344CB8AC3E}">
        <p14:creationId xmlns:p14="http://schemas.microsoft.com/office/powerpoint/2010/main" val="4117100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er Roman"/>
                <a:ea typeface="Calibri" panose="020F0502020204030204" pitchFamily="34" charset="0"/>
                <a:cs typeface="Times New Roman" panose="02020603050405020304" pitchFamily="18" charset="0"/>
              </a:rPr>
              <a:t>Majority Cash Benefits go to the households with little income like it can be seen in the above graph to Bottom and 2</a:t>
            </a:r>
            <a:r>
              <a:rPr lang="en-US" sz="1800" baseline="30000" dirty="0">
                <a:effectLst/>
                <a:latin typeface="Times Newer Roman"/>
                <a:ea typeface="Calibri" panose="020F0502020204030204" pitchFamily="34" charset="0"/>
                <a:cs typeface="Times New Roman" panose="02020603050405020304" pitchFamily="18" charset="0"/>
              </a:rPr>
              <a:t>nd</a:t>
            </a:r>
            <a:r>
              <a:rPr lang="en-US" sz="1800" dirty="0">
                <a:effectLst/>
                <a:latin typeface="Times Newer Roman"/>
                <a:ea typeface="Calibri" panose="020F0502020204030204" pitchFamily="34" charset="0"/>
                <a:cs typeface="Times New Roman" panose="02020603050405020304" pitchFamily="18" charset="0"/>
              </a:rPr>
              <a:t> Quintile group in 07-08 for all households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0F111E9C-FADB-489A-B29D-AF76E7525D9D}" type="slidenum">
              <a:rPr lang="en-US" smtClean="0"/>
              <a:t>11</a:t>
            </a:fld>
            <a:endParaRPr lang="en-US"/>
          </a:p>
        </p:txBody>
      </p:sp>
    </p:spTree>
    <p:extLst>
      <p:ext uri="{BB962C8B-B14F-4D97-AF65-F5344CB8AC3E}">
        <p14:creationId xmlns:p14="http://schemas.microsoft.com/office/powerpoint/2010/main" val="19329669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er Roman"/>
                <a:ea typeface="Calibri" panose="020F0502020204030204" pitchFamily="34" charset="0"/>
                <a:cs typeface="Times New Roman" panose="02020603050405020304" pitchFamily="18" charset="0"/>
              </a:rPr>
              <a:t>The Above Table shows that Direct Taxes are taken at most from the Top Households and they are given the least cash benefit but on the other hand Bottom and 2</a:t>
            </a:r>
            <a:r>
              <a:rPr lang="en-US" sz="1800" baseline="30000" dirty="0">
                <a:effectLst/>
                <a:latin typeface="Times Newer Roman"/>
                <a:ea typeface="Calibri" panose="020F0502020204030204" pitchFamily="34" charset="0"/>
                <a:cs typeface="Times New Roman" panose="02020603050405020304" pitchFamily="18" charset="0"/>
              </a:rPr>
              <a:t>nd</a:t>
            </a:r>
            <a:r>
              <a:rPr lang="en-US" sz="1800" dirty="0">
                <a:effectLst/>
                <a:latin typeface="Times Newer Roman"/>
                <a:ea typeface="Calibri" panose="020F0502020204030204" pitchFamily="34" charset="0"/>
                <a:cs typeface="Times New Roman" panose="02020603050405020304" pitchFamily="18" charset="0"/>
              </a:rPr>
              <a:t> Quintiles are charged the least Direct Tax but maximum Indirect Taxes and with maximum Cash benefit and benefits in kind given too.</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0F111E9C-FADB-489A-B29D-AF76E7525D9D}" type="slidenum">
              <a:rPr lang="en-US" smtClean="0"/>
              <a:t>12</a:t>
            </a:fld>
            <a:endParaRPr lang="en-US"/>
          </a:p>
        </p:txBody>
      </p:sp>
    </p:spTree>
    <p:extLst>
      <p:ext uri="{BB962C8B-B14F-4D97-AF65-F5344CB8AC3E}">
        <p14:creationId xmlns:p14="http://schemas.microsoft.com/office/powerpoint/2010/main" val="2380954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er Roman"/>
                <a:ea typeface="Calibri" panose="020F0502020204030204" pitchFamily="34" charset="0"/>
                <a:cs typeface="Times New Roman" panose="02020603050405020304" pitchFamily="18" charset="0"/>
              </a:rPr>
              <a:t>The above graph shows The Stages of Redistribution a product passes from when moving to the final income of an individual or household.</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0F111E9C-FADB-489A-B29D-AF76E7525D9D}" type="slidenum">
              <a:rPr lang="en-US" smtClean="0"/>
              <a:t>13</a:t>
            </a:fld>
            <a:endParaRPr lang="en-US"/>
          </a:p>
        </p:txBody>
      </p:sp>
    </p:spTree>
    <p:extLst>
      <p:ext uri="{BB962C8B-B14F-4D97-AF65-F5344CB8AC3E}">
        <p14:creationId xmlns:p14="http://schemas.microsoft.com/office/powerpoint/2010/main" val="1713987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wealthiest 10% of individuals earn about 63.7% of total market income, but they pay 86.9% of total personal income tax.</a:t>
            </a:r>
            <a:endParaRPr lang="en-PK"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r>
              <a:rPr lang="en-US" dirty="0"/>
              <a:t>South Africa 2015</a:t>
            </a:r>
            <a:endParaRPr lang="en-PK" dirty="0"/>
          </a:p>
        </p:txBody>
      </p:sp>
      <p:sp>
        <p:nvSpPr>
          <p:cNvPr id="4" name="Slide Number Placeholder 3"/>
          <p:cNvSpPr>
            <a:spLocks noGrp="1"/>
          </p:cNvSpPr>
          <p:nvPr>
            <p:ph type="sldNum" sz="quarter" idx="5"/>
          </p:nvPr>
        </p:nvSpPr>
        <p:spPr/>
        <p:txBody>
          <a:bodyPr/>
          <a:lstStyle/>
          <a:p>
            <a:fld id="{0C5C60F2-E6C5-469C-866D-1F9778A3FC08}" type="slidenum">
              <a:rPr lang="en-PK" smtClean="0"/>
              <a:t>16</a:t>
            </a:fld>
            <a:endParaRPr lang="en-PK"/>
          </a:p>
        </p:txBody>
      </p:sp>
    </p:spTree>
    <p:extLst>
      <p:ext uri="{BB962C8B-B14F-4D97-AF65-F5344CB8AC3E}">
        <p14:creationId xmlns:p14="http://schemas.microsoft.com/office/powerpoint/2010/main" val="3897171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how the poorest households comparatively receive much more benefit from spending on education than their share of market income.</a:t>
            </a:r>
            <a:endParaRPr lang="en-PK" dirty="0"/>
          </a:p>
        </p:txBody>
      </p:sp>
      <p:sp>
        <p:nvSpPr>
          <p:cNvPr id="4" name="Slide Number Placeholder 3"/>
          <p:cNvSpPr>
            <a:spLocks noGrp="1"/>
          </p:cNvSpPr>
          <p:nvPr>
            <p:ph type="sldNum" sz="quarter" idx="5"/>
          </p:nvPr>
        </p:nvSpPr>
        <p:spPr/>
        <p:txBody>
          <a:bodyPr/>
          <a:lstStyle/>
          <a:p>
            <a:fld id="{0C5C60F2-E6C5-469C-866D-1F9778A3FC08}" type="slidenum">
              <a:rPr lang="en-PK" smtClean="0"/>
              <a:t>17</a:t>
            </a:fld>
            <a:endParaRPr lang="en-PK"/>
          </a:p>
        </p:txBody>
      </p:sp>
    </p:spTree>
    <p:extLst>
      <p:ext uri="{BB962C8B-B14F-4D97-AF65-F5344CB8AC3E}">
        <p14:creationId xmlns:p14="http://schemas.microsoft.com/office/powerpoint/2010/main" val="867100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000000"/>
                </a:solidFill>
                <a:effectLst/>
                <a:latin typeface="Times New Roman" panose="02020603050405020304" pitchFamily="18" charset="0"/>
                <a:ea typeface="Times New Roman" panose="02020603050405020304" pitchFamily="18" charset="0"/>
              </a:rPr>
              <a:t>how the poorest households comparatively receive much more benefit from health spending than their share of market income.</a:t>
            </a:r>
            <a:endParaRPr lang="en-PK" sz="1800" dirty="0">
              <a:effectLst/>
              <a:latin typeface="Times New Roman" panose="02020603050405020304" pitchFamily="18" charset="0"/>
              <a:ea typeface="Times New Roman" panose="02020603050405020304" pitchFamily="18" charset="0"/>
            </a:endParaRPr>
          </a:p>
          <a:p>
            <a:endParaRPr lang="en-PK" dirty="0"/>
          </a:p>
        </p:txBody>
      </p:sp>
      <p:sp>
        <p:nvSpPr>
          <p:cNvPr id="4" name="Slide Number Placeholder 3"/>
          <p:cNvSpPr>
            <a:spLocks noGrp="1"/>
          </p:cNvSpPr>
          <p:nvPr>
            <p:ph type="sldNum" sz="quarter" idx="5"/>
          </p:nvPr>
        </p:nvSpPr>
        <p:spPr/>
        <p:txBody>
          <a:bodyPr/>
          <a:lstStyle/>
          <a:p>
            <a:fld id="{0C5C60F2-E6C5-469C-866D-1F9778A3FC08}" type="slidenum">
              <a:rPr lang="en-PK" smtClean="0"/>
              <a:t>18</a:t>
            </a:fld>
            <a:endParaRPr lang="en-PK"/>
          </a:p>
        </p:txBody>
      </p:sp>
    </p:spTree>
    <p:extLst>
      <p:ext uri="{BB962C8B-B14F-4D97-AF65-F5344CB8AC3E}">
        <p14:creationId xmlns:p14="http://schemas.microsoft.com/office/powerpoint/2010/main" val="11802493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Cash benefit gives 44% of gross income to the low income earners and 1% to high income earners</a:t>
            </a:r>
          </a:p>
          <a:p>
            <a:r>
              <a:rPr lang="en-US" dirty="0">
                <a:effectLst/>
                <a:latin typeface="Calibri" panose="020F0502020204030204" pitchFamily="34" charset="0"/>
                <a:ea typeface="Calibri" panose="020F0502020204030204" pitchFamily="34" charset="0"/>
                <a:cs typeface="Arial" panose="020B0604020202020204" pitchFamily="34" charset="0"/>
              </a:rPr>
              <a:t>GST negatively impact the purchasing power of people</a:t>
            </a:r>
          </a:p>
          <a:p>
            <a:endParaRPr lang="en-US" dirty="0"/>
          </a:p>
        </p:txBody>
      </p:sp>
      <p:sp>
        <p:nvSpPr>
          <p:cNvPr id="4" name="Slide Number Placeholder 3"/>
          <p:cNvSpPr>
            <a:spLocks noGrp="1"/>
          </p:cNvSpPr>
          <p:nvPr>
            <p:ph type="sldNum" sz="quarter" idx="5"/>
          </p:nvPr>
        </p:nvSpPr>
        <p:spPr/>
        <p:txBody>
          <a:bodyPr/>
          <a:lstStyle/>
          <a:p>
            <a:fld id="{7422EE69-4D33-4F27-A8BE-256E792A5C09}" type="slidenum">
              <a:rPr lang="en-PK" smtClean="0"/>
              <a:t>23</a:t>
            </a:fld>
            <a:endParaRPr lang="en-PK"/>
          </a:p>
        </p:txBody>
      </p:sp>
    </p:spTree>
    <p:extLst>
      <p:ext uri="{BB962C8B-B14F-4D97-AF65-F5344CB8AC3E}">
        <p14:creationId xmlns:p14="http://schemas.microsoft.com/office/powerpoint/2010/main" val="642595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34CA4EE-6D6D-431D-A702-88042E1DB86E}" type="datetimeFigureOut">
              <a:rPr lang="en-PK" smtClean="0"/>
              <a:t>05/09/2022</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414D965-FA9A-471B-B05A-FB7E221FFD71}" type="slidenum">
              <a:rPr lang="en-PK" smtClean="0"/>
              <a:t>‹#›</a:t>
            </a:fld>
            <a:endParaRPr lang="en-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840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CA4EE-6D6D-431D-A702-88042E1DB86E}" type="datetimeFigureOut">
              <a:rPr lang="en-PK" smtClean="0"/>
              <a:t>05/09/2022</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414D965-FA9A-471B-B05A-FB7E221FFD71}" type="slidenum">
              <a:rPr lang="en-PK" smtClean="0"/>
              <a:t>‹#›</a:t>
            </a:fld>
            <a:endParaRPr lang="en-PK"/>
          </a:p>
        </p:txBody>
      </p:sp>
    </p:spTree>
    <p:extLst>
      <p:ext uri="{BB962C8B-B14F-4D97-AF65-F5344CB8AC3E}">
        <p14:creationId xmlns:p14="http://schemas.microsoft.com/office/powerpoint/2010/main" val="3860529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4CA4EE-6D6D-431D-A702-88042E1DB86E}" type="datetimeFigureOut">
              <a:rPr lang="en-PK" smtClean="0"/>
              <a:t>05/09/2022</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414D965-FA9A-471B-B05A-FB7E221FFD71}" type="slidenum">
              <a:rPr lang="en-PK" smtClean="0"/>
              <a:t>‹#›</a:t>
            </a:fld>
            <a:endParaRPr lang="en-PK"/>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8801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4CA4EE-6D6D-431D-A702-88042E1DB86E}" type="datetimeFigureOut">
              <a:rPr lang="en-PK" smtClean="0"/>
              <a:t>05/09/2022</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A414D965-FA9A-471B-B05A-FB7E221FFD71}" type="slidenum">
              <a:rPr lang="en-PK" smtClean="0"/>
              <a:t>‹#›</a:t>
            </a:fld>
            <a:endParaRPr lang="en-PK"/>
          </a:p>
        </p:txBody>
      </p:sp>
    </p:spTree>
    <p:extLst>
      <p:ext uri="{BB962C8B-B14F-4D97-AF65-F5344CB8AC3E}">
        <p14:creationId xmlns:p14="http://schemas.microsoft.com/office/powerpoint/2010/main" val="33846906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4CA4EE-6D6D-431D-A702-88042E1DB86E}" type="datetimeFigureOut">
              <a:rPr lang="en-PK" smtClean="0"/>
              <a:t>05/09/2022</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A414D965-FA9A-471B-B05A-FB7E221FFD71}" type="slidenum">
              <a:rPr lang="en-PK" smtClean="0"/>
              <a:t>‹#›</a:t>
            </a:fld>
            <a:endParaRPr lang="en-PK"/>
          </a:p>
        </p:txBody>
      </p:sp>
    </p:spTree>
    <p:extLst>
      <p:ext uri="{BB962C8B-B14F-4D97-AF65-F5344CB8AC3E}">
        <p14:creationId xmlns:p14="http://schemas.microsoft.com/office/powerpoint/2010/main" val="3366906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4CA4EE-6D6D-431D-A702-88042E1DB86E}" type="datetimeFigureOut">
              <a:rPr lang="en-PK" smtClean="0"/>
              <a:t>05/09/2022</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A414D965-FA9A-471B-B05A-FB7E221FFD71}" type="slidenum">
              <a:rPr lang="en-PK" smtClean="0"/>
              <a:t>‹#›</a:t>
            </a:fld>
            <a:endParaRPr lang="en-PK"/>
          </a:p>
        </p:txBody>
      </p:sp>
    </p:spTree>
    <p:extLst>
      <p:ext uri="{BB962C8B-B14F-4D97-AF65-F5344CB8AC3E}">
        <p14:creationId xmlns:p14="http://schemas.microsoft.com/office/powerpoint/2010/main" val="3612445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34CA4EE-6D6D-431D-A702-88042E1DB86E}" type="datetimeFigureOut">
              <a:rPr lang="en-PK" smtClean="0"/>
              <a:t>05/09/2022</a:t>
            </a:fld>
            <a:endParaRPr lang="en-PK"/>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PK"/>
          </a:p>
        </p:txBody>
      </p:sp>
      <p:sp>
        <p:nvSpPr>
          <p:cNvPr id="9" name="Slide Number Placeholder 8"/>
          <p:cNvSpPr>
            <a:spLocks noGrp="1"/>
          </p:cNvSpPr>
          <p:nvPr>
            <p:ph type="sldNum" sz="quarter" idx="12"/>
          </p:nvPr>
        </p:nvSpPr>
        <p:spPr/>
        <p:txBody>
          <a:bodyPr/>
          <a:lstStyle/>
          <a:p>
            <a:fld id="{A414D965-FA9A-471B-B05A-FB7E221FFD71}" type="slidenum">
              <a:rPr lang="en-PK" smtClean="0"/>
              <a:t>‹#›</a:t>
            </a:fld>
            <a:endParaRPr lang="en-PK"/>
          </a:p>
        </p:txBody>
      </p:sp>
    </p:spTree>
    <p:extLst>
      <p:ext uri="{BB962C8B-B14F-4D97-AF65-F5344CB8AC3E}">
        <p14:creationId xmlns:p14="http://schemas.microsoft.com/office/powerpoint/2010/main" val="1923996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34CA4EE-6D6D-431D-A702-88042E1DB86E}" type="datetimeFigureOut">
              <a:rPr lang="en-PK" smtClean="0"/>
              <a:t>05/09/2022</a:t>
            </a:fld>
            <a:endParaRPr lang="en-PK"/>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PK"/>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A414D965-FA9A-471B-B05A-FB7E221FFD71}" type="slidenum">
              <a:rPr lang="en-PK" smtClean="0"/>
              <a:t>‹#›</a:t>
            </a:fld>
            <a:endParaRPr lang="en-PK"/>
          </a:p>
        </p:txBody>
      </p:sp>
    </p:spTree>
    <p:extLst>
      <p:ext uri="{BB962C8B-B14F-4D97-AF65-F5344CB8AC3E}">
        <p14:creationId xmlns:p14="http://schemas.microsoft.com/office/powerpoint/2010/main" val="1067290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4CA4EE-6D6D-431D-A702-88042E1DB86E}" type="datetimeFigureOut">
              <a:rPr lang="en-PK" smtClean="0"/>
              <a:t>05/09/2022</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A414D965-FA9A-471B-B05A-FB7E221FFD71}" type="slidenum">
              <a:rPr lang="en-PK" smtClean="0"/>
              <a:t>‹#›</a:t>
            </a:fld>
            <a:endParaRPr lang="en-PK"/>
          </a:p>
        </p:txBody>
      </p:sp>
    </p:spTree>
    <p:extLst>
      <p:ext uri="{BB962C8B-B14F-4D97-AF65-F5344CB8AC3E}">
        <p14:creationId xmlns:p14="http://schemas.microsoft.com/office/powerpoint/2010/main" val="1227795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CA4EE-6D6D-431D-A702-88042E1DB86E}" type="datetimeFigureOut">
              <a:rPr lang="en-PK" smtClean="0"/>
              <a:t>05/09/2022</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414D965-FA9A-471B-B05A-FB7E221FFD71}" type="slidenum">
              <a:rPr lang="en-PK" smtClean="0"/>
              <a:t>‹#›</a:t>
            </a:fld>
            <a:endParaRPr lang="en-PK"/>
          </a:p>
        </p:txBody>
      </p:sp>
    </p:spTree>
    <p:extLst>
      <p:ext uri="{BB962C8B-B14F-4D97-AF65-F5344CB8AC3E}">
        <p14:creationId xmlns:p14="http://schemas.microsoft.com/office/powerpoint/2010/main" val="1086557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4CA4EE-6D6D-431D-A702-88042E1DB86E}" type="datetimeFigureOut">
              <a:rPr lang="en-PK" smtClean="0"/>
              <a:t>05/09/2022</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A414D965-FA9A-471B-B05A-FB7E221FFD71}" type="slidenum">
              <a:rPr lang="en-PK" smtClean="0"/>
              <a:t>‹#›</a:t>
            </a:fld>
            <a:endParaRPr lang="en-PK"/>
          </a:p>
        </p:txBody>
      </p:sp>
    </p:spTree>
    <p:extLst>
      <p:ext uri="{BB962C8B-B14F-4D97-AF65-F5344CB8AC3E}">
        <p14:creationId xmlns:p14="http://schemas.microsoft.com/office/powerpoint/2010/main" val="304963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34CA4EE-6D6D-431D-A702-88042E1DB86E}" type="datetimeFigureOut">
              <a:rPr lang="en-PK" smtClean="0"/>
              <a:t>05/09/2022</a:t>
            </a:fld>
            <a:endParaRPr lang="en-PK"/>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PK"/>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A414D965-FA9A-471B-B05A-FB7E221FFD71}" type="slidenum">
              <a:rPr lang="en-PK" smtClean="0"/>
              <a:t>‹#›</a:t>
            </a:fld>
            <a:endParaRPr lang="en-PK"/>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3545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3" Type="http://schemas.openxmlformats.org/officeDocument/2006/relationships/image" Target="../media/image10.PNG" /><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image" Target="../media/image11.png"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12.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F89EC2A-0162-2748-CE5F-DECD57AC33D6}"/>
              </a:ext>
            </a:extLst>
          </p:cNvPr>
          <p:cNvSpPr>
            <a:spLocks noGrp="1"/>
          </p:cNvSpPr>
          <p:nvPr>
            <p:ph type="ctrTitle"/>
          </p:nvPr>
        </p:nvSpPr>
        <p:spPr/>
        <p:txBody>
          <a:bodyPr/>
          <a:lstStyle/>
          <a:p>
            <a:r>
              <a:rPr lang="en-US" b="1" dirty="0"/>
              <a:t>Effect of Taxation on Income inequality and Public Welfare</a:t>
            </a:r>
            <a:endParaRPr lang="en-PK" b="1" dirty="0"/>
          </a:p>
        </p:txBody>
      </p:sp>
      <p:sp>
        <p:nvSpPr>
          <p:cNvPr id="5" name="Subtitle 4">
            <a:extLst>
              <a:ext uri="{FF2B5EF4-FFF2-40B4-BE49-F238E27FC236}">
                <a16:creationId xmlns:a16="http://schemas.microsoft.com/office/drawing/2014/main" id="{CA328BA8-AEA0-C45E-27E0-607A5DFA4551}"/>
              </a:ext>
            </a:extLst>
          </p:cNvPr>
          <p:cNvSpPr>
            <a:spLocks noGrp="1"/>
          </p:cNvSpPr>
          <p:nvPr>
            <p:ph type="subTitle" idx="1"/>
          </p:nvPr>
        </p:nvSpPr>
        <p:spPr>
          <a:xfrm>
            <a:off x="8571346" y="4325112"/>
            <a:ext cx="2769008" cy="2025812"/>
          </a:xfrm>
        </p:spPr>
        <p:txBody>
          <a:bodyPr>
            <a:normAutofit fontScale="62500" lnSpcReduction="20000"/>
          </a:bodyPr>
          <a:lstStyle/>
          <a:p>
            <a:r>
              <a:rPr lang="en-US" dirty="0"/>
              <a:t>Presented By:</a:t>
            </a:r>
          </a:p>
          <a:p>
            <a:r>
              <a:rPr lang="en-US" dirty="0"/>
              <a:t>Mirza Kashif</a:t>
            </a:r>
          </a:p>
          <a:p>
            <a:r>
              <a:rPr lang="en-US" dirty="0"/>
              <a:t>Abdul Rehman</a:t>
            </a:r>
          </a:p>
          <a:p>
            <a:r>
              <a:rPr lang="en-US" dirty="0" err="1"/>
              <a:t>Jehanzeb</a:t>
            </a:r>
            <a:r>
              <a:rPr lang="en-US" dirty="0"/>
              <a:t> Shahzad</a:t>
            </a:r>
          </a:p>
          <a:p>
            <a:r>
              <a:rPr lang="en-US" dirty="0"/>
              <a:t>Muhammad Usman</a:t>
            </a:r>
          </a:p>
          <a:p>
            <a:r>
              <a:rPr lang="en-US" dirty="0"/>
              <a:t>Zain Khan</a:t>
            </a:r>
            <a:endParaRPr lang="en-PK" dirty="0"/>
          </a:p>
        </p:txBody>
      </p:sp>
    </p:spTree>
    <p:extLst>
      <p:ext uri="{BB962C8B-B14F-4D97-AF65-F5344CB8AC3E}">
        <p14:creationId xmlns:p14="http://schemas.microsoft.com/office/powerpoint/2010/main" val="26747116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485E4-097A-6F40-4F21-2E8D2BEB5952}"/>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69E88860-418F-FCA6-A596-2B3103F05CA2}"/>
              </a:ext>
            </a:extLst>
          </p:cNvPr>
          <p:cNvSpPr>
            <a:spLocks noGrp="1"/>
          </p:cNvSpPr>
          <p:nvPr>
            <p:ph idx="1"/>
          </p:nvPr>
        </p:nvSpPr>
        <p:spPr/>
        <p:txBody>
          <a:bodyPr>
            <a:normAutofit/>
          </a:bodyPr>
          <a:lstStyle/>
          <a:p>
            <a:pPr>
              <a:buFont typeface="Courier New" panose="02070309020205020404" pitchFamily="49" charset="0"/>
              <a:buChar char="o"/>
            </a:pPr>
            <a:r>
              <a:rPr lang="en-US" sz="2400" dirty="0"/>
              <a:t>Progressive income taxes, when considered separately, positively impact income distribution.</a:t>
            </a:r>
          </a:p>
          <a:p>
            <a:pPr>
              <a:buFont typeface="Courier New" panose="02070309020205020404" pitchFamily="49" charset="0"/>
              <a:buChar char="o"/>
            </a:pPr>
            <a:endParaRPr lang="en-US" sz="2400" dirty="0"/>
          </a:p>
          <a:p>
            <a:pPr>
              <a:buFont typeface="Courier New" panose="02070309020205020404" pitchFamily="49" charset="0"/>
              <a:buChar char="o"/>
            </a:pPr>
            <a:r>
              <a:rPr lang="en-US" sz="2400" dirty="0"/>
              <a:t>Contributing to decreasing inequality, and this effect is more pronounced the higher the degree of progressivity and the higher the share of GDP</a:t>
            </a:r>
          </a:p>
          <a:p>
            <a:pPr>
              <a:buFont typeface="Courier New" panose="02070309020205020404" pitchFamily="49" charset="0"/>
              <a:buChar char="o"/>
            </a:pPr>
            <a:endParaRPr lang="en-US" sz="2400" dirty="0"/>
          </a:p>
          <a:p>
            <a:pPr>
              <a:buFont typeface="Courier New" panose="02070309020205020404" pitchFamily="49" charset="0"/>
              <a:buChar char="o"/>
            </a:pPr>
            <a:r>
              <a:rPr lang="en-US" sz="2400" dirty="0"/>
              <a:t>In terms of the magnitude of the impact, the effects of taxes on income distribution changes tend to be of an equivalent scale to those for public expenditures. </a:t>
            </a:r>
          </a:p>
        </p:txBody>
      </p:sp>
    </p:spTree>
    <p:extLst>
      <p:ext uri="{BB962C8B-B14F-4D97-AF65-F5344CB8AC3E}">
        <p14:creationId xmlns:p14="http://schemas.microsoft.com/office/powerpoint/2010/main" val="887302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B351E-AAF3-BCAD-6D75-F028285CF84C}"/>
              </a:ext>
            </a:extLst>
          </p:cNvPr>
          <p:cNvSpPr>
            <a:spLocks noGrp="1"/>
          </p:cNvSpPr>
          <p:nvPr>
            <p:ph type="title"/>
          </p:nvPr>
        </p:nvSpPr>
        <p:spPr/>
        <p:txBody>
          <a:bodyPr/>
          <a:lstStyle/>
          <a:p>
            <a:r>
              <a:rPr lang="en-US" dirty="0"/>
              <a:t>Introduction</a:t>
            </a:r>
            <a:endParaRPr lang="en-AE" dirty="0"/>
          </a:p>
        </p:txBody>
      </p:sp>
      <p:sp>
        <p:nvSpPr>
          <p:cNvPr id="3" name="Content Placeholder 2">
            <a:extLst>
              <a:ext uri="{FF2B5EF4-FFF2-40B4-BE49-F238E27FC236}">
                <a16:creationId xmlns:a16="http://schemas.microsoft.com/office/drawing/2014/main" id="{161E05BC-91A3-8783-5450-66CD9190F765}"/>
              </a:ext>
            </a:extLst>
          </p:cNvPr>
          <p:cNvSpPr>
            <a:spLocks noGrp="1"/>
          </p:cNvSpPr>
          <p:nvPr>
            <p:ph idx="1"/>
          </p:nvPr>
        </p:nvSpPr>
        <p:spPr/>
        <p:txBody>
          <a:bodyPr>
            <a:normAutofit fontScale="92500" lnSpcReduction="10000"/>
          </a:bodyPr>
          <a:lstStyle/>
          <a:p>
            <a:pPr>
              <a:buFont typeface="Courier New" panose="02070309020205020404" pitchFamily="49" charset="0"/>
              <a:buChar char="o"/>
            </a:pPr>
            <a:r>
              <a:rPr lang="en-US" sz="2400" dirty="0"/>
              <a:t>Income inequality has increased sharply over the past 40 years.</a:t>
            </a:r>
          </a:p>
          <a:p>
            <a:pPr>
              <a:buFont typeface="Courier New" panose="02070309020205020404" pitchFamily="49" charset="0"/>
              <a:buChar char="o"/>
            </a:pPr>
            <a:endParaRPr lang="en-US" sz="2400" dirty="0"/>
          </a:p>
          <a:p>
            <a:pPr>
              <a:buFont typeface="Courier New" panose="02070309020205020404" pitchFamily="49" charset="0"/>
              <a:buChar char="o"/>
            </a:pPr>
            <a:r>
              <a:rPr lang="en-US" sz="2400" dirty="0"/>
              <a:t>Taxation with negative net tax rates for the poorest households can be used to achieve two goals</a:t>
            </a:r>
          </a:p>
          <a:p>
            <a:pPr lvl="1">
              <a:buFont typeface="Courier New" panose="02070309020205020404" pitchFamily="49" charset="0"/>
              <a:buChar char="o"/>
            </a:pPr>
            <a:r>
              <a:rPr lang="en-US" dirty="0"/>
              <a:t>providing a minimal level of consumption for the poor</a:t>
            </a:r>
          </a:p>
          <a:p>
            <a:pPr lvl="1">
              <a:buFont typeface="Courier New" panose="02070309020205020404" pitchFamily="49" charset="0"/>
              <a:buChar char="o"/>
            </a:pPr>
            <a:r>
              <a:rPr lang="en-US" dirty="0"/>
              <a:t>reducing income disparity between different sectors of the population</a:t>
            </a:r>
          </a:p>
          <a:p>
            <a:pPr lvl="1">
              <a:buFont typeface="Courier New" panose="02070309020205020404" pitchFamily="49" charset="0"/>
              <a:buChar char="o"/>
            </a:pPr>
            <a:endParaRPr lang="en-US" dirty="0"/>
          </a:p>
          <a:p>
            <a:pPr>
              <a:buFont typeface="Courier New" panose="02070309020205020404" pitchFamily="49" charset="0"/>
              <a:buChar char="o"/>
            </a:pPr>
            <a:r>
              <a:rPr lang="en-US" sz="2400" dirty="0"/>
              <a:t>The ultimate policy instrument for reducing income disparity is income taxation </a:t>
            </a:r>
            <a:r>
              <a:rPr lang="en-US" sz="2400" b="0" i="0" dirty="0">
                <a:solidFill>
                  <a:srgbClr val="000000"/>
                </a:solidFill>
                <a:effectLst/>
              </a:rPr>
              <a:t>(Henry &amp; </a:t>
            </a:r>
            <a:r>
              <a:rPr lang="en-US" sz="2400" b="0" i="0" dirty="0" err="1">
                <a:solidFill>
                  <a:srgbClr val="000000"/>
                </a:solidFill>
                <a:effectLst/>
              </a:rPr>
              <a:t>Maniquet</a:t>
            </a:r>
            <a:r>
              <a:rPr lang="en-US" sz="2400" b="0" i="0" dirty="0">
                <a:solidFill>
                  <a:srgbClr val="000000"/>
                </a:solidFill>
                <a:effectLst/>
              </a:rPr>
              <a:t>, 2021)</a:t>
            </a:r>
            <a:endParaRPr lang="en-US" sz="2400" dirty="0"/>
          </a:p>
          <a:p>
            <a:pPr>
              <a:buFont typeface="Courier New" panose="02070309020205020404" pitchFamily="49" charset="0"/>
              <a:buChar char="o"/>
            </a:pPr>
            <a:endParaRPr lang="en-AE" sz="2400" dirty="0"/>
          </a:p>
          <a:p>
            <a:pPr>
              <a:buFont typeface="Courier New" panose="02070309020205020404" pitchFamily="49" charset="0"/>
              <a:buChar char="o"/>
            </a:pPr>
            <a:r>
              <a:rPr lang="en-US" sz="2400" dirty="0"/>
              <a:t>Full income equality is not a legitimate objective (</a:t>
            </a:r>
            <a:r>
              <a:rPr lang="en-US" sz="2400" dirty="0" err="1"/>
              <a:t>Mirrlees</a:t>
            </a:r>
            <a:r>
              <a:rPr lang="en-US" sz="2400" dirty="0"/>
              <a:t>, 1971)</a:t>
            </a:r>
            <a:endParaRPr lang="en-AE" sz="2400" dirty="0"/>
          </a:p>
        </p:txBody>
      </p:sp>
    </p:spTree>
    <p:extLst>
      <p:ext uri="{BB962C8B-B14F-4D97-AF65-F5344CB8AC3E}">
        <p14:creationId xmlns:p14="http://schemas.microsoft.com/office/powerpoint/2010/main" val="2729740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D1084-C845-5910-A059-6E469A88320E}"/>
              </a:ext>
            </a:extLst>
          </p:cNvPr>
          <p:cNvSpPr>
            <a:spLocks noGrp="1"/>
          </p:cNvSpPr>
          <p:nvPr>
            <p:ph type="title"/>
          </p:nvPr>
        </p:nvSpPr>
        <p:spPr/>
        <p:txBody>
          <a:bodyPr/>
          <a:lstStyle/>
          <a:p>
            <a:r>
              <a:rPr lang="en-US" dirty="0"/>
              <a:t>Literature Review</a:t>
            </a:r>
          </a:p>
        </p:txBody>
      </p:sp>
      <p:sp>
        <p:nvSpPr>
          <p:cNvPr id="3" name="Content Placeholder 2">
            <a:extLst>
              <a:ext uri="{FF2B5EF4-FFF2-40B4-BE49-F238E27FC236}">
                <a16:creationId xmlns:a16="http://schemas.microsoft.com/office/drawing/2014/main" id="{69E86A83-ED47-8314-7273-1DE5173BF690}"/>
              </a:ext>
            </a:extLst>
          </p:cNvPr>
          <p:cNvSpPr>
            <a:spLocks noGrp="1"/>
          </p:cNvSpPr>
          <p:nvPr>
            <p:ph idx="1"/>
          </p:nvPr>
        </p:nvSpPr>
        <p:spPr/>
        <p:txBody>
          <a:bodyPr>
            <a:normAutofit/>
          </a:bodyPr>
          <a:lstStyle/>
          <a:p>
            <a:pPr>
              <a:buFont typeface="Courier New" panose="02070309020205020404" pitchFamily="49" charset="0"/>
              <a:buChar char="o"/>
            </a:pPr>
            <a:r>
              <a:rPr lang="en-US" dirty="0"/>
              <a:t>Most of the empirical studies on tax incidence are country-specific studies relying on microsimulation models and computable general equilibrium models. </a:t>
            </a:r>
          </a:p>
          <a:p>
            <a:pPr>
              <a:buFont typeface="Courier New" panose="02070309020205020404" pitchFamily="49" charset="0"/>
              <a:buChar char="o"/>
            </a:pPr>
            <a:r>
              <a:rPr lang="en-US" dirty="0"/>
              <a:t>The general conclusion reached in this literature is that the redistributive effects of taxes are weak, especially so for developing countries. (Bird and </a:t>
            </a:r>
            <a:r>
              <a:rPr lang="en-US" dirty="0" err="1"/>
              <a:t>Zolt</a:t>
            </a:r>
            <a:r>
              <a:rPr lang="en-US" dirty="0"/>
              <a:t>, 2005; </a:t>
            </a:r>
            <a:r>
              <a:rPr lang="en-US" dirty="0" err="1"/>
              <a:t>Harberger</a:t>
            </a:r>
            <a:r>
              <a:rPr lang="en-US" dirty="0"/>
              <a:t>, 2006; and Martinez-Vazquez, 2008). </a:t>
            </a:r>
          </a:p>
          <a:p>
            <a:pPr>
              <a:buFont typeface="Courier New" panose="02070309020205020404" pitchFamily="49" charset="0"/>
              <a:buChar char="o"/>
            </a:pPr>
            <a:r>
              <a:rPr lang="en-US" dirty="0"/>
              <a:t>While progressivity reduces observed inequality in reported gross and net income, it has a significantly smaller impact on “true inequality. (Duncan and </a:t>
            </a:r>
            <a:r>
              <a:rPr lang="en-US" dirty="0" err="1"/>
              <a:t>Sabirianova</a:t>
            </a:r>
            <a:r>
              <a:rPr lang="en-US" dirty="0"/>
              <a:t> Peter, 2008) </a:t>
            </a:r>
          </a:p>
          <a:p>
            <a:pPr>
              <a:buFont typeface="Courier New" panose="02070309020205020404" pitchFamily="49" charset="0"/>
              <a:buChar char="o"/>
            </a:pPr>
            <a:r>
              <a:rPr lang="en-US" dirty="0"/>
              <a:t>321 billion cash benefits to households with low income in UK (07-08)</a:t>
            </a:r>
          </a:p>
          <a:p>
            <a:pPr>
              <a:buFont typeface="Courier New" panose="02070309020205020404" pitchFamily="49" charset="0"/>
              <a:buChar char="o"/>
            </a:pPr>
            <a:r>
              <a:rPr lang="en-US" dirty="0">
                <a:effectLst/>
                <a:ea typeface="Calibri" panose="020F0502020204030204" pitchFamily="34" charset="0"/>
              </a:rPr>
              <a:t>Higgins et. Al 2016 claimed that 25% Poor paid more taxes than they received transfers</a:t>
            </a:r>
          </a:p>
          <a:p>
            <a:pPr>
              <a:buFont typeface="Courier New" panose="02070309020205020404" pitchFamily="49" charset="0"/>
              <a:buChar char="o"/>
            </a:pPr>
            <a:endParaRPr lang="en-US" dirty="0"/>
          </a:p>
        </p:txBody>
      </p:sp>
    </p:spTree>
    <p:extLst>
      <p:ext uri="{BB962C8B-B14F-4D97-AF65-F5344CB8AC3E}">
        <p14:creationId xmlns:p14="http://schemas.microsoft.com/office/powerpoint/2010/main" val="751163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1B3AB-944E-20FE-BE09-3E5888B4C46C}"/>
              </a:ext>
            </a:extLst>
          </p:cNvPr>
          <p:cNvSpPr>
            <a:spLocks noGrp="1"/>
          </p:cNvSpPr>
          <p:nvPr>
            <p:ph type="title"/>
          </p:nvPr>
        </p:nvSpPr>
        <p:spPr/>
        <p:txBody>
          <a:bodyPr/>
          <a:lstStyle/>
          <a:p>
            <a:r>
              <a:rPr lang="en-US" b="1" dirty="0"/>
              <a:t>Literature Review</a:t>
            </a:r>
          </a:p>
        </p:txBody>
      </p:sp>
      <p:sp>
        <p:nvSpPr>
          <p:cNvPr id="3" name="Content Placeholder 2">
            <a:extLst>
              <a:ext uri="{FF2B5EF4-FFF2-40B4-BE49-F238E27FC236}">
                <a16:creationId xmlns:a16="http://schemas.microsoft.com/office/drawing/2014/main" id="{83C9D433-1E20-44AF-3B70-8ED4BF594CA4}"/>
              </a:ext>
            </a:extLst>
          </p:cNvPr>
          <p:cNvSpPr>
            <a:spLocks noGrp="1"/>
          </p:cNvSpPr>
          <p:nvPr>
            <p:ph idx="1"/>
          </p:nvPr>
        </p:nvSpPr>
        <p:spPr/>
        <p:txBody>
          <a:bodyPr>
            <a:normAutofit/>
          </a:bodyPr>
          <a:lstStyle/>
          <a:p>
            <a:pPr>
              <a:buFont typeface="Courier New" panose="02070309020205020404" pitchFamily="49" charset="0"/>
              <a:buChar char="o"/>
            </a:pPr>
            <a:r>
              <a:rPr lang="en-US" dirty="0">
                <a:effectLst/>
                <a:ea typeface="Calibri" panose="020F0502020204030204" pitchFamily="34" charset="0"/>
              </a:rPr>
              <a:t>Cyan et. Al 2016 Pakistan showed that groups with lower labor force participation paid more taxes as compared to those with higher participation</a:t>
            </a:r>
          </a:p>
          <a:p>
            <a:pPr>
              <a:buFont typeface="Courier New" panose="02070309020205020404" pitchFamily="49" charset="0"/>
              <a:buChar char="o"/>
            </a:pPr>
            <a:r>
              <a:rPr lang="en-US" dirty="0" err="1">
                <a:effectLst/>
                <a:ea typeface="Calibri" panose="020F0502020204030204" pitchFamily="34" charset="0"/>
              </a:rPr>
              <a:t>Quatrebarbes</a:t>
            </a:r>
            <a:r>
              <a:rPr lang="en-US" dirty="0">
                <a:effectLst/>
                <a:ea typeface="Calibri" panose="020F0502020204030204" pitchFamily="34" charset="0"/>
              </a:rPr>
              <a:t> 2016 claimed VAT should vary in different economic sectors expect on staple food</a:t>
            </a:r>
            <a:endParaRPr lang="en-US" dirty="0"/>
          </a:p>
          <a:p>
            <a:pPr>
              <a:buFont typeface="Courier New" panose="02070309020205020404" pitchFamily="49" charset="0"/>
              <a:buChar char="o"/>
            </a:pPr>
            <a:r>
              <a:rPr lang="en-US" dirty="0"/>
              <a:t>Inequalities in income reflect differences in worker productivity which ultimately leads to income inequality (</a:t>
            </a:r>
            <a:r>
              <a:rPr lang="en-US" dirty="0" err="1"/>
              <a:t>Mirrlees</a:t>
            </a:r>
            <a:r>
              <a:rPr lang="en-US" dirty="0"/>
              <a:t>, et al, 2001)</a:t>
            </a:r>
          </a:p>
          <a:p>
            <a:pPr>
              <a:buFont typeface="Courier New" panose="02070309020205020404" pitchFamily="49" charset="0"/>
              <a:buChar char="o"/>
            </a:pPr>
            <a:r>
              <a:rPr lang="en-US" dirty="0"/>
              <a:t>Seemingly equivalent workers have significant income disparities too (</a:t>
            </a:r>
            <a:r>
              <a:rPr lang="en-US" dirty="0" err="1"/>
              <a:t>Kerney</a:t>
            </a:r>
            <a:r>
              <a:rPr lang="en-US" dirty="0"/>
              <a:t>, et al, 2008)</a:t>
            </a:r>
            <a:endParaRPr lang="en-AE" b="1" dirty="0"/>
          </a:p>
          <a:p>
            <a:pPr>
              <a:buFont typeface="Courier New" panose="02070309020205020404" pitchFamily="49" charset="0"/>
              <a:buChar char="o"/>
            </a:pPr>
            <a:endParaRPr lang="en-US" dirty="0"/>
          </a:p>
          <a:p>
            <a:endParaRPr lang="en-US" dirty="0"/>
          </a:p>
        </p:txBody>
      </p:sp>
    </p:spTree>
    <p:extLst>
      <p:ext uri="{BB962C8B-B14F-4D97-AF65-F5344CB8AC3E}">
        <p14:creationId xmlns:p14="http://schemas.microsoft.com/office/powerpoint/2010/main" val="1884224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5497A-D575-087D-5280-DEA3231552C1}"/>
              </a:ext>
            </a:extLst>
          </p:cNvPr>
          <p:cNvSpPr>
            <a:spLocks noGrp="1"/>
          </p:cNvSpPr>
          <p:nvPr>
            <p:ph type="title"/>
          </p:nvPr>
        </p:nvSpPr>
        <p:spPr/>
        <p:txBody>
          <a:bodyPr/>
          <a:lstStyle/>
          <a:p>
            <a:r>
              <a:rPr lang="en-US" dirty="0"/>
              <a:t>Methodology</a:t>
            </a:r>
            <a:endParaRPr lang="en-AE" dirty="0"/>
          </a:p>
        </p:txBody>
      </p:sp>
      <p:sp>
        <p:nvSpPr>
          <p:cNvPr id="3" name="Content Placeholder 2">
            <a:extLst>
              <a:ext uri="{FF2B5EF4-FFF2-40B4-BE49-F238E27FC236}">
                <a16:creationId xmlns:a16="http://schemas.microsoft.com/office/drawing/2014/main" id="{5E190FB2-6B23-E7CD-0885-226935A8B597}"/>
              </a:ext>
            </a:extLst>
          </p:cNvPr>
          <p:cNvSpPr>
            <a:spLocks noGrp="1"/>
          </p:cNvSpPr>
          <p:nvPr>
            <p:ph idx="1"/>
          </p:nvPr>
        </p:nvSpPr>
        <p:spPr/>
        <p:txBody>
          <a:bodyPr/>
          <a:lstStyle/>
          <a:p>
            <a:r>
              <a:rPr lang="en-US" dirty="0"/>
              <a:t>Carried out a survey with 21 participants</a:t>
            </a:r>
          </a:p>
          <a:p>
            <a:endParaRPr lang="en-US" dirty="0"/>
          </a:p>
          <a:p>
            <a:r>
              <a:rPr lang="en-US" dirty="0"/>
              <a:t>Peer reviewed articles finding for our research</a:t>
            </a:r>
          </a:p>
          <a:p>
            <a:endParaRPr lang="en-AE" dirty="0"/>
          </a:p>
        </p:txBody>
      </p:sp>
    </p:spTree>
    <p:extLst>
      <p:ext uri="{BB962C8B-B14F-4D97-AF65-F5344CB8AC3E}">
        <p14:creationId xmlns:p14="http://schemas.microsoft.com/office/powerpoint/2010/main" val="141541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Income inequality</a:t>
            </a:r>
          </a:p>
        </p:txBody>
      </p:sp>
      <p:sp>
        <p:nvSpPr>
          <p:cNvPr id="3" name="Content Placeholder 2"/>
          <p:cNvSpPr>
            <a:spLocks noGrp="1"/>
          </p:cNvSpPr>
          <p:nvPr>
            <p:ph idx="1"/>
          </p:nvPr>
        </p:nvSpPr>
        <p:spPr/>
        <p:txBody>
          <a:bodyPr>
            <a:normAutofit/>
          </a:bodyPr>
          <a:lstStyle/>
          <a:p>
            <a:r>
              <a:rPr lang="en-US" dirty="0"/>
              <a:t>Inequality is the state of not being equal especially in rights, opportunities and status </a:t>
            </a:r>
          </a:p>
          <a:p>
            <a:r>
              <a:rPr lang="en-US" dirty="0"/>
              <a:t>4 types of inequality </a:t>
            </a:r>
          </a:p>
          <a:p>
            <a:pPr lvl="1"/>
            <a:r>
              <a:rPr lang="en-US" dirty="0"/>
              <a:t>inequality of outcome</a:t>
            </a:r>
          </a:p>
          <a:p>
            <a:pPr lvl="1"/>
            <a:r>
              <a:rPr lang="en-US" dirty="0"/>
              <a:t>inequality of wealth</a:t>
            </a:r>
          </a:p>
          <a:p>
            <a:pPr lvl="1"/>
            <a:r>
              <a:rPr lang="en-US" dirty="0"/>
              <a:t>inequality over a particular individual’s lifetime </a:t>
            </a:r>
          </a:p>
          <a:p>
            <a:pPr lvl="1"/>
            <a:r>
              <a:rPr lang="en-US" dirty="0"/>
              <a:t>income inequality of opportunity</a:t>
            </a:r>
          </a:p>
          <a:p>
            <a:r>
              <a:rPr lang="en-US" dirty="0"/>
              <a:t>To quantify income inequality, economists use Gini index/Lorenz curve</a:t>
            </a:r>
          </a:p>
          <a:p>
            <a:r>
              <a:rPr lang="en-US" dirty="0"/>
              <a:t>0.55 represents a high level of inequality, 0,45-0.55 represents middle high, 0.35-0.45 represents middle and a value lower than 0.35 represents a low level of inequality</a:t>
            </a:r>
          </a:p>
        </p:txBody>
      </p:sp>
    </p:spTree>
    <p:extLst>
      <p:ext uri="{BB962C8B-B14F-4D97-AF65-F5344CB8AC3E}">
        <p14:creationId xmlns:p14="http://schemas.microsoft.com/office/powerpoint/2010/main" val="3375577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A4206-58BD-5E37-A57B-11C8580CD030}"/>
              </a:ext>
            </a:extLst>
          </p:cNvPr>
          <p:cNvSpPr>
            <a:spLocks noGrp="1"/>
          </p:cNvSpPr>
          <p:nvPr>
            <p:ph type="title"/>
          </p:nvPr>
        </p:nvSpPr>
        <p:spPr/>
        <p:txBody>
          <a:bodyPr/>
          <a:lstStyle/>
          <a:p>
            <a:r>
              <a:rPr lang="en-US" dirty="0"/>
              <a:t>Findings</a:t>
            </a:r>
            <a:endParaRPr lang="en-AE" dirty="0"/>
          </a:p>
        </p:txBody>
      </p:sp>
      <p:sp>
        <p:nvSpPr>
          <p:cNvPr id="3" name="Content Placeholder 2">
            <a:extLst>
              <a:ext uri="{FF2B5EF4-FFF2-40B4-BE49-F238E27FC236}">
                <a16:creationId xmlns:a16="http://schemas.microsoft.com/office/drawing/2014/main" id="{61D14188-5232-1D25-079E-82DC336B2811}"/>
              </a:ext>
            </a:extLst>
          </p:cNvPr>
          <p:cNvSpPr>
            <a:spLocks noGrp="1"/>
          </p:cNvSpPr>
          <p:nvPr>
            <p:ph idx="1"/>
          </p:nvPr>
        </p:nvSpPr>
        <p:spPr/>
        <p:txBody>
          <a:bodyPr>
            <a:normAutofit/>
          </a:bodyPr>
          <a:lstStyle/>
          <a:p>
            <a:r>
              <a:rPr lang="en-US" dirty="0"/>
              <a:t>Taxes and transfers have a significant redistributive impact</a:t>
            </a:r>
          </a:p>
          <a:p>
            <a:endParaRPr lang="en-US" dirty="0"/>
          </a:p>
          <a:p>
            <a:r>
              <a:rPr lang="en-US" dirty="0"/>
              <a:t>Inequality in income after taxes and transfers, measured by Gini index, was 25% lower than for income before taxes and transfers on average in the OECD area (</a:t>
            </a:r>
            <a:r>
              <a:rPr lang="en-US" dirty="0" err="1"/>
              <a:t>Joumard</a:t>
            </a:r>
            <a:r>
              <a:rPr lang="en-US" dirty="0"/>
              <a:t>, </a:t>
            </a:r>
            <a:r>
              <a:rPr lang="en-US" dirty="0" err="1"/>
              <a:t>Pisu</a:t>
            </a:r>
            <a:r>
              <a:rPr lang="en-US" dirty="0"/>
              <a:t> &amp; Bloch, 2012)</a:t>
            </a:r>
          </a:p>
          <a:p>
            <a:endParaRPr lang="en-US" dirty="0"/>
          </a:p>
          <a:p>
            <a:r>
              <a:rPr lang="en-US" dirty="0"/>
              <a:t>For the same period, poverty measured after taxes and transfers was 55% lower than before taxes and transfers for the OECD (</a:t>
            </a:r>
            <a:r>
              <a:rPr lang="en-US" dirty="0" err="1"/>
              <a:t>Joumard</a:t>
            </a:r>
            <a:r>
              <a:rPr lang="en-US" dirty="0"/>
              <a:t>, </a:t>
            </a:r>
            <a:r>
              <a:rPr lang="en-US" dirty="0" err="1"/>
              <a:t>Pisu</a:t>
            </a:r>
            <a:r>
              <a:rPr lang="en-US" dirty="0"/>
              <a:t> &amp; Bloch, 2012)</a:t>
            </a:r>
          </a:p>
          <a:p>
            <a:endParaRPr lang="en-US" dirty="0"/>
          </a:p>
          <a:p>
            <a:r>
              <a:rPr lang="en-US" dirty="0"/>
              <a:t>Cash transfers reduce income dispersion more than taxes</a:t>
            </a:r>
            <a:endParaRPr lang="en-AE" dirty="0"/>
          </a:p>
        </p:txBody>
      </p:sp>
    </p:spTree>
    <p:extLst>
      <p:ext uri="{BB962C8B-B14F-4D97-AF65-F5344CB8AC3E}">
        <p14:creationId xmlns:p14="http://schemas.microsoft.com/office/powerpoint/2010/main" val="2193819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1F0D1-9C11-8E6A-7D9F-0AEAA94E4C45}"/>
              </a:ext>
            </a:extLst>
          </p:cNvPr>
          <p:cNvSpPr>
            <a:spLocks noGrp="1"/>
          </p:cNvSpPr>
          <p:nvPr>
            <p:ph type="title"/>
          </p:nvPr>
        </p:nvSpPr>
        <p:spPr/>
        <p:txBody>
          <a:bodyPr/>
          <a:lstStyle/>
          <a:p>
            <a:r>
              <a:rPr lang="en-US" dirty="0"/>
              <a:t>Optimal Tax Approach</a:t>
            </a:r>
            <a:endParaRPr lang="en-AE" dirty="0"/>
          </a:p>
        </p:txBody>
      </p:sp>
      <p:sp>
        <p:nvSpPr>
          <p:cNvPr id="3" name="Content Placeholder 2">
            <a:extLst>
              <a:ext uri="{FF2B5EF4-FFF2-40B4-BE49-F238E27FC236}">
                <a16:creationId xmlns:a16="http://schemas.microsoft.com/office/drawing/2014/main" id="{B98C92E4-4E76-7AEB-8A6A-2F762B93CFFD}"/>
              </a:ext>
            </a:extLst>
          </p:cNvPr>
          <p:cNvSpPr>
            <a:spLocks noGrp="1"/>
          </p:cNvSpPr>
          <p:nvPr>
            <p:ph idx="1"/>
          </p:nvPr>
        </p:nvSpPr>
        <p:spPr/>
        <p:txBody>
          <a:bodyPr/>
          <a:lstStyle/>
          <a:p>
            <a:r>
              <a:rPr lang="en-US" dirty="0"/>
              <a:t>Standard approach to optimal taxation is based on several methodological assumptions:</a:t>
            </a:r>
          </a:p>
          <a:p>
            <a:endParaRPr lang="en-US" dirty="0"/>
          </a:p>
          <a:p>
            <a:pPr lvl="1"/>
            <a:r>
              <a:rPr lang="en-US" dirty="0"/>
              <a:t>government must raise a certain amount of revenue</a:t>
            </a:r>
          </a:p>
          <a:p>
            <a:pPr lvl="1"/>
            <a:endParaRPr lang="en-US" dirty="0"/>
          </a:p>
          <a:p>
            <a:pPr lvl="1"/>
            <a:r>
              <a:rPr lang="en-US" dirty="0"/>
              <a:t>limited in the types of tax instruments it can use</a:t>
            </a:r>
          </a:p>
          <a:p>
            <a:pPr lvl="1"/>
            <a:endParaRPr lang="en-US" dirty="0"/>
          </a:p>
          <a:p>
            <a:pPr lvl="1"/>
            <a:r>
              <a:rPr lang="en-US" dirty="0"/>
              <a:t>decisions must be consistent with individual and firm optimization</a:t>
            </a:r>
          </a:p>
          <a:p>
            <a:pPr lvl="1"/>
            <a:endParaRPr lang="en-US" dirty="0"/>
          </a:p>
          <a:p>
            <a:pPr lvl="1"/>
            <a:r>
              <a:rPr lang="en-US" dirty="0"/>
              <a:t>makes its decisions in order to maximize a "social welfare function" </a:t>
            </a:r>
            <a:endParaRPr lang="en-AE" dirty="0"/>
          </a:p>
        </p:txBody>
      </p:sp>
    </p:spTree>
    <p:extLst>
      <p:ext uri="{BB962C8B-B14F-4D97-AF65-F5344CB8AC3E}">
        <p14:creationId xmlns:p14="http://schemas.microsoft.com/office/powerpoint/2010/main" val="1110392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7A231-6ADE-CEF3-A099-94F8A1F037B5}"/>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Income Distribution and Taxes among different level of Households</a:t>
            </a:r>
          </a:p>
        </p:txBody>
      </p:sp>
      <p:pic>
        <p:nvPicPr>
          <p:cNvPr id="4" name="Content Placeholder 3">
            <a:extLst>
              <a:ext uri="{FF2B5EF4-FFF2-40B4-BE49-F238E27FC236}">
                <a16:creationId xmlns:a16="http://schemas.microsoft.com/office/drawing/2014/main" id="{302E6B76-9B5C-AD2B-ABBF-C8F76EDDF5F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199" y="1829631"/>
            <a:ext cx="10515599" cy="4663243"/>
          </a:xfrm>
          <a:prstGeom prst="rect">
            <a:avLst/>
          </a:prstGeom>
        </p:spPr>
      </p:pic>
    </p:spTree>
    <p:extLst>
      <p:ext uri="{BB962C8B-B14F-4D97-AF65-F5344CB8AC3E}">
        <p14:creationId xmlns:p14="http://schemas.microsoft.com/office/powerpoint/2010/main" val="2068340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3B0AC0F-9F0B-E0D9-F586-B19221C5D48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753979"/>
            <a:ext cx="10515599" cy="5536648"/>
          </a:xfrm>
          <a:prstGeom prst="rect">
            <a:avLst/>
          </a:prstGeom>
        </p:spPr>
      </p:pic>
    </p:spTree>
    <p:extLst>
      <p:ext uri="{BB962C8B-B14F-4D97-AF65-F5344CB8AC3E}">
        <p14:creationId xmlns:p14="http://schemas.microsoft.com/office/powerpoint/2010/main" val="206281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73162DF-E96F-9BAA-2291-0974F0793E5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7926" y="694977"/>
            <a:ext cx="10656147" cy="5468046"/>
          </a:xfrm>
          <a:prstGeom prst="rect">
            <a:avLst/>
          </a:prstGeom>
        </p:spPr>
      </p:pic>
    </p:spTree>
    <p:extLst>
      <p:ext uri="{BB962C8B-B14F-4D97-AF65-F5344CB8AC3E}">
        <p14:creationId xmlns:p14="http://schemas.microsoft.com/office/powerpoint/2010/main" val="3688825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FE5891F-2E59-5031-7C2B-B922C869082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22421" y="417012"/>
            <a:ext cx="10347158" cy="6023975"/>
          </a:xfrm>
          <a:prstGeom prst="rect">
            <a:avLst/>
          </a:prstGeom>
        </p:spPr>
      </p:pic>
    </p:spTree>
    <p:extLst>
      <p:ext uri="{BB962C8B-B14F-4D97-AF65-F5344CB8AC3E}">
        <p14:creationId xmlns:p14="http://schemas.microsoft.com/office/powerpoint/2010/main" val="2100249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F555F-7015-E8CB-8B3A-BF1C92532091}"/>
              </a:ext>
            </a:extLst>
          </p:cNvPr>
          <p:cNvSpPr>
            <a:spLocks noGrp="1"/>
          </p:cNvSpPr>
          <p:nvPr>
            <p:ph type="title"/>
          </p:nvPr>
        </p:nvSpPr>
        <p:spPr/>
        <p:txBody>
          <a:bodyPr>
            <a:normAutofit/>
          </a:bodyPr>
          <a:lstStyle/>
          <a:p>
            <a:r>
              <a:rPr lang="en-US" sz="4000" b="1" dirty="0">
                <a:effectLst/>
                <a:latin typeface="Times New Roman" panose="02020603050405020304" pitchFamily="18" charset="0"/>
                <a:ea typeface="Calibri" panose="020F0502020204030204" pitchFamily="34" charset="0"/>
              </a:rPr>
              <a:t>Progressive Taxation</a:t>
            </a:r>
            <a:endParaRPr lang="en-PK" sz="8000" dirty="0"/>
          </a:p>
        </p:txBody>
      </p:sp>
      <p:sp>
        <p:nvSpPr>
          <p:cNvPr id="3" name="Content Placeholder 2">
            <a:extLst>
              <a:ext uri="{FF2B5EF4-FFF2-40B4-BE49-F238E27FC236}">
                <a16:creationId xmlns:a16="http://schemas.microsoft.com/office/drawing/2014/main" id="{79230064-F4A4-4C63-298C-54910961F1FC}"/>
              </a:ext>
            </a:extLst>
          </p:cNvPr>
          <p:cNvSpPr>
            <a:spLocks noGrp="1"/>
          </p:cNvSpPr>
          <p:nvPr>
            <p:ph idx="1"/>
          </p:nvPr>
        </p:nvSpPr>
        <p:spPr/>
        <p:txBody>
          <a:bodyPr/>
          <a:lstStyle/>
          <a:p>
            <a:r>
              <a:rPr lang="en-US" sz="1800" dirty="0">
                <a:effectLst/>
                <a:latin typeface="Times New Roman" panose="02020603050405020304" pitchFamily="18" charset="0"/>
                <a:ea typeface="Calibri" panose="020F0502020204030204" pitchFamily="34" charset="0"/>
              </a:rPr>
              <a:t>A progressive tax is one where individuals with higher taxable incomes pay progressively higher proportions of their income in tax </a:t>
            </a:r>
            <a:r>
              <a:rPr lang="en-US" sz="1800" dirty="0">
                <a:solidFill>
                  <a:srgbClr val="222222"/>
                </a:solidFill>
                <a:effectLst/>
                <a:latin typeface="Times New Roman" panose="02020603050405020304" pitchFamily="18" charset="0"/>
                <a:ea typeface="Calibri" panose="020F0502020204030204" pitchFamily="34" charset="0"/>
              </a:rPr>
              <a:t>(Woolard, Metz, </a:t>
            </a:r>
            <a:r>
              <a:rPr lang="en-US" sz="1800" dirty="0" err="1">
                <a:solidFill>
                  <a:srgbClr val="222222"/>
                </a:solidFill>
                <a:effectLst/>
                <a:latin typeface="Times New Roman" panose="02020603050405020304" pitchFamily="18" charset="0"/>
                <a:ea typeface="Calibri" panose="020F0502020204030204" pitchFamily="34" charset="0"/>
              </a:rPr>
              <a:t>Inchauste</a:t>
            </a:r>
            <a:r>
              <a:rPr lang="en-US" sz="1800" dirty="0">
                <a:solidFill>
                  <a:srgbClr val="222222"/>
                </a:solidFill>
                <a:effectLst/>
                <a:latin typeface="Times New Roman" panose="02020603050405020304" pitchFamily="18" charset="0"/>
                <a:ea typeface="Calibri" panose="020F0502020204030204" pitchFamily="34" charset="0"/>
              </a:rPr>
              <a:t>, Lustig, </a:t>
            </a:r>
            <a:r>
              <a:rPr lang="en-US" sz="1800" dirty="0" err="1">
                <a:solidFill>
                  <a:srgbClr val="222222"/>
                </a:solidFill>
                <a:effectLst/>
                <a:latin typeface="Times New Roman" panose="02020603050405020304" pitchFamily="18" charset="0"/>
                <a:ea typeface="Calibri" panose="020F0502020204030204" pitchFamily="34" charset="0"/>
              </a:rPr>
              <a:t>Maboshe</a:t>
            </a:r>
            <a:r>
              <a:rPr lang="en-US" sz="1800" dirty="0">
                <a:solidFill>
                  <a:srgbClr val="222222"/>
                </a:solidFill>
                <a:effectLst/>
                <a:latin typeface="Times New Roman" panose="02020603050405020304" pitchFamily="18" charset="0"/>
                <a:ea typeface="Calibri" panose="020F0502020204030204" pitchFamily="34" charset="0"/>
              </a:rPr>
              <a:t>, &amp; </a:t>
            </a:r>
            <a:r>
              <a:rPr lang="en-US" sz="1800" dirty="0" err="1">
                <a:solidFill>
                  <a:srgbClr val="222222"/>
                </a:solidFill>
                <a:effectLst/>
                <a:latin typeface="Times New Roman" panose="02020603050405020304" pitchFamily="18" charset="0"/>
                <a:ea typeface="Calibri" panose="020F0502020204030204" pitchFamily="34" charset="0"/>
              </a:rPr>
              <a:t>Purfield</a:t>
            </a:r>
            <a:r>
              <a:rPr lang="en-US" sz="1800" dirty="0">
                <a:solidFill>
                  <a:srgbClr val="222222"/>
                </a:solidFill>
                <a:effectLst/>
                <a:latin typeface="Times New Roman" panose="02020603050405020304" pitchFamily="18" charset="0"/>
                <a:ea typeface="Calibri" panose="020F0502020204030204" pitchFamily="34" charset="0"/>
              </a:rPr>
              <a:t>, 2015)</a:t>
            </a:r>
            <a:r>
              <a:rPr lang="en-US" sz="1800" dirty="0">
                <a:effectLst/>
                <a:latin typeface="Times New Roman" panose="02020603050405020304" pitchFamily="18" charset="0"/>
                <a:ea typeface="Calibri" panose="020F0502020204030204" pitchFamily="34" charset="0"/>
              </a:rPr>
              <a:t>. </a:t>
            </a:r>
            <a:endParaRPr lang="en-PK" dirty="0"/>
          </a:p>
        </p:txBody>
      </p:sp>
      <p:pic>
        <p:nvPicPr>
          <p:cNvPr id="4" name="Picture 3" descr="progressive-tax">
            <a:extLst>
              <a:ext uri="{FF2B5EF4-FFF2-40B4-BE49-F238E27FC236}">
                <a16:creationId xmlns:a16="http://schemas.microsoft.com/office/drawing/2014/main" id="{4C06840D-94C9-D7FA-8008-77307177D29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7281" y="2328378"/>
            <a:ext cx="7317438" cy="4529622"/>
          </a:xfrm>
          <a:prstGeom prst="rect">
            <a:avLst/>
          </a:prstGeom>
          <a:noFill/>
          <a:ln>
            <a:noFill/>
          </a:ln>
        </p:spPr>
      </p:pic>
    </p:spTree>
    <p:extLst>
      <p:ext uri="{BB962C8B-B14F-4D97-AF65-F5344CB8AC3E}">
        <p14:creationId xmlns:p14="http://schemas.microsoft.com/office/powerpoint/2010/main" val="2783995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43ED1-D5E8-94B1-345E-53AAEB417867}"/>
              </a:ext>
            </a:extLst>
          </p:cNvPr>
          <p:cNvSpPr>
            <a:spLocks noGrp="1"/>
          </p:cNvSpPr>
          <p:nvPr>
            <p:ph type="title"/>
          </p:nvPr>
        </p:nvSpPr>
        <p:spPr/>
        <p:txBody>
          <a:bodyPr/>
          <a:lstStyle/>
          <a:p>
            <a:r>
              <a:rPr lang="en-US" sz="4400" b="1" dirty="0">
                <a:effectLst/>
                <a:latin typeface="Times New Roman" panose="02020603050405020304" pitchFamily="18" charset="0"/>
                <a:ea typeface="Calibri" panose="020F0502020204030204" pitchFamily="34" charset="0"/>
              </a:rPr>
              <a:t>Progressive Taxation</a:t>
            </a:r>
            <a:endParaRPr lang="en-PK" dirty="0"/>
          </a:p>
        </p:txBody>
      </p:sp>
      <p:sp>
        <p:nvSpPr>
          <p:cNvPr id="3" name="Content Placeholder 2">
            <a:extLst>
              <a:ext uri="{FF2B5EF4-FFF2-40B4-BE49-F238E27FC236}">
                <a16:creationId xmlns:a16="http://schemas.microsoft.com/office/drawing/2014/main" id="{39FAE3BB-180E-02AA-23B4-693AA7FE07B4}"/>
              </a:ext>
            </a:extLst>
          </p:cNvPr>
          <p:cNvSpPr>
            <a:spLocks noGrp="1"/>
          </p:cNvSpPr>
          <p:nvPr>
            <p:ph sz="half" idx="1"/>
          </p:nvPr>
        </p:nvSpPr>
        <p:spPr/>
        <p:txBody>
          <a:bodyPr>
            <a:normAutofit lnSpcReduction="10000"/>
          </a:bodyPr>
          <a:lstStyle/>
          <a:p>
            <a:pPr marL="0" indent="0" algn="ctr">
              <a:buNone/>
            </a:pPr>
            <a:r>
              <a:rPr lang="en-US" sz="3600" b="1" dirty="0">
                <a:latin typeface="Times New Roman" panose="02020603050405020304" pitchFamily="18" charset="0"/>
                <a:cs typeface="Times New Roman" panose="02020603050405020304" pitchFamily="18" charset="0"/>
              </a:rPr>
              <a:t>Benefits</a:t>
            </a:r>
          </a:p>
          <a:p>
            <a:r>
              <a:rPr lang="en-US" sz="2000" dirty="0">
                <a:latin typeface="Times New Roman" panose="02020603050405020304" pitchFamily="18" charset="0"/>
                <a:ea typeface="Calibri" panose="020F0502020204030204" pitchFamily="34" charset="0"/>
              </a:rPr>
              <a:t>P</a:t>
            </a:r>
            <a:r>
              <a:rPr lang="en-US" sz="2000" dirty="0">
                <a:effectLst/>
                <a:latin typeface="Times New Roman" panose="02020603050405020304" pitchFamily="18" charset="0"/>
                <a:ea typeface="Calibri" panose="020F0502020204030204" pitchFamily="34" charset="0"/>
              </a:rPr>
              <a:t>rogressive taxation leads to social justice.</a:t>
            </a:r>
          </a:p>
          <a:p>
            <a:r>
              <a:rPr lang="en-US" sz="2000" dirty="0">
                <a:effectLst/>
                <a:latin typeface="Times New Roman" panose="02020603050405020304" pitchFamily="18" charset="0"/>
                <a:ea typeface="Calibri" panose="020F0502020204030204" pitchFamily="34" charset="0"/>
                <a:cs typeface="Times New Roman" panose="02020603050405020304" pitchFamily="18" charset="0"/>
              </a:rPr>
              <a:t>Oishi et al. (2018) analyzed the effect of progressive taxation on income inequality and happiness of Americans</a:t>
            </a:r>
          </a:p>
          <a:p>
            <a:pPr marL="0" indent="0">
              <a:buNone/>
            </a:pP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lvl="1"/>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Their results indicated that income inequality was significantly smaller in the periods when the income tax was more progressive. </a:t>
            </a:r>
          </a:p>
          <a:p>
            <a:r>
              <a:rPr lang="en-US" sz="1800" dirty="0">
                <a:latin typeface="Times New Roman" panose="02020603050405020304" pitchFamily="18" charset="0"/>
                <a:ea typeface="Calibri" panose="020F0502020204030204" pitchFamily="34" charset="0"/>
              </a:rPr>
              <a:t>P</a:t>
            </a:r>
            <a:r>
              <a:rPr lang="en-US" sz="1800" dirty="0">
                <a:effectLst/>
                <a:latin typeface="Times New Roman" panose="02020603050405020304" pitchFamily="18" charset="0"/>
                <a:ea typeface="Calibri" panose="020F0502020204030204" pitchFamily="34" charset="0"/>
              </a:rPr>
              <a:t>rogressive </a:t>
            </a:r>
            <a:r>
              <a:rPr lang="en-US" sz="1800" dirty="0">
                <a:latin typeface="Times New Roman" panose="02020603050405020304" pitchFamily="18" charset="0"/>
                <a:ea typeface="Calibri" panose="020F0502020204030204" pitchFamily="34" charset="0"/>
              </a:rPr>
              <a:t>T</a:t>
            </a:r>
            <a:r>
              <a:rPr lang="en-US" sz="1800" dirty="0">
                <a:effectLst/>
                <a:latin typeface="Times New Roman" panose="02020603050405020304" pitchFamily="18" charset="0"/>
                <a:ea typeface="Calibri" panose="020F0502020204030204" pitchFamily="34" charset="0"/>
              </a:rPr>
              <a:t>axation acts as automatic stabilizer</a:t>
            </a:r>
            <a:endParaRPr lang="en-PK"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PK" dirty="0"/>
          </a:p>
        </p:txBody>
      </p:sp>
      <p:sp>
        <p:nvSpPr>
          <p:cNvPr id="4" name="Content Placeholder 3">
            <a:extLst>
              <a:ext uri="{FF2B5EF4-FFF2-40B4-BE49-F238E27FC236}">
                <a16:creationId xmlns:a16="http://schemas.microsoft.com/office/drawing/2014/main" id="{C1FBEC9F-30F5-5E69-BC9D-8BAE848FC932}"/>
              </a:ext>
            </a:extLst>
          </p:cNvPr>
          <p:cNvSpPr>
            <a:spLocks noGrp="1"/>
          </p:cNvSpPr>
          <p:nvPr>
            <p:ph sz="half" idx="2"/>
          </p:nvPr>
        </p:nvSpPr>
        <p:spPr/>
        <p:txBody>
          <a:bodyPr>
            <a:normAutofit lnSpcReduction="10000"/>
          </a:bodyPr>
          <a:lstStyle/>
          <a:p>
            <a:pPr marL="0" indent="0" algn="ctr">
              <a:buNone/>
            </a:pPr>
            <a:r>
              <a:rPr lang="en-US" sz="3600" b="1" dirty="0">
                <a:latin typeface="Times New Roman" panose="02020603050405020304" pitchFamily="18" charset="0"/>
                <a:cs typeface="Times New Roman" panose="02020603050405020304" pitchFamily="18" charset="0"/>
              </a:rPr>
              <a:t>Limitations</a:t>
            </a:r>
          </a:p>
          <a:p>
            <a:r>
              <a:rPr lang="en-US" sz="2000" dirty="0">
                <a:latin typeface="Times New Roman" panose="02020603050405020304" pitchFamily="18" charset="0"/>
              </a:rPr>
              <a:t>Tax Evasion</a:t>
            </a:r>
          </a:p>
          <a:p>
            <a:pPr lvl="1"/>
            <a:r>
              <a:rPr lang="en-US" sz="1600" dirty="0">
                <a:effectLst/>
                <a:latin typeface="Times New Roman" panose="02020603050405020304" pitchFamily="18" charset="0"/>
                <a:ea typeface="Calibri" panose="020F0502020204030204" pitchFamily="34" charset="0"/>
                <a:cs typeface="Times New Roman" panose="02020603050405020304" pitchFamily="18" charset="0"/>
              </a:rPr>
              <a:t>The evasion may increase actual disposable income of the rich and therefore increase inequality in actual net income.</a:t>
            </a:r>
            <a:endParaRPr lang="en-PK" sz="16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dirty="0">
                <a:latin typeface="Times New Roman" panose="02020603050405020304" pitchFamily="18" charset="0"/>
                <a:ea typeface="Calibri" panose="020F0502020204030204" pitchFamily="34" charset="0"/>
              </a:rPr>
              <a:t>I</a:t>
            </a:r>
            <a:r>
              <a:rPr lang="en-US" sz="2000" dirty="0">
                <a:effectLst/>
                <a:latin typeface="Times New Roman" panose="02020603050405020304" pitchFamily="18" charset="0"/>
                <a:ea typeface="Calibri" panose="020F0502020204030204" pitchFamily="34" charset="0"/>
              </a:rPr>
              <a:t>n earlier studies, that the evasion effect is much stronger in the high-income bracket of the income distribution (</a:t>
            </a:r>
            <a:r>
              <a:rPr lang="en-US" sz="2000" dirty="0" err="1">
                <a:effectLst/>
                <a:latin typeface="Times New Roman" panose="02020603050405020304" pitchFamily="18" charset="0"/>
                <a:ea typeface="Calibri" panose="020F0502020204030204" pitchFamily="34" charset="0"/>
              </a:rPr>
              <a:t>Slemrod</a:t>
            </a:r>
            <a:r>
              <a:rPr lang="en-US" sz="2000" dirty="0">
                <a:effectLst/>
                <a:latin typeface="Times New Roman" panose="02020603050405020304" pitchFamily="18" charset="0"/>
                <a:ea typeface="Calibri" panose="020F0502020204030204" pitchFamily="34" charset="0"/>
              </a:rPr>
              <a:t>, 1994; Feldstein, 1995). </a:t>
            </a:r>
          </a:p>
          <a:p>
            <a:r>
              <a:rPr lang="en-US" sz="2000" dirty="0">
                <a:effectLst/>
                <a:latin typeface="Times New Roman" panose="02020603050405020304" pitchFamily="18" charset="0"/>
                <a:ea typeface="Calibri" panose="020F0502020204030204" pitchFamily="34" charset="0"/>
              </a:rPr>
              <a:t>The rich tend to be more sensitive to changes in the tax rates because they are better able to hide their income</a:t>
            </a:r>
            <a:r>
              <a:rPr lang="en-US" sz="1800" dirty="0">
                <a:effectLst/>
                <a:latin typeface="Times New Roman" panose="02020603050405020304" pitchFamily="18" charset="0"/>
                <a:ea typeface="Calibri" panose="020F0502020204030204" pitchFamily="34" charset="0"/>
              </a:rPr>
              <a:t>.</a:t>
            </a:r>
            <a:endParaRPr lang="en-PK" dirty="0"/>
          </a:p>
        </p:txBody>
      </p:sp>
    </p:spTree>
    <p:extLst>
      <p:ext uri="{BB962C8B-B14F-4D97-AF65-F5344CB8AC3E}">
        <p14:creationId xmlns:p14="http://schemas.microsoft.com/office/powerpoint/2010/main" val="1202752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8D71B-6C86-378B-0C5D-B7FCA8887F70}"/>
              </a:ext>
            </a:extLst>
          </p:cNvPr>
          <p:cNvSpPr>
            <a:spLocks noGrp="1"/>
          </p:cNvSpPr>
          <p:nvPr>
            <p:ph type="title"/>
          </p:nvPr>
        </p:nvSpPr>
        <p:spPr/>
        <p:txBody>
          <a:bodyPr>
            <a:normAutofit/>
          </a:bodyPr>
          <a:lstStyle/>
          <a:p>
            <a:r>
              <a:rPr lang="en-US" sz="2800" b="1" dirty="0">
                <a:solidFill>
                  <a:srgbClr val="000000"/>
                </a:solidFill>
                <a:effectLst/>
                <a:latin typeface="Times New Roman" panose="02020603050405020304" pitchFamily="18" charset="0"/>
                <a:ea typeface="Times New Roman" panose="02020603050405020304" pitchFamily="18" charset="0"/>
              </a:rPr>
              <a:t>Distribution of market income and personal income tax contributions</a:t>
            </a:r>
            <a:endParaRPr lang="en-PK" sz="6000" dirty="0"/>
          </a:p>
        </p:txBody>
      </p:sp>
      <p:sp>
        <p:nvSpPr>
          <p:cNvPr id="3" name="Content Placeholder 2">
            <a:extLst>
              <a:ext uri="{FF2B5EF4-FFF2-40B4-BE49-F238E27FC236}">
                <a16:creationId xmlns:a16="http://schemas.microsoft.com/office/drawing/2014/main" id="{29A68023-C80B-C185-0920-C2E0765CF263}"/>
              </a:ext>
            </a:extLst>
          </p:cNvPr>
          <p:cNvSpPr>
            <a:spLocks noGrp="1"/>
          </p:cNvSpPr>
          <p:nvPr>
            <p:ph idx="1"/>
          </p:nvPr>
        </p:nvSpPr>
        <p:spPr/>
        <p:txBody>
          <a:bodyPr/>
          <a:lstStyle/>
          <a:p>
            <a:endParaRPr lang="en-PK" dirty="0"/>
          </a:p>
        </p:txBody>
      </p:sp>
      <p:pic>
        <p:nvPicPr>
          <p:cNvPr id="4" name="Picture 3">
            <a:extLst>
              <a:ext uri="{FF2B5EF4-FFF2-40B4-BE49-F238E27FC236}">
                <a16:creationId xmlns:a16="http://schemas.microsoft.com/office/drawing/2014/main" id="{04FF15BA-9B2E-9018-94FE-75B0DE06016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52967" y="1443789"/>
            <a:ext cx="6719370" cy="5414211"/>
          </a:xfrm>
          <a:prstGeom prst="rect">
            <a:avLst/>
          </a:prstGeom>
          <a:noFill/>
          <a:ln>
            <a:noFill/>
          </a:ln>
        </p:spPr>
      </p:pic>
    </p:spTree>
    <p:extLst>
      <p:ext uri="{BB962C8B-B14F-4D97-AF65-F5344CB8AC3E}">
        <p14:creationId xmlns:p14="http://schemas.microsoft.com/office/powerpoint/2010/main" val="3339078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E5A3D-CCAE-3FB9-B75C-16BE8AB0F116}"/>
              </a:ext>
            </a:extLst>
          </p:cNvPr>
          <p:cNvSpPr>
            <a:spLocks noGrp="1"/>
          </p:cNvSpPr>
          <p:nvPr>
            <p:ph type="title"/>
          </p:nvPr>
        </p:nvSpPr>
        <p:spPr/>
        <p:txBody>
          <a:bodyPr>
            <a:normAutofit/>
          </a:bodyPr>
          <a:lstStyle/>
          <a:p>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Incidence of education spending </a:t>
            </a:r>
            <a:endParaRPr lang="en-PK" sz="6000" b="1"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D364BFAA-A818-DAA3-B46C-224ECD58676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bwMode="auto">
          <a:xfrm>
            <a:off x="3375726" y="1846263"/>
            <a:ext cx="5500873" cy="4022725"/>
          </a:xfrm>
          <a:prstGeom prst="rect">
            <a:avLst/>
          </a:prstGeom>
          <a:noFill/>
          <a:ln>
            <a:noFill/>
          </a:ln>
        </p:spPr>
      </p:pic>
    </p:spTree>
    <p:extLst>
      <p:ext uri="{BB962C8B-B14F-4D97-AF65-F5344CB8AC3E}">
        <p14:creationId xmlns:p14="http://schemas.microsoft.com/office/powerpoint/2010/main" val="7861061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8165F-7120-EA06-D947-B5D9ECFED448}"/>
              </a:ext>
            </a:extLst>
          </p:cNvPr>
          <p:cNvSpPr>
            <a:spLocks noGrp="1"/>
          </p:cNvSpPr>
          <p:nvPr>
            <p:ph type="title"/>
          </p:nvPr>
        </p:nvSpPr>
        <p:spPr/>
        <p:txBody>
          <a:bodyPr>
            <a:normAutofit/>
          </a:bodyPr>
          <a:lstStyle/>
          <a:p>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Incidence of health spending</a:t>
            </a: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PK" sz="28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F6C11021-F5E4-BB4E-129C-F3FE3EDD1B21}"/>
              </a:ext>
            </a:extLst>
          </p:cNvPr>
          <p:cNvSpPr>
            <a:spLocks noGrp="1"/>
          </p:cNvSpPr>
          <p:nvPr>
            <p:ph idx="1"/>
          </p:nvPr>
        </p:nvSpPr>
        <p:spPr/>
        <p:txBody>
          <a:bodyPr/>
          <a:lstStyle/>
          <a:p>
            <a:endParaRPr lang="en-PK"/>
          </a:p>
        </p:txBody>
      </p:sp>
      <p:pic>
        <p:nvPicPr>
          <p:cNvPr id="7" name="Picture 6">
            <a:extLst>
              <a:ext uri="{FF2B5EF4-FFF2-40B4-BE49-F238E27FC236}">
                <a16:creationId xmlns:a16="http://schemas.microsoft.com/office/drawing/2014/main" id="{EB32ADA6-D27C-5C53-1605-134A61D9D10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8131" y="1825625"/>
            <a:ext cx="10515600" cy="4725375"/>
          </a:xfrm>
          <a:prstGeom prst="rect">
            <a:avLst/>
          </a:prstGeom>
          <a:noFill/>
          <a:ln>
            <a:noFill/>
          </a:ln>
        </p:spPr>
      </p:pic>
    </p:spTree>
    <p:extLst>
      <p:ext uri="{BB962C8B-B14F-4D97-AF65-F5344CB8AC3E}">
        <p14:creationId xmlns:p14="http://schemas.microsoft.com/office/powerpoint/2010/main" val="130017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Incompetence of Government</a:t>
            </a:r>
          </a:p>
        </p:txBody>
      </p:sp>
      <p:sp>
        <p:nvSpPr>
          <p:cNvPr id="3" name="Content Placeholder 2"/>
          <p:cNvSpPr>
            <a:spLocks noGrp="1"/>
          </p:cNvSpPr>
          <p:nvPr>
            <p:ph idx="1"/>
          </p:nvPr>
        </p:nvSpPr>
        <p:spPr/>
        <p:txBody>
          <a:bodyPr/>
          <a:lstStyle/>
          <a:p>
            <a:r>
              <a:rPr lang="en-US" dirty="0"/>
              <a:t>difference between a developed nation and developing nation is the efficacy of government – Macroeconomic laws</a:t>
            </a:r>
          </a:p>
          <a:p>
            <a:r>
              <a:rPr lang="en-US" dirty="0"/>
              <a:t>drop their parental role perhaps because they lack the financial resources to do so (</a:t>
            </a:r>
            <a:r>
              <a:rPr lang="en-US" dirty="0" err="1"/>
              <a:t>Ibadin</a:t>
            </a:r>
            <a:r>
              <a:rPr lang="en-US" dirty="0"/>
              <a:t> &amp; </a:t>
            </a:r>
            <a:r>
              <a:rPr lang="en-US" dirty="0" err="1"/>
              <a:t>Oladipupo</a:t>
            </a:r>
            <a:r>
              <a:rPr lang="en-US" dirty="0"/>
              <a:t>, 2015)</a:t>
            </a:r>
          </a:p>
          <a:p>
            <a:r>
              <a:rPr lang="en-US" dirty="0"/>
              <a:t>provision of merit and de merit goods, a stable exchange rate, economic growth, income equality, less unemployment and fairness</a:t>
            </a:r>
          </a:p>
          <a:p>
            <a:r>
              <a:rPr lang="en-US" dirty="0"/>
              <a:t>Source of revenue - Taxes</a:t>
            </a:r>
          </a:p>
          <a:p>
            <a:endParaRPr lang="en-US" dirty="0"/>
          </a:p>
        </p:txBody>
      </p:sp>
    </p:spTree>
    <p:extLst>
      <p:ext uri="{BB962C8B-B14F-4D97-AF65-F5344CB8AC3E}">
        <p14:creationId xmlns:p14="http://schemas.microsoft.com/office/powerpoint/2010/main" val="19833514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Transfer Payments </a:t>
            </a:r>
          </a:p>
        </p:txBody>
      </p:sp>
      <p:sp>
        <p:nvSpPr>
          <p:cNvPr id="3" name="Content Placeholder 2"/>
          <p:cNvSpPr>
            <a:spLocks noGrp="1"/>
          </p:cNvSpPr>
          <p:nvPr>
            <p:ph idx="1"/>
          </p:nvPr>
        </p:nvSpPr>
        <p:spPr/>
        <p:txBody>
          <a:bodyPr/>
          <a:lstStyle/>
          <a:p>
            <a:r>
              <a:rPr lang="en-US" dirty="0"/>
              <a:t>Governments have been adamant in improving social welfare</a:t>
            </a:r>
          </a:p>
          <a:p>
            <a:r>
              <a:rPr lang="en-US" dirty="0"/>
              <a:t>Transfer payments are detrimental to income disparity - impossible to sustain so far into existence</a:t>
            </a:r>
          </a:p>
          <a:p>
            <a:r>
              <a:rPr lang="en-US" dirty="0"/>
              <a:t>Rewarding people for incompetence in a capitalist society</a:t>
            </a:r>
          </a:p>
          <a:p>
            <a:r>
              <a:rPr lang="en-US" dirty="0"/>
              <a:t>Prolong the inevitable – income disparity </a:t>
            </a:r>
          </a:p>
          <a:p>
            <a:r>
              <a:rPr lang="en-US" dirty="0"/>
              <a:t>Transfer payments yield no return in the long run</a:t>
            </a:r>
          </a:p>
          <a:p>
            <a:r>
              <a:rPr lang="en-US" dirty="0"/>
              <a:t>An efficient tax system – only solution to disparity- Action Aid (2013) </a:t>
            </a:r>
          </a:p>
        </p:txBody>
      </p:sp>
    </p:spTree>
    <p:extLst>
      <p:ext uri="{BB962C8B-B14F-4D97-AF65-F5344CB8AC3E}">
        <p14:creationId xmlns:p14="http://schemas.microsoft.com/office/powerpoint/2010/main" val="24378913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Findings </a:t>
            </a:r>
          </a:p>
        </p:txBody>
      </p:sp>
      <p:sp>
        <p:nvSpPr>
          <p:cNvPr id="3" name="Content Placeholder 2"/>
          <p:cNvSpPr>
            <a:spLocks noGrp="1"/>
          </p:cNvSpPr>
          <p:nvPr>
            <p:ph idx="1"/>
          </p:nvPr>
        </p:nvSpPr>
        <p:spPr/>
        <p:txBody>
          <a:bodyPr/>
          <a:lstStyle/>
          <a:p>
            <a:r>
              <a:rPr lang="en-US" b="1" dirty="0"/>
              <a:t>Value Added Tax</a:t>
            </a:r>
            <a:r>
              <a:rPr lang="en-US" dirty="0"/>
              <a:t> increases income inequality, which is the Gini coefficient so it is positively correlated with income inequality</a:t>
            </a:r>
          </a:p>
          <a:p>
            <a:r>
              <a:rPr lang="en-US" dirty="0"/>
              <a:t>Indirect taxes are regressive - excluding a particular group is impossible</a:t>
            </a:r>
          </a:p>
          <a:p>
            <a:r>
              <a:rPr lang="en-US" b="1" dirty="0"/>
              <a:t>Petroleum Profit Tax (PPT) </a:t>
            </a:r>
            <a:r>
              <a:rPr lang="en-US" dirty="0"/>
              <a:t>increases income inequality</a:t>
            </a:r>
          </a:p>
          <a:p>
            <a:r>
              <a:rPr lang="en-US" dirty="0"/>
              <a:t>Taxes on necessities such as petrol always end up in cost push inflation</a:t>
            </a:r>
          </a:p>
          <a:p>
            <a:r>
              <a:rPr lang="en-US" b="1" dirty="0"/>
              <a:t>Corporate Income Taxes </a:t>
            </a:r>
            <a:r>
              <a:rPr lang="en-US" dirty="0"/>
              <a:t>in fact decrease income disparity</a:t>
            </a:r>
          </a:p>
          <a:p>
            <a:r>
              <a:rPr lang="en-US" dirty="0"/>
              <a:t>Easy to exclude certain groups</a:t>
            </a:r>
          </a:p>
        </p:txBody>
      </p:sp>
    </p:spTree>
    <p:extLst>
      <p:ext uri="{BB962C8B-B14F-4D97-AF65-F5344CB8AC3E}">
        <p14:creationId xmlns:p14="http://schemas.microsoft.com/office/powerpoint/2010/main" val="1503876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89CB7-7740-1277-5CDA-29795A298481}"/>
              </a:ext>
            </a:extLst>
          </p:cNvPr>
          <p:cNvSpPr>
            <a:spLocks noGrp="1"/>
          </p:cNvSpPr>
          <p:nvPr>
            <p:ph type="title"/>
          </p:nvPr>
        </p:nvSpPr>
        <p:spPr/>
        <p:txBody>
          <a:bodyPr/>
          <a:lstStyle/>
          <a:p>
            <a:r>
              <a:rPr lang="en-US" dirty="0"/>
              <a:t>The interaction of taxes and public spending and income distribution</a:t>
            </a:r>
          </a:p>
        </p:txBody>
      </p:sp>
      <p:sp>
        <p:nvSpPr>
          <p:cNvPr id="3" name="Content Placeholder 2">
            <a:extLst>
              <a:ext uri="{FF2B5EF4-FFF2-40B4-BE49-F238E27FC236}">
                <a16:creationId xmlns:a16="http://schemas.microsoft.com/office/drawing/2014/main" id="{2C024546-DBEB-5468-8D70-C931B19EF039}"/>
              </a:ext>
            </a:extLst>
          </p:cNvPr>
          <p:cNvSpPr>
            <a:spLocks noGrp="1"/>
          </p:cNvSpPr>
          <p:nvPr>
            <p:ph idx="1"/>
          </p:nvPr>
        </p:nvSpPr>
        <p:spPr/>
        <p:txBody>
          <a:bodyPr/>
          <a:lstStyle/>
          <a:p>
            <a:r>
              <a:rPr lang="en-US" dirty="0"/>
              <a:t>Tax-benefit systems have become more redistributive since the 1980s. </a:t>
            </a:r>
          </a:p>
          <a:p>
            <a:r>
              <a:rPr lang="en-US" dirty="0"/>
              <a:t>The trend has not been large enough to offset the increasing trend in market-income inequality which grew by twice as much as redistribution. </a:t>
            </a:r>
          </a:p>
          <a:p>
            <a:r>
              <a:rPr lang="en-US" dirty="0"/>
              <a:t>In terms of redistribution strength, direct “benefits” had a much stronger impact on redistribution than personal income taxes and social security contributions, despite the much larger relative size of these taxes in GDP.</a:t>
            </a:r>
          </a:p>
        </p:txBody>
      </p:sp>
    </p:spTree>
    <p:extLst>
      <p:ext uri="{BB962C8B-B14F-4D97-AF65-F5344CB8AC3E}">
        <p14:creationId xmlns:p14="http://schemas.microsoft.com/office/powerpoint/2010/main" val="288096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D71FBC1-BEC5-6CAD-111F-7944B6AA1B3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14399" y="424594"/>
            <a:ext cx="10197830" cy="5763552"/>
          </a:xfrm>
        </p:spPr>
      </p:pic>
    </p:spTree>
    <p:extLst>
      <p:ext uri="{BB962C8B-B14F-4D97-AF65-F5344CB8AC3E}">
        <p14:creationId xmlns:p14="http://schemas.microsoft.com/office/powerpoint/2010/main" val="38190103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Survey</a:t>
            </a:r>
          </a:p>
        </p:txBody>
      </p:sp>
      <p:pic>
        <p:nvPicPr>
          <p:cNvPr id="4" name="Content Placeholder 3" descr="C:\Users\z\AppData\Local\Microsoft\Windows\INetCache\Content.MSO\B1C6BD07.tmp"/>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1352442" y="1846263"/>
            <a:ext cx="9547441" cy="4022725"/>
          </a:xfrm>
          <a:prstGeom prst="rect">
            <a:avLst/>
          </a:prstGeom>
          <a:noFill/>
          <a:ln>
            <a:noFill/>
          </a:ln>
        </p:spPr>
      </p:pic>
    </p:spTree>
    <p:extLst>
      <p:ext uri="{BB962C8B-B14F-4D97-AF65-F5344CB8AC3E}">
        <p14:creationId xmlns:p14="http://schemas.microsoft.com/office/powerpoint/2010/main" val="3740016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A816A-6AB6-5329-FAC4-078DD03FFA98}"/>
              </a:ext>
            </a:extLst>
          </p:cNvPr>
          <p:cNvSpPr>
            <a:spLocks noGrp="1"/>
          </p:cNvSpPr>
          <p:nvPr>
            <p:ph type="title"/>
          </p:nvPr>
        </p:nvSpPr>
        <p:spPr/>
        <p:txBody>
          <a:bodyPr/>
          <a:lstStyle/>
          <a:p>
            <a:endParaRPr lang="en-AE"/>
          </a:p>
        </p:txBody>
      </p:sp>
      <p:pic>
        <p:nvPicPr>
          <p:cNvPr id="6146" name="Picture 2" descr="Forms response chart. Question title: Do you think the financial gap between the rich and poor is continuing to get wider?. Number of responses: 21 responses.">
            <a:extLst>
              <a:ext uri="{FF2B5EF4-FFF2-40B4-BE49-F238E27FC236}">
                <a16:creationId xmlns:a16="http://schemas.microsoft.com/office/drawing/2014/main" id="{86F1099B-23E2-A48B-2082-E32A41CA524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352442" y="1846263"/>
            <a:ext cx="9547441" cy="4022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0573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33059-5175-4DE8-B694-A7718EF73D85}"/>
              </a:ext>
            </a:extLst>
          </p:cNvPr>
          <p:cNvSpPr>
            <a:spLocks noGrp="1"/>
          </p:cNvSpPr>
          <p:nvPr>
            <p:ph type="title"/>
          </p:nvPr>
        </p:nvSpPr>
        <p:spPr/>
        <p:txBody>
          <a:bodyPr/>
          <a:lstStyle/>
          <a:p>
            <a:r>
              <a:rPr lang="en-US" b="1" dirty="0"/>
              <a:t>Conclusion</a:t>
            </a:r>
          </a:p>
        </p:txBody>
      </p:sp>
      <p:sp>
        <p:nvSpPr>
          <p:cNvPr id="3" name="Content Placeholder 2">
            <a:extLst>
              <a:ext uri="{FF2B5EF4-FFF2-40B4-BE49-F238E27FC236}">
                <a16:creationId xmlns:a16="http://schemas.microsoft.com/office/drawing/2014/main" id="{BC350457-2DA9-2282-6192-4E739E194E08}"/>
              </a:ext>
            </a:extLst>
          </p:cNvPr>
          <p:cNvSpPr>
            <a:spLocks noGrp="1"/>
          </p:cNvSpPr>
          <p:nvPr>
            <p:ph idx="1"/>
          </p:nvPr>
        </p:nvSpPr>
        <p:spPr/>
        <p:txBody>
          <a:bodyPr/>
          <a:lstStyle/>
          <a:p>
            <a:r>
              <a:rPr lang="en-US" dirty="0"/>
              <a:t>VAT one of the main source of revenue for Government</a:t>
            </a:r>
          </a:p>
          <a:p>
            <a:r>
              <a:rPr lang="en-US" dirty="0"/>
              <a:t>Taxes act as moderator at times of instability, controls inequality and welfare</a:t>
            </a:r>
          </a:p>
          <a:p>
            <a:r>
              <a:rPr lang="en-US" dirty="0"/>
              <a:t>GST differs among developed and developing countries to better understand the tax reforms and their impacts more research needed</a:t>
            </a:r>
          </a:p>
          <a:p>
            <a:r>
              <a:rPr lang="en-US" sz="2800" dirty="0">
                <a:effectLst/>
                <a:latin typeface="Times New Roman" panose="02020603050405020304" pitchFamily="18" charset="0"/>
                <a:ea typeface="Calibri" panose="020F0502020204030204" pitchFamily="34" charset="0"/>
              </a:rPr>
              <a:t>The existing literature supports the argument that progressive taxation policy has considerable role in reducing income inequalities and boosting overall public welfare. </a:t>
            </a:r>
            <a:endParaRPr lang="en-PK" dirty="0"/>
          </a:p>
          <a:p>
            <a:pPr marL="0" indent="0">
              <a:buNone/>
            </a:pPr>
            <a:r>
              <a:rPr lang="en-US" dirty="0"/>
              <a:t> </a:t>
            </a:r>
          </a:p>
        </p:txBody>
      </p:sp>
    </p:spTree>
    <p:extLst>
      <p:ext uri="{BB962C8B-B14F-4D97-AF65-F5344CB8AC3E}">
        <p14:creationId xmlns:p14="http://schemas.microsoft.com/office/powerpoint/2010/main" val="404758771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30</TotalTime>
  <Words>1427</Words>
  <Application>Microsoft Office PowerPoint</Application>
  <PresentationFormat>Widescreen</PresentationFormat>
  <Paragraphs>141</Paragraphs>
  <Slides>26</Slides>
  <Notes>11</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Retrospect</vt:lpstr>
      <vt:lpstr>Effect of Taxation on Income inequality and Public Welfare</vt:lpstr>
      <vt:lpstr>Introduction</vt:lpstr>
      <vt:lpstr>Introduction</vt:lpstr>
      <vt:lpstr>Literature Review</vt:lpstr>
      <vt:lpstr>Literature Review</vt:lpstr>
      <vt:lpstr>Methodology</vt:lpstr>
      <vt:lpstr>Income inequality</vt:lpstr>
      <vt:lpstr>Findings</vt:lpstr>
      <vt:lpstr>Optimal Tax Approach</vt:lpstr>
      <vt:lpstr>Income Distribution and Taxes among different level of Households</vt:lpstr>
      <vt:lpstr>PowerPoint Presentation</vt:lpstr>
      <vt:lpstr>PowerPoint Presentation</vt:lpstr>
      <vt:lpstr>PowerPoint Presentation</vt:lpstr>
      <vt:lpstr>Progressive Taxation</vt:lpstr>
      <vt:lpstr>Progressive Taxation</vt:lpstr>
      <vt:lpstr>Distribution of market income and personal income tax contributions</vt:lpstr>
      <vt:lpstr>Incidence of education spending </vt:lpstr>
      <vt:lpstr>Incidence of health spending </vt:lpstr>
      <vt:lpstr>Incompetence of Government</vt:lpstr>
      <vt:lpstr>Transfer Payments </vt:lpstr>
      <vt:lpstr>Findings </vt:lpstr>
      <vt:lpstr>The interaction of taxes and public spending and income distribution</vt:lpstr>
      <vt:lpstr>PowerPoint Presentation</vt:lpstr>
      <vt:lpstr>Survey</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Sheikh Usman</dc:creator>
  <cp:lastModifiedBy>Unknown User</cp:lastModifiedBy>
  <cp:revision>9</cp:revision>
  <dcterms:created xsi:type="dcterms:W3CDTF">2022-05-08T19:46:31Z</dcterms:created>
  <dcterms:modified xsi:type="dcterms:W3CDTF">2022-05-09T07:01:49Z</dcterms:modified>
</cp:coreProperties>
</file>