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D6A15-57F4-4A7D-97CC-600EB56D0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DF7F4-C9DE-4E25-8CC0-3855E9F7C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18C25-D21C-448D-A7BB-DE359D8C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EAF12-1F1E-4BDE-98C3-DAB2CCF7DB55}" type="datetimeFigureOut">
              <a:rPr lang="en-PK" smtClean="0"/>
              <a:t>22/03/2022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E4C58-7F96-4BDD-940E-FA8EF324A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38178-FA48-43A7-8AA6-6A9445B9C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2BDF-C95D-4C63-98D2-F740DF8454B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02569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8FE97-90C2-4B93-BF90-40FE2A321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33B59-3A47-4C07-A98F-5B1A8B56B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DEB68-BE75-4A2E-89A2-694D096F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EAF12-1F1E-4BDE-98C3-DAB2CCF7DB55}" type="datetimeFigureOut">
              <a:rPr lang="en-PK" smtClean="0"/>
              <a:t>22/03/2022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F6637-B630-446A-BDE9-1FE53E1B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4B205-4627-4604-BB96-D93E15035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2BDF-C95D-4C63-98D2-F740DF8454B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91005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99078-C6E5-4865-9D3E-E7A8326FA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E6B5B-37D9-494A-A4AA-DE2099073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B8D5C-01BB-4A03-B40E-89C866B35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EAF12-1F1E-4BDE-98C3-DAB2CCF7DB55}" type="datetimeFigureOut">
              <a:rPr lang="en-PK" smtClean="0"/>
              <a:t>22/03/2022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4D560-5E3E-4A4D-BCC8-B066EA8A8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80A7B-5A33-4D16-A92B-9383BBC2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2BDF-C95D-4C63-98D2-F740DF8454B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92314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1E50-DEBE-4B14-A8AD-1D9A5D07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F73A9-B089-46C7-B8E8-4DBBB377F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FFCA1-4CD3-4AB3-8AAF-7D1077876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1694C-BFBE-4999-80D3-7EC62BF13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EAF12-1F1E-4BDE-98C3-DAB2CCF7DB55}" type="datetimeFigureOut">
              <a:rPr lang="en-PK" smtClean="0"/>
              <a:t>22/03/2022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D68C8-6473-4D85-9913-D550E5121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2F5AC-9A81-44D4-9DD0-D13621DA3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2BDF-C95D-4C63-98D2-F740DF8454B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6881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6583-F90B-478A-9DC9-A1B4D82AD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63FBE-EFC3-494A-BE70-19BFBCBA8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29C6A9-EFB0-4D90-9233-8BF4AD987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7953FA-609F-4313-B46B-6A4D3376A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EF5130-8A21-46DB-A5DF-395255FC1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3CDDAF-818F-43D6-B3DA-D6BEEE108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EAF12-1F1E-4BDE-98C3-DAB2CCF7DB55}" type="datetimeFigureOut">
              <a:rPr lang="en-PK" smtClean="0"/>
              <a:t>22/03/2022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D62D1-9C08-4370-B0FE-E6EC52068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C90202-7A94-46F3-9494-8B57A8432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2BDF-C95D-4C63-98D2-F740DF8454B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21706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5757-40CA-42E1-A5E3-37FD439A6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C38632-7088-4917-895E-2A889770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EAF12-1F1E-4BDE-98C3-DAB2CCF7DB55}" type="datetimeFigureOut">
              <a:rPr lang="en-PK" smtClean="0"/>
              <a:t>22/03/2022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8DF97-5C4D-4292-BF20-B2E382524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1F3C36-E3E7-412B-BF1F-EE030248D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2BDF-C95D-4C63-98D2-F740DF8454B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90853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133D52-1278-430E-8E71-CE5511C6E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EAF12-1F1E-4BDE-98C3-DAB2CCF7DB55}" type="datetimeFigureOut">
              <a:rPr lang="en-PK" smtClean="0"/>
              <a:t>22/03/2022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D8EB7D-B38E-4C87-9336-9296F9939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B63C3-8F52-4CF4-A2AF-6CD905CE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2BDF-C95D-4C63-98D2-F740DF8454B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11246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8A8A0-C316-4569-8E35-DDA337822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57291-0462-42F3-B8F1-3FA126744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5A2984-D5D0-4D1B-8EF8-408DD2780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902B1-66D8-45F4-8434-C564AFF3B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EAF12-1F1E-4BDE-98C3-DAB2CCF7DB55}" type="datetimeFigureOut">
              <a:rPr lang="en-PK" smtClean="0"/>
              <a:t>22/03/2022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EBB66-C786-4216-93B7-B9872A9D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3FAB3-187D-42CC-A43F-332CF0BD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2BDF-C95D-4C63-98D2-F740DF8454B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84411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DDF63-906C-4011-BE0B-F7ECA2BF5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84BF99-0E59-4F7E-8D1E-C1D494DF9F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7463AF-0F0F-4C1A-B01A-733991824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3D609-0ACE-4005-B1C5-5E973938B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EAF12-1F1E-4BDE-98C3-DAB2CCF7DB55}" type="datetimeFigureOut">
              <a:rPr lang="en-PK" smtClean="0"/>
              <a:t>22/03/2022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1E3C9-367A-498A-BD68-E6C2C835A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89186-40BF-40C6-824D-9F4FEAAB3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2BDF-C95D-4C63-98D2-F740DF8454B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01448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9B98-A347-4AC8-952C-ECA1A4780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18985-EF77-405E-8C0C-EFD443207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F1B08-1B13-404B-A860-3E6D922CA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EAF12-1F1E-4BDE-98C3-DAB2CCF7DB55}" type="datetimeFigureOut">
              <a:rPr lang="en-PK" smtClean="0"/>
              <a:t>22/03/2022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87C82-7473-469F-8E4E-BCCBDA6C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C0A7B-2CA7-4DAC-850C-4E9A3039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2BDF-C95D-4C63-98D2-F740DF8454B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2683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C36675-CABD-4C29-BDEC-2B9B0BE7A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745C0D-AAD2-4540-8588-13B18D7AE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56D1-947F-40F3-A31A-A33816EA6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EAF12-1F1E-4BDE-98C3-DAB2CCF7DB55}" type="datetimeFigureOut">
              <a:rPr lang="en-PK" smtClean="0"/>
              <a:t>22/03/2022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925C8-01C4-42C9-B718-8933B72C0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1DFBD-35C0-44AA-B2C1-400967A91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2BDF-C95D-4C63-98D2-F740DF8454B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6221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424A22-4223-46AC-8AA9-4BF60B19B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B44A7-42B8-49F6-BFA1-6BAC39D94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E541A-DA5C-4D06-8A5B-D4D2761805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EAF12-1F1E-4BDE-98C3-DAB2CCF7DB55}" type="datetimeFigureOut">
              <a:rPr lang="en-PK" smtClean="0"/>
              <a:t>22/03/2022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C116-ECCC-44E7-9E50-24F4A6E2F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14489-3EDC-4E3A-A241-7A09EC0D4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12BDF-C95D-4C63-98D2-F740DF8454B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97577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919E0-F9B5-4A46-B3E3-9F01862361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15A86-5E88-4142-B9DC-BAC51AA55B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43912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E0176-1E6E-451D-83E0-40FF999A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06A20-228F-4D63-B34C-1D712F418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non performing loan is any loan in which interest and principle payments are more than 90 days overdue. (</a:t>
            </a:r>
            <a:r>
              <a:rPr lang="en-US" i="1" dirty="0"/>
              <a:t>IMF, 2005). </a:t>
            </a:r>
          </a:p>
          <a:p>
            <a:r>
              <a:rPr lang="en-US" dirty="0"/>
              <a:t>Nonperforming loans are of immense importance as they define the asset quality, credit risk of the Bank.</a:t>
            </a:r>
          </a:p>
          <a:p>
            <a:r>
              <a:rPr lang="en-US" dirty="0"/>
              <a:t>The main function of banks is credit creation through mobilization of deposits.</a:t>
            </a:r>
          </a:p>
        </p:txBody>
      </p:sp>
    </p:spTree>
    <p:extLst>
      <p:ext uri="{BB962C8B-B14F-4D97-AF65-F5344CB8AC3E}">
        <p14:creationId xmlns:p14="http://schemas.microsoft.com/office/powerpoint/2010/main" val="1722186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18D6-2B63-44CA-8197-DF4774C74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NPL at a Macro Level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FFD67-6168-420A-8BBB-123C51C30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Non Performing Loans increase the banks would not be able to give out loans which would ultimately hinder economic growth.</a:t>
            </a:r>
          </a:p>
          <a:p>
            <a:r>
              <a:rPr lang="en-US" dirty="0"/>
              <a:t>Economic growth cannot prosper without strong financial sector. </a:t>
            </a:r>
          </a:p>
          <a:p>
            <a:endParaRPr lang="en-US" dirty="0"/>
          </a:p>
          <a:p>
            <a:endParaRPr lang="en-US" dirty="0"/>
          </a:p>
          <a:p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BB494B-7A36-4E26-A403-71C2137D4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92" y="3975334"/>
            <a:ext cx="11159213" cy="175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141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6B7-6A2A-4BC6-996F-D0DB0A163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 from Past Studies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CB16B-9022-48F7-82D8-2C7E7DFFF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study based on NPL published in 1991 by T. Clair which came a conclusion that rapid credit growth can cause the credit quality to deteriorate which can eventually cause banks to declare bankruptcy.</a:t>
            </a:r>
          </a:p>
          <a:p>
            <a:r>
              <a:rPr lang="en-US" dirty="0"/>
              <a:t>According to a research done in Pakistan in 2012 it was found that interest rate; exchange rate, unemployment, inflation, and energy crisis have positive association with NPLs while GDP growth has negative relationship with NPLs.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54998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176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Introduction</vt:lpstr>
      <vt:lpstr>Effect of NPL at a Macro Level </vt:lpstr>
      <vt:lpstr>Evidence from Past Studies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6</cp:revision>
  <dcterms:created xsi:type="dcterms:W3CDTF">2022-03-22T04:57:01Z</dcterms:created>
  <dcterms:modified xsi:type="dcterms:W3CDTF">2022-03-22T06:22:33Z</dcterms:modified>
</cp:coreProperties>
</file>