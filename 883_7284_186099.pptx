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32" r:id="rId2"/>
    <p:sldId id="395" r:id="rId3"/>
    <p:sldId id="39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421" r:id="rId28"/>
    <p:sldId id="422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52"/>
  </p:normalViewPr>
  <p:slideViewPr>
    <p:cSldViewPr>
      <p:cViewPr varScale="1">
        <p:scale>
          <a:sx n="90" d="100"/>
          <a:sy n="90" d="100"/>
        </p:scale>
        <p:origin x="1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handoutMaster" Target="handoutMasters/handout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notesMaster" Target="notesMasters/notesMaster1.xml" /><Relationship Id="rId35" Type="http://schemas.openxmlformats.org/officeDocument/2006/relationships/tableStyles" Target="tableStyles.xml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 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 /><Relationship Id="rId2" Type="http://schemas.openxmlformats.org/officeDocument/2006/relationships/image" Target="../media/image4.wmf" /><Relationship Id="rId1" Type="http://schemas.openxmlformats.org/officeDocument/2006/relationships/image" Target="../media/image3.wmf" /><Relationship Id="rId4" Type="http://schemas.openxmlformats.org/officeDocument/2006/relationships/image" Target="../media/image6.wmf" 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 /><Relationship Id="rId1" Type="http://schemas.openxmlformats.org/officeDocument/2006/relationships/image" Target="../media/image7.wmf" 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 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 /><Relationship Id="rId2" Type="http://schemas.openxmlformats.org/officeDocument/2006/relationships/image" Target="../media/image13.wmf" /><Relationship Id="rId1" Type="http://schemas.openxmlformats.org/officeDocument/2006/relationships/image" Target="../media/image12.wmf" 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 /><Relationship Id="rId1" Type="http://schemas.openxmlformats.org/officeDocument/2006/relationships/image" Target="../media/image16.wmf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8738E13-29A6-4D9A-9022-4F745F39861D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A05963-3055-4FBF-A80C-E097AD75F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58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6DB01B-D170-804F-90C5-FC6F667A7CFB}" type="datetimeFigureOut">
              <a:rPr lang="en-US" smtClean="0"/>
              <a:pPr/>
              <a:t>4/14/2022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20659-6523-9940-B4E6-47A84FE12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24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2D33069-E487-4E4F-B272-37B3D2B7E963}" type="slidenum">
              <a:rPr lang="en-US">
                <a:latin typeface="Times New Roman" charset="0"/>
              </a:rPr>
              <a:pPr/>
              <a:t>2</a:t>
            </a:fld>
            <a:endParaRPr lang="en-US">
              <a:latin typeface="Times New Roman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048C69B-FE09-7645-9017-3A75FBCDB7E4}" type="slidenum">
              <a:rPr lang="en-US">
                <a:latin typeface="Times New Roman" charset="0"/>
              </a:rPr>
              <a:pPr/>
              <a:t>3</a:t>
            </a:fld>
            <a:endParaRPr lang="en-US">
              <a:latin typeface="Times New Roman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CCDEF0B-1652-9542-9236-84652A6CE3F0}" type="slidenum">
              <a:rPr lang="en-US">
                <a:latin typeface="Times New Roman" charset="0"/>
              </a:rPr>
              <a:pPr/>
              <a:t>4</a:t>
            </a:fld>
            <a:endParaRPr lang="en-US">
              <a:latin typeface="Times New Roman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C44F4D9-59B2-0A42-8E3B-4193370E22B3}" type="slidenum">
              <a:rPr lang="en-US">
                <a:latin typeface="Times New Roman" charset="0"/>
              </a:rPr>
              <a:pPr/>
              <a:t>5</a:t>
            </a:fld>
            <a:endParaRPr lang="en-US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6876D67-A17D-7340-9457-3035A0525318}" type="slidenum">
              <a:rPr lang="en-US">
                <a:latin typeface="Times New Roman" charset="0"/>
              </a:rPr>
              <a:pPr/>
              <a:t>6</a:t>
            </a:fld>
            <a:endParaRPr lang="en-US">
              <a:latin typeface="Times New Roman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B2A1EDA-948C-9748-A924-C3C6A1306DFF}" type="slidenum">
              <a:rPr lang="en-US">
                <a:latin typeface="Times New Roman" charset="0"/>
              </a:rPr>
              <a:pPr/>
              <a:t>7</a:t>
            </a:fld>
            <a:endParaRPr lang="en-US">
              <a:latin typeface="Times New Roman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211FE8D-D334-B84E-A554-1B63AB2FF163}" type="slidenum">
              <a:rPr lang="en-US">
                <a:latin typeface="Times New Roman" charset="0"/>
              </a:rPr>
              <a:pPr/>
              <a:t>8</a:t>
            </a:fld>
            <a:endParaRPr lang="en-US">
              <a:latin typeface="Times New Roman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951F61A-ECCD-5F4E-877C-009916DD4B27}" type="slidenum">
              <a:rPr lang="en-US">
                <a:latin typeface="Times New Roman" charset="0"/>
              </a:rPr>
              <a:pPr/>
              <a:t>10</a:t>
            </a:fld>
            <a:endParaRPr lang="en-US">
              <a:latin typeface="Times New Roman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ED52531-F3B2-8541-86FE-1DCA5CEF9E2C}" type="slidenum">
              <a:rPr lang="en-US">
                <a:latin typeface="Times New Roman" charset="0"/>
              </a:rPr>
              <a:pPr/>
              <a:t>11</a:t>
            </a:fld>
            <a:endParaRPr lang="en-US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9C95003-21A0-A342-8113-7FEB94ACBF9D}" type="slidenum">
              <a:rPr lang="en-US">
                <a:latin typeface="Times New Roman" charset="0"/>
              </a:rPr>
              <a:pPr/>
              <a:t>12</a:t>
            </a:fld>
            <a:endParaRPr lang="en-US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770652F-6D7B-0E47-8637-4D1926CF870C}" type="slidenum">
              <a:rPr lang="en-US">
                <a:latin typeface="Times New Roman" charset="0"/>
              </a:rPr>
              <a:pPr/>
              <a:t>13</a:t>
            </a:fld>
            <a:endParaRPr lang="en-US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85FDACC-5B13-4F46-B40A-73111C502AE0}" type="slidenum">
              <a:rPr lang="en-US">
                <a:latin typeface="Times New Roman" charset="0"/>
              </a:rPr>
              <a:pPr/>
              <a:t>14</a:t>
            </a:fld>
            <a:endParaRPr lang="en-US">
              <a:latin typeface="Times New Roman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F7BDD2A-6190-0749-8C45-2668E5906572}" type="slidenum">
              <a:rPr lang="en-US">
                <a:latin typeface="Times New Roman" charset="0"/>
              </a:rPr>
              <a:pPr/>
              <a:t>15</a:t>
            </a:fld>
            <a:endParaRPr lang="en-US">
              <a:latin typeface="Times New Roman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A0D1112-4EB5-F845-BBAD-914D4CFA1063}" type="slidenum">
              <a:rPr lang="en-US">
                <a:latin typeface="Times New Roman" charset="0"/>
              </a:rPr>
              <a:pPr/>
              <a:t>16</a:t>
            </a:fld>
            <a:endParaRPr lang="en-US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536F6FD-800D-7545-8767-14833B57DC50}" type="slidenum">
              <a:rPr lang="en-US">
                <a:latin typeface="Times New Roman" charset="0"/>
              </a:rPr>
              <a:pPr/>
              <a:t>17</a:t>
            </a:fld>
            <a:endParaRPr lang="en-US">
              <a:latin typeface="Times New Roman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A68111-A648-EF40-8AD8-382FD02D83CF}" type="slidenum">
              <a:rPr lang="en-US">
                <a:latin typeface="Times New Roman" charset="0"/>
              </a:rPr>
              <a:pPr/>
              <a:t>18</a:t>
            </a:fld>
            <a:endParaRPr lang="en-US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F214DBD-F9F8-BC4F-98F7-097FA2CAB9DF}" type="slidenum">
              <a:rPr lang="en-US">
                <a:latin typeface="Times New Roman" charset="0"/>
              </a:rPr>
              <a:pPr/>
              <a:t>19</a:t>
            </a:fld>
            <a:endParaRPr lang="en-US">
              <a:latin typeface="Times New Roman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41442AC-2AE6-BA4A-B739-0E5DDBC2E862}" type="slidenum">
              <a:rPr lang="en-US">
                <a:latin typeface="Times New Roman" charset="0"/>
              </a:rPr>
              <a:pPr/>
              <a:t>20</a:t>
            </a:fld>
            <a:endParaRPr lang="en-US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86DEED-365D-B746-A370-F4898AB89B2A}" type="slidenum">
              <a:rPr lang="en-US">
                <a:latin typeface="Times New Roman" charset="0"/>
              </a:rPr>
              <a:pPr/>
              <a:t>21</a:t>
            </a:fld>
            <a:endParaRPr lang="en-US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1BC6682-F977-7846-8626-DE4C960FEE12}" type="slidenum">
              <a:rPr lang="en-US">
                <a:latin typeface="Times New Roman" charset="0"/>
              </a:rPr>
              <a:pPr/>
              <a:t>23</a:t>
            </a:fld>
            <a:endParaRPr lang="en-US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D3ABC10-FB8E-994E-A192-25E1DC15EE0C}" type="slidenum">
              <a:rPr lang="en-US">
                <a:latin typeface="Times New Roman" charset="0"/>
              </a:rPr>
              <a:pPr/>
              <a:t>24</a:t>
            </a:fld>
            <a:endParaRPr lang="en-US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7CE8BDD-E7CA-E245-9AB6-924619BF6CD4}" type="slidenum">
              <a:rPr lang="en-US">
                <a:latin typeface="Times New Roman" charset="0"/>
              </a:rPr>
              <a:pPr/>
              <a:t>25</a:t>
            </a:fld>
            <a:endParaRPr lang="en-US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EDF5F97-D5E2-EE4C-8EC1-FA2534F00BC5}" type="slidenum">
              <a:rPr lang="en-US">
                <a:latin typeface="Times New Roman" charset="0"/>
              </a:rPr>
              <a:pPr/>
              <a:t>26</a:t>
            </a:fld>
            <a:endParaRPr lang="en-US">
              <a:latin typeface="Times New Roman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55C782D-CF23-DF49-962A-EE56ADC7FEC9}" type="slidenum">
              <a:rPr lang="en-US">
                <a:latin typeface="Times New Roman" charset="0"/>
              </a:rPr>
              <a:pPr/>
              <a:t>27</a:t>
            </a:fld>
            <a:endParaRPr lang="en-US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CA50F05-0B56-CC42-88F0-6A65CEAE070B}" type="slidenum">
              <a:rPr lang="en-US">
                <a:latin typeface="Times New Roman" charset="0"/>
              </a:rPr>
              <a:pPr/>
              <a:t>28</a:t>
            </a:fld>
            <a:endParaRPr lang="en-US">
              <a:latin typeface="Times New Roman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Lahore School of Economics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91ABB-DFD9-43F5-B940-20BEF19098AD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FE843-3464-46A6-8A59-49AD8C7FF1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41E01-06B8-4EBD-8998-8F41E21B2DE1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48EA6-8D49-41E5-8FEB-6700C7318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F9653-ED5E-4732-9B31-E2F485C1F35B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66661-36D3-46DA-975B-430F71DB3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D36BD-B535-4CC6-8063-B420701D6A92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F9C16-B8A5-431B-8F13-9F0020623B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2843C-9CA7-4DB0-A1DF-340AFD0B22AF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2FA4B-0063-41C8-A711-6D3C55D7C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550765-F55E-401E-9896-4962D4C3EEF8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521F7-5253-433A-9D6A-559963BFF9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AA97C-255C-4DDB-B726-1FB3289F31E7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27BB9-1D24-4157-A2C1-DAC7D655AA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3F8B7-00AA-44C1-A705-DB0101F90823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3E92E-B4F7-4FD7-AFFE-FC3004464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D4DF7-CD70-45B3-8C8D-FD8EBEB6B2C9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1CF96-DE1A-41B2-A3B7-73EA78B89D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F9A57-E724-4B90-A58B-DC1BA0E8776B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C7B1D-C66D-4599-858C-B9629B210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B61A9-5EDE-4FD1-8E65-0F257115023D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06FA6-F90E-40D1-A48D-D75261D05F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255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6E98B1-5A38-4C72-9D75-38AE23DD88E4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7FE859-F5E4-4879-BDFB-B2E4D1FCF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Lahore School of Economics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6.xml" /><Relationship Id="rId1" Type="http://schemas.openxmlformats.org/officeDocument/2006/relationships/vmlDrawing" Target="../drawings/vmlDrawing1.vml" /><Relationship Id="rId5" Type="http://schemas.openxmlformats.org/officeDocument/2006/relationships/image" Target="../media/image2.wmf" /><Relationship Id="rId4" Type="http://schemas.openxmlformats.org/officeDocument/2006/relationships/oleObject" Target="../embeddings/oleObject1.bin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 /><Relationship Id="rId3" Type="http://schemas.openxmlformats.org/officeDocument/2006/relationships/notesSlide" Target="../notesSlides/notesSlide4.xml" /><Relationship Id="rId7" Type="http://schemas.openxmlformats.org/officeDocument/2006/relationships/image" Target="../media/image4.wmf" /><Relationship Id="rId2" Type="http://schemas.openxmlformats.org/officeDocument/2006/relationships/slideLayout" Target="../slideLayouts/slideLayout6.xml" /><Relationship Id="rId1" Type="http://schemas.openxmlformats.org/officeDocument/2006/relationships/vmlDrawing" Target="../drawings/vmlDrawing2.vml" /><Relationship Id="rId6" Type="http://schemas.openxmlformats.org/officeDocument/2006/relationships/oleObject" Target="../embeddings/oleObject3.bin" /><Relationship Id="rId11" Type="http://schemas.openxmlformats.org/officeDocument/2006/relationships/image" Target="../media/image6.wmf" /><Relationship Id="rId5" Type="http://schemas.openxmlformats.org/officeDocument/2006/relationships/image" Target="../media/image3.wmf" /><Relationship Id="rId10" Type="http://schemas.openxmlformats.org/officeDocument/2006/relationships/oleObject" Target="../embeddings/oleObject5.bin" /><Relationship Id="rId4" Type="http://schemas.openxmlformats.org/officeDocument/2006/relationships/oleObject" Target="../embeddings/oleObject2.bin" /><Relationship Id="rId9" Type="http://schemas.openxmlformats.org/officeDocument/2006/relationships/image" Target="../media/image5.wmf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 /><Relationship Id="rId7" Type="http://schemas.openxmlformats.org/officeDocument/2006/relationships/image" Target="../media/image8.wmf" /><Relationship Id="rId2" Type="http://schemas.openxmlformats.org/officeDocument/2006/relationships/slideLayout" Target="../slideLayouts/slideLayout6.xml" /><Relationship Id="rId1" Type="http://schemas.openxmlformats.org/officeDocument/2006/relationships/vmlDrawing" Target="../drawings/vmlDrawing3.vml" /><Relationship Id="rId6" Type="http://schemas.openxmlformats.org/officeDocument/2006/relationships/oleObject" Target="../embeddings/oleObject7.bin" /><Relationship Id="rId5" Type="http://schemas.openxmlformats.org/officeDocument/2006/relationships/image" Target="../media/image7.wmf" /><Relationship Id="rId4" Type="http://schemas.openxmlformats.org/officeDocument/2006/relationships/oleObject" Target="../embeddings/oleObject6.bin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 /><Relationship Id="rId2" Type="http://schemas.openxmlformats.org/officeDocument/2006/relationships/slideLayout" Target="../slideLayouts/slideLayout12.xml" /><Relationship Id="rId1" Type="http://schemas.openxmlformats.org/officeDocument/2006/relationships/vmlDrawing" Target="../drawings/vmlDrawing4.vml" /><Relationship Id="rId5" Type="http://schemas.openxmlformats.org/officeDocument/2006/relationships/image" Target="../media/image9.wmf" /><Relationship Id="rId4" Type="http://schemas.openxmlformats.org/officeDocument/2006/relationships/oleObject" Target="../embeddings/oleObject8.bin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 /><Relationship Id="rId3" Type="http://schemas.openxmlformats.org/officeDocument/2006/relationships/notesSlide" Target="../notesSlides/notesSlide9.xml" /><Relationship Id="rId7" Type="http://schemas.openxmlformats.org/officeDocument/2006/relationships/image" Target="../media/image13.wmf" /><Relationship Id="rId2" Type="http://schemas.openxmlformats.org/officeDocument/2006/relationships/slideLayout" Target="../slideLayouts/slideLayout6.xml" /><Relationship Id="rId1" Type="http://schemas.openxmlformats.org/officeDocument/2006/relationships/vmlDrawing" Target="../drawings/vmlDrawing5.vml" /><Relationship Id="rId6" Type="http://schemas.openxmlformats.org/officeDocument/2006/relationships/oleObject" Target="../embeddings/oleObject10.bin" /><Relationship Id="rId5" Type="http://schemas.openxmlformats.org/officeDocument/2006/relationships/image" Target="../media/image12.wmf" /><Relationship Id="rId4" Type="http://schemas.openxmlformats.org/officeDocument/2006/relationships/oleObject" Target="../embeddings/oleObject9.bin" /><Relationship Id="rId9" Type="http://schemas.openxmlformats.org/officeDocument/2006/relationships/image" Target="../media/image14.wmf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6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 /><Relationship Id="rId7" Type="http://schemas.openxmlformats.org/officeDocument/2006/relationships/image" Target="../media/image17.wmf" /><Relationship Id="rId2" Type="http://schemas.openxmlformats.org/officeDocument/2006/relationships/slideLayout" Target="../slideLayouts/slideLayout6.xml" /><Relationship Id="rId1" Type="http://schemas.openxmlformats.org/officeDocument/2006/relationships/vmlDrawing" Target="../drawings/vmlDrawing6.vml" /><Relationship Id="rId6" Type="http://schemas.openxmlformats.org/officeDocument/2006/relationships/oleObject" Target="../embeddings/oleObject13.bin" /><Relationship Id="rId5" Type="http://schemas.openxmlformats.org/officeDocument/2006/relationships/image" Target="../media/image16.wmf" /><Relationship Id="rId4" Type="http://schemas.openxmlformats.org/officeDocument/2006/relationships/oleObject" Target="../embeddings/oleObject12.bin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2209800"/>
          </a:xfrm>
        </p:spPr>
        <p:txBody>
          <a:bodyPr/>
          <a:lstStyle/>
          <a:p>
            <a:br>
              <a:rPr lang="en-US" dirty="0">
                <a:latin typeface="Lucida Sans Unicode" charset="0"/>
              </a:rPr>
            </a:br>
            <a:r>
              <a:rPr lang="en-US" dirty="0">
                <a:latin typeface="Lucida Sans Unicode" charset="0"/>
              </a:rPr>
              <a:t>Measuring and Evaluating the Performance of Banks and Their Principal Competitors</a:t>
            </a:r>
            <a:br>
              <a:rPr lang="en-US" dirty="0">
                <a:latin typeface="Lucida Sans Unicode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23923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Dr Ayesha Afzal </a:t>
            </a:r>
          </a:p>
        </p:txBody>
      </p:sp>
    </p:spTree>
    <p:extLst>
      <p:ext uri="{BB962C8B-B14F-4D97-AF65-F5344CB8AC3E}">
        <p14:creationId xmlns:p14="http://schemas.microsoft.com/office/powerpoint/2010/main" val="74713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52500"/>
            <a:ext cx="8229600" cy="1069975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Value of the Bank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Stock</a:t>
            </a: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1314450" y="2438400"/>
            <a:ext cx="5272088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44048C75-2B5C-0143-9E0D-50C1DC7A3448}" type="slidenum">
              <a:rPr lang="en-US" sz="1200">
                <a:solidFill>
                  <a:srgbClr val="FFFFFF"/>
                </a:solidFill>
              </a:rPr>
              <a:pPr algn="r"/>
              <a:t>2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37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274638"/>
            <a:ext cx="8134350" cy="150495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Value of a Bank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Stock Rises When: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229600" cy="30718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</a:rPr>
              <a:t>Expected Dividends Increase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</a:rPr>
              <a:t>Risk of the Bank Falls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</a:rPr>
              <a:t>Market Interest Rates Decrease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</a:rPr>
              <a:t>Combination of Expected Dividend Increase and Risk Decline</a:t>
            </a:r>
          </a:p>
        </p:txBody>
      </p:sp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4291BA54-4C92-AA4E-8357-4D281ACF00A8}" type="slidenum">
              <a:rPr lang="en-US" sz="1200">
                <a:solidFill>
                  <a:srgbClr val="FFFFFF"/>
                </a:solidFill>
              </a:rPr>
              <a:pPr algn="r"/>
              <a:t>3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92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438150" y="731838"/>
            <a:ext cx="8248650" cy="146685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Value of Bank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Stock if Earnings Growth is Constant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2400300" y="2628900"/>
          <a:ext cx="42672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4" imgW="571320" imgH="419040" progId="Equation.3">
                  <p:embed/>
                </p:oleObj>
              </mc:Choice>
              <mc:Fallback>
                <p:oleObj name="Equation" r:id="rId4" imgW="571320" imgH="419040" progId="Equation.3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628900"/>
                        <a:ext cx="4267200" cy="21717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6ADF593B-E211-0C42-98AD-ED518EBE14F6}" type="slidenum">
              <a:rPr lang="en-US" sz="1200">
                <a:solidFill>
                  <a:srgbClr val="FFFFFF"/>
                </a:solidFill>
              </a:rPr>
              <a:pPr algn="r"/>
              <a:t>4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47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02870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Key Profitability Ratios in Banking</a:t>
            </a: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1104900" y="3533775"/>
          <a:ext cx="69326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4" imgW="2628720" imgH="444240" progId="Equation.3">
                  <p:embed/>
                </p:oleObj>
              </mc:Choice>
              <mc:Fallback>
                <p:oleObj name="Equation" r:id="rId4" imgW="2628720" imgH="444240" progId="Equation.3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533775"/>
                        <a:ext cx="6932613" cy="10461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6"/>
          <p:cNvGraphicFramePr>
            <a:graphicFrameLocks noChangeAspect="1"/>
          </p:cNvGraphicFramePr>
          <p:nvPr/>
        </p:nvGraphicFramePr>
        <p:xfrm>
          <a:off x="204788" y="5132388"/>
          <a:ext cx="8505825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6" imgW="3162240" imgH="596880" progId="Equation.3">
                  <p:embed/>
                </p:oleObj>
              </mc:Choice>
              <mc:Fallback>
                <p:oleObj name="Equation" r:id="rId6" imgW="3162240" imgH="596880" progId="Equation.3">
                  <p:embed/>
                  <p:pic>
                    <p:nvPicPr>
                      <p:cNvPr id="205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8" y="5132388"/>
                        <a:ext cx="8505825" cy="1544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9"/>
          <p:cNvGraphicFramePr>
            <a:graphicFrameLocks noChangeAspect="1"/>
          </p:cNvGraphicFramePr>
          <p:nvPr/>
        </p:nvGraphicFramePr>
        <p:xfrm>
          <a:off x="247650" y="1352550"/>
          <a:ext cx="85915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8" imgW="3466800" imgH="419040" progId="Equation.BREE4">
                  <p:embed/>
                </p:oleObj>
              </mc:Choice>
              <mc:Fallback>
                <p:oleObj name="Equation" r:id="rId8" imgW="3466800" imgH="419040" progId="Equation.BREE4">
                  <p:embed/>
                  <p:pic>
                    <p:nvPicPr>
                      <p:cNvPr id="205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1352550"/>
                        <a:ext cx="8591550" cy="933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0"/>
          <p:cNvGraphicFramePr>
            <a:graphicFrameLocks noChangeAspect="1"/>
          </p:cNvGraphicFramePr>
          <p:nvPr/>
        </p:nvGraphicFramePr>
        <p:xfrm>
          <a:off x="1104900" y="2432050"/>
          <a:ext cx="62293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10" imgW="2514600" imgH="393480" progId="Equation.BREE4">
                  <p:embed/>
                </p:oleObj>
              </mc:Choice>
              <mc:Fallback>
                <p:oleObj name="Equation" r:id="rId10" imgW="2514600" imgH="393480" progId="Equation.BREE4">
                  <p:embed/>
                  <p:pic>
                    <p:nvPicPr>
                      <p:cNvPr id="205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432050"/>
                        <a:ext cx="6229350" cy="927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4CAEEA0B-13E8-5F43-8430-E72DF8B49ECE}" type="slidenum">
              <a:rPr lang="en-US" sz="1200">
                <a:solidFill>
                  <a:srgbClr val="FFFFFF"/>
                </a:solidFill>
              </a:rPr>
              <a:pPr algn="r"/>
              <a:t>5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611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151765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Key Profitability Ratios in Banking (cont.)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292100" y="2000250"/>
          <a:ext cx="8189913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4" imgW="3619440" imgH="622080" progId="Equation.3">
                  <p:embed/>
                </p:oleObj>
              </mc:Choice>
              <mc:Fallback>
                <p:oleObj name="Equation" r:id="rId4" imgW="3619440" imgH="622080" progId="Equation.3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2000250"/>
                        <a:ext cx="8189913" cy="1362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/>
        </p:nvGraphicFramePr>
        <p:xfrm>
          <a:off x="0" y="3600450"/>
          <a:ext cx="87249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6" imgW="2679480" imgH="317160" progId="Equation.3">
                  <p:embed/>
                </p:oleObj>
              </mc:Choice>
              <mc:Fallback>
                <p:oleObj name="Equation" r:id="rId6" imgW="2679480" imgH="317160" progId="Equation.3">
                  <p:embed/>
                  <p:pic>
                    <p:nvPicPr>
                      <p:cNvPr id="307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00450"/>
                        <a:ext cx="8724900" cy="1009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17"/>
          <p:cNvSpPr txBox="1">
            <a:spLocks noChangeArrowheads="1"/>
          </p:cNvSpPr>
          <p:nvPr/>
        </p:nvSpPr>
        <p:spPr bwMode="ltGray">
          <a:xfrm>
            <a:off x="190500" y="4721225"/>
            <a:ext cx="8953500" cy="1352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US"/>
              <a:t>		   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US"/>
              <a:t> 		   </a:t>
            </a:r>
            <a:r>
              <a:rPr lang="en-US" sz="2000" u="sng">
                <a:latin typeface="Times New Roman" charset="0"/>
              </a:rPr>
              <a:t>Total Interest Income </a:t>
            </a:r>
            <a:r>
              <a:rPr lang="en-US" sz="2000">
                <a:latin typeface="Times New Roman" charset="0"/>
              </a:rPr>
              <a:t>   __   </a:t>
            </a:r>
            <a:r>
              <a:rPr lang="en-US" sz="2000" u="sng">
                <a:latin typeface="Times New Roman" charset="0"/>
              </a:rPr>
              <a:t>Total Interest Expense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US" sz="2000">
                <a:latin typeface="Times New Roman" charset="0"/>
              </a:rPr>
              <a:t>Earnings Spread =  Total Earning Assets	     Total Interest Bearing Liability</a:t>
            </a:r>
          </a:p>
          <a:p>
            <a:pPr eaLnBrk="1" hangingPunct="1">
              <a:spcBef>
                <a:spcPct val="50000"/>
              </a:spcBef>
            </a:pPr>
            <a:endParaRPr lang="en-US" sz="2000">
              <a:latin typeface="Times New Roman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207F9685-3316-BF47-A897-E71ACB2D5AE7}" type="slidenum">
              <a:rPr lang="en-US" sz="1200">
                <a:solidFill>
                  <a:srgbClr val="FFFFFF"/>
                </a:solidFill>
              </a:rPr>
              <a:pPr algn="r"/>
              <a:t>6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5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Breaking Down ROE</a:t>
            </a:r>
          </a:p>
        </p:txBody>
      </p:sp>
      <p:graphicFrame>
        <p:nvGraphicFramePr>
          <p:cNvPr id="4098" name="Object 3"/>
          <p:cNvGraphicFramePr>
            <a:graphicFrameLocks noGrp="1" noChangeAspect="1"/>
          </p:cNvGraphicFramePr>
          <p:nvPr>
            <p:ph type="dgm" idx="1"/>
          </p:nvPr>
        </p:nvGraphicFramePr>
        <p:xfrm>
          <a:off x="342900" y="2000250"/>
          <a:ext cx="8105775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MS Organization Chart 2.0" r:id="rId4" imgW="8083440" imgH="2076120" progId="OrgPlusWOPX.4">
                  <p:embed followColorScheme="full"/>
                </p:oleObj>
              </mc:Choice>
              <mc:Fallback>
                <p:oleObj name="MS Organization Chart 2.0" r:id="rId4" imgW="8083440" imgH="2076120" progId="OrgPlusWOPX.4">
                  <p:embed followColorScheme="full"/>
                  <p:pic>
                    <p:nvPicPr>
                      <p:cNvPr id="409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2000250"/>
                        <a:ext cx="8105775" cy="4248150"/>
                      </a:xfrm>
                      <a:prstGeom prst="rect">
                        <a:avLst/>
                      </a:prstGeom>
                      <a:extLst>
                        <a:ext uri="{FAA26D3D-D897-4be2-8F04-BA451C77F1D7}">
                          <ma14:placeholderFlag xmlns="" xmlns:ma14="http://schemas.microsoft.com/office/mac/drawingml/2011/main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972050" y="3752850"/>
            <a:ext cx="565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x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441700" y="5314950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>
                <a:latin typeface="Times New Roman" charset="0"/>
              </a:rPr>
              <a:t>x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C401CCB8-DFB1-6F49-A407-FAB3D47B567C}" type="slidenum">
              <a:rPr lang="en-US" sz="1200">
                <a:solidFill>
                  <a:srgbClr val="FFFFFF"/>
                </a:solidFill>
              </a:rPr>
              <a:pPr algn="r"/>
              <a:t>7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3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781050"/>
            <a:ext cx="8229600" cy="106680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ROE Depends On: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1350"/>
            <a:ext cx="8229600" cy="4214813"/>
          </a:xfrm>
        </p:spPr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>
                <a:ea typeface="+mn-ea"/>
              </a:rPr>
              <a:t>Equity Multiplier=Total assets/Total equity capital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sz="2800" dirty="0">
                <a:ea typeface="+mn-ea"/>
              </a:rPr>
              <a:t>Leverage or Financing Policies: the choice of sources of funds (debt or equity)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dirty="0">
              <a:ea typeface="+mn-ea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>
                <a:ea typeface="+mn-ea"/>
              </a:rPr>
              <a:t>Net Profit Margin=Net income/Total operating revenue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sz="2800" dirty="0">
                <a:ea typeface="+mn-ea"/>
              </a:rPr>
              <a:t>Effectiveness of Expense Management (cost control)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dirty="0">
              <a:ea typeface="+mn-ea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>
                <a:ea typeface="+mn-ea"/>
              </a:rPr>
              <a:t>Asset Utilization=Total operating revenue/Total assets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sz="2800" dirty="0">
                <a:ea typeface="+mn-ea"/>
              </a:rPr>
              <a:t>Portfolio Management Policies (the mix and yield on assets)</a:t>
            </a:r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B613A5CB-B443-204D-AC03-96D07C814AF7}" type="slidenum">
              <a:rPr lang="en-US" sz="1200">
                <a:solidFill>
                  <a:srgbClr val="FFFFFF"/>
                </a:solidFill>
              </a:rPr>
              <a:pPr algn="r"/>
              <a:t>8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66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2366963" y="819150"/>
            <a:ext cx="6456362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361950" y="1719263"/>
            <a:ext cx="21336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/>
              <a:t>Determinants of ROE in a Financial Firm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1B3FADC8-C4C6-634F-B6BD-4D9EC2244E07}" type="slidenum">
              <a:rPr lang="en-US" sz="1200">
                <a:solidFill>
                  <a:srgbClr val="FFFFFF"/>
                </a:solidFill>
              </a:rPr>
              <a:pPr algn="r"/>
              <a:t>9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13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503238"/>
            <a:ext cx="8210550" cy="148590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Components of ROE for All Insured U.S. Banks (1992-2007)</a:t>
            </a:r>
          </a:p>
        </p:txBody>
      </p:sp>
      <p:pic>
        <p:nvPicPr>
          <p:cNvPr id="266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1257300" y="2028825"/>
            <a:ext cx="7100888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6CA483C3-133C-3D41-81CD-5D721E4787F3}" type="slidenum">
              <a:rPr lang="en-US" sz="1200">
                <a:solidFill>
                  <a:srgbClr val="FFFFFF"/>
                </a:solidFill>
              </a:rPr>
              <a:pPr algn="r"/>
              <a:t>10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98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8650"/>
            <a:ext cx="8229600" cy="1069975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A Variation on ROE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285750" y="1714500"/>
          <a:ext cx="88582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4" imgW="4572000" imgH="419040" progId="Equation.BREE4">
                  <p:embed/>
                </p:oleObj>
              </mc:Choice>
              <mc:Fallback>
                <p:oleObj name="Equation" r:id="rId4" imgW="4572000" imgH="419040" progId="Equation.BREE4">
                  <p:embed/>
                  <p:pic>
                    <p:nvPicPr>
                      <p:cNvPr id="51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1714500"/>
                        <a:ext cx="8858250" cy="952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1231900" y="2800350"/>
          <a:ext cx="66611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6" imgW="2984400" imgH="419040" progId="Equation.BREE4">
                  <p:embed/>
                </p:oleObj>
              </mc:Choice>
              <mc:Fallback>
                <p:oleObj name="Equation" r:id="rId6" imgW="2984400" imgH="419040" progId="Equation.BREE4">
                  <p:embed/>
                  <p:pic>
                    <p:nvPicPr>
                      <p:cNvPr id="51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2800350"/>
                        <a:ext cx="6661150" cy="971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/>
          <p:cNvGraphicFramePr>
            <a:graphicFrameLocks noChangeAspect="1"/>
          </p:cNvGraphicFramePr>
          <p:nvPr/>
        </p:nvGraphicFramePr>
        <p:xfrm>
          <a:off x="1470025" y="3919538"/>
          <a:ext cx="6076950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8" imgW="2438280" imgH="888840" progId="Equation.BREE4">
                  <p:embed/>
                </p:oleObj>
              </mc:Choice>
              <mc:Fallback>
                <p:oleObj name="Equation" r:id="rId8" imgW="2438280" imgH="888840" progId="Equation.BREE4">
                  <p:embed/>
                  <p:pic>
                    <p:nvPicPr>
                      <p:cNvPr id="51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025" y="3919538"/>
                        <a:ext cx="6076950" cy="2355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B5BBF5BA-2C1F-144B-A68A-B49A65C1E0D3}" type="slidenum">
              <a:rPr lang="en-US" sz="1200">
                <a:solidFill>
                  <a:srgbClr val="FFFFFF"/>
                </a:solidFill>
              </a:rPr>
              <a:pPr algn="r"/>
              <a:t>11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768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1069975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Breakdown of ROA</a:t>
            </a: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952500" y="1617663"/>
            <a:ext cx="7758113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F7337C4A-D263-C64C-92AF-A1B00CE907A6}" type="slidenum">
              <a:rPr lang="en-US" sz="1200">
                <a:solidFill>
                  <a:srgbClr val="FFFFFF"/>
                </a:solidFill>
              </a:rPr>
              <a:pPr algn="r"/>
              <a:t>12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30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19150"/>
            <a:ext cx="8229600" cy="1066800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Bank Risks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2114550"/>
            <a:ext cx="4038600" cy="4011613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Credit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Liquidity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Market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Interest Rate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Operational Risk</a:t>
            </a:r>
          </a:p>
          <a:p>
            <a:pPr eaLnBrk="1" hangingPunct="1"/>
            <a:endParaRPr lang="en-US" sz="3200">
              <a:latin typeface="Lucida Sans Unicode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48200" y="2171700"/>
            <a:ext cx="4038600" cy="3954463"/>
          </a:xfrm>
        </p:spPr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</a:rPr>
              <a:t>Legal and Compliance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Reputation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Strategic Risk</a:t>
            </a:r>
          </a:p>
          <a:p>
            <a:pPr eaLnBrk="1" hangingPunct="1"/>
            <a:r>
              <a:rPr lang="en-US" sz="3200">
                <a:latin typeface="Lucida Sans Unicode" charset="0"/>
              </a:rPr>
              <a:t>Capital Risk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796BE0E6-6284-6049-89B6-753319A853E2}" type="slidenum">
              <a:rPr lang="en-US" sz="1200">
                <a:solidFill>
                  <a:srgbClr val="FFFFFF"/>
                </a:solidFill>
              </a:rPr>
              <a:pPr algn="r"/>
              <a:t>13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31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Credit Risk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229600" cy="2887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3600">
              <a:latin typeface="Lucida Sans Unicode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3600">
                <a:latin typeface="Lucida Sans Unicode" charset="0"/>
              </a:rPr>
              <a:t>	The Probability that Some of the Financial Firm</a:t>
            </a:r>
            <a:r>
              <a:rPr lang="ja-JP" altLang="en-US" sz="3600">
                <a:latin typeface="Lucida Sans Unicode" charset="0"/>
              </a:rPr>
              <a:t>’</a:t>
            </a:r>
            <a:r>
              <a:rPr lang="en-US" sz="3600">
                <a:latin typeface="Lucida Sans Unicode" charset="0"/>
              </a:rPr>
              <a:t>s Assets Will Decline in Value and Perhaps Become Worthless</a:t>
            </a:r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98604501-CC51-7F46-9D39-C282B7E706AE}" type="slidenum">
              <a:rPr lang="en-US" sz="1200">
                <a:solidFill>
                  <a:srgbClr val="FFFFFF"/>
                </a:solidFill>
              </a:rPr>
              <a:pPr algn="r"/>
              <a:t>14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116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Credit Risk Measures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229600" cy="3932238"/>
          </a:xfrm>
        </p:spPr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Nonperforming Loans/Total Loans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Net Charge-Offs/Total Loans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Provision for Loan Losses/Total Loans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Provision for Loan Losses/Equity Capital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Allowance for Loan Losses/Total Loans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Allowance for Loan Losses/Equity Capital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Nonperforming Loans/Equity Capital</a:t>
            </a:r>
          </a:p>
        </p:txBody>
      </p:sp>
      <p:sp>
        <p:nvSpPr>
          <p:cNvPr id="31748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C0626225-8D34-1C4B-92A7-7D19D44FFFB7}" type="slidenum">
              <a:rPr lang="en-US" sz="1200">
                <a:solidFill>
                  <a:srgbClr val="FFFFFF"/>
                </a:solidFill>
              </a:rPr>
              <a:pPr algn="r"/>
              <a:t>15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07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Liquidity Risk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5950"/>
            <a:ext cx="8229600" cy="4221163"/>
          </a:xfrm>
        </p:spPr>
        <p:txBody>
          <a:bodyPr/>
          <a:lstStyle/>
          <a:p>
            <a:pPr eaLnBrk="1" hangingPunct="1"/>
            <a:endParaRPr lang="en-US" sz="3600">
              <a:latin typeface="Lucida Sans Unicode" charset="0"/>
            </a:endParaRPr>
          </a:p>
          <a:p>
            <a:pPr eaLnBrk="1" hangingPunct="1">
              <a:buFontTx/>
              <a:buNone/>
            </a:pPr>
            <a:r>
              <a:rPr lang="en-US" sz="3600">
                <a:latin typeface="Lucida Sans Unicode" charset="0"/>
              </a:rPr>
              <a:t>	Probability the Financial Firm Will Not Have Sufficient Cash and Borrowing Capacity to Meet Deposit Withdrawals and Other Cash Needs</a:t>
            </a:r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782FEFAF-9B99-5843-8B4F-0E37A69133F8}" type="slidenum">
              <a:rPr lang="en-US" sz="1200">
                <a:solidFill>
                  <a:srgbClr val="FFFFFF"/>
                </a:solidFill>
              </a:rPr>
              <a:pPr algn="r"/>
              <a:t>16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246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001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Liquidity Risk Measures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1825"/>
            <a:ext cx="8229600" cy="4224338"/>
          </a:xfrm>
        </p:spPr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Purchased Funds/Total Assets</a:t>
            </a:r>
          </a:p>
          <a:p>
            <a:pPr eaLnBrk="1" hangingPunct="1"/>
            <a:r>
              <a:rPr lang="en-US" sz="3600">
                <a:latin typeface="Lucida Sans Unicode" charset="0"/>
              </a:rPr>
              <a:t>Net Loans/Total Assets</a:t>
            </a:r>
          </a:p>
          <a:p>
            <a:pPr eaLnBrk="1" hangingPunct="1"/>
            <a:r>
              <a:rPr lang="en-US" sz="3600">
                <a:latin typeface="Lucida Sans Unicode" charset="0"/>
              </a:rPr>
              <a:t>Cash and Due from Banks/Total Assets</a:t>
            </a:r>
          </a:p>
          <a:p>
            <a:pPr eaLnBrk="1" hangingPunct="1"/>
            <a:r>
              <a:rPr lang="en-US" sz="3600">
                <a:latin typeface="Lucida Sans Unicode" charset="0"/>
              </a:rPr>
              <a:t>Cash and Government Securities/Total Assets</a:t>
            </a:r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EB14201A-5CE0-5244-83A4-EE2CC2D8F3F8}" type="slidenum">
              <a:rPr lang="en-US" sz="1200">
                <a:solidFill>
                  <a:srgbClr val="FFFFFF"/>
                </a:solidFill>
              </a:rPr>
              <a:pPr algn="r"/>
              <a:t>17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909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Market Risk: Comprises Price Risk and Interest Rate Risk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66900"/>
            <a:ext cx="8229600" cy="3468688"/>
          </a:xfrm>
        </p:spPr>
        <p:txBody>
          <a:bodyPr/>
          <a:lstStyle/>
          <a:p>
            <a:pPr eaLnBrk="1" hangingPunct="1"/>
            <a:endParaRPr lang="en-US" sz="3600">
              <a:latin typeface="Lucida Sans Unicode" charset="0"/>
            </a:endParaRPr>
          </a:p>
          <a:p>
            <a:pPr eaLnBrk="1" hangingPunct="1"/>
            <a:endParaRPr lang="en-US" sz="3600">
              <a:latin typeface="Lucida Sans Unicode" charset="0"/>
            </a:endParaRPr>
          </a:p>
          <a:p>
            <a:pPr eaLnBrk="1" hangingPunct="1">
              <a:buFontTx/>
              <a:buNone/>
            </a:pPr>
            <a:r>
              <a:rPr lang="en-US" sz="3200">
                <a:latin typeface="Lucida Sans Unicode" charset="0"/>
              </a:rPr>
              <a:t>	Probability of the Market Value of the Financial Firm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 Investment Portfolio Declining in Value Due to a Change in Interest Rates</a:t>
            </a: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461DC379-FE1A-124C-A522-0DA24A032319}" type="slidenum">
              <a:rPr lang="en-US" sz="1200">
                <a:solidFill>
                  <a:srgbClr val="FFFFFF"/>
                </a:solidFill>
              </a:rPr>
              <a:pPr algn="r"/>
              <a:t>18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434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Lucida Sans Unicode" charset="0"/>
              </a:rPr>
              <a:t>Market Risk Measures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229600" cy="3897313"/>
          </a:xfrm>
        </p:spPr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Book-Value of Assets/ Market Value of Assets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Book-Value of Equity/ Market Value of Equity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Book-Value of Bonds/Market Value of Bonds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Market Value of Preferred Stock and Common Stock</a:t>
            </a:r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541BA618-B170-A34A-843C-5739B1CFF288}" type="slidenum">
              <a:rPr lang="en-US" sz="1200">
                <a:solidFill>
                  <a:srgbClr val="FFFFFF"/>
                </a:solidFill>
              </a:rPr>
              <a:pPr algn="r"/>
              <a:t>19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836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Interest Rate Risk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z="3600">
              <a:latin typeface="Lucida Sans Unicode" charset="0"/>
            </a:endParaRPr>
          </a:p>
          <a:p>
            <a:pPr eaLnBrk="1" hangingPunct="1"/>
            <a:endParaRPr lang="en-US" sz="3600">
              <a:latin typeface="Lucida Sans Unicode" charset="0"/>
            </a:endParaRPr>
          </a:p>
          <a:p>
            <a:pPr eaLnBrk="1" hangingPunct="1">
              <a:buFontTx/>
              <a:buNone/>
            </a:pPr>
            <a:r>
              <a:rPr lang="en-US" sz="3600">
                <a:latin typeface="Lucida Sans Unicode" charset="0"/>
              </a:rPr>
              <a:t>	</a:t>
            </a:r>
            <a:r>
              <a:rPr lang="en-US" sz="3400">
                <a:latin typeface="Lucida Sans Unicode" charset="0"/>
              </a:rPr>
              <a:t>The Danger that Shifting Interest Rates May Adversely Affect a Bank</a:t>
            </a:r>
            <a:r>
              <a:rPr lang="ja-JP" altLang="en-US" sz="3400">
                <a:latin typeface="Lucida Sans Unicode" charset="0"/>
              </a:rPr>
              <a:t>’</a:t>
            </a:r>
            <a:r>
              <a:rPr lang="en-US" sz="3400">
                <a:latin typeface="Lucida Sans Unicode" charset="0"/>
              </a:rPr>
              <a:t>s Net Income, the Value of its Assets or Equity</a:t>
            </a:r>
          </a:p>
        </p:txBody>
      </p:sp>
      <p:sp>
        <p:nvSpPr>
          <p:cNvPr id="36868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E635DE86-6AED-F44F-BC0E-53BF46F482EF}" type="slidenum">
              <a:rPr lang="en-US" sz="1200">
                <a:solidFill>
                  <a:srgbClr val="FFFFFF"/>
                </a:solidFill>
              </a:rPr>
              <a:pPr algn="r"/>
              <a:t>20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042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Interest Rate Risk Measures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974975"/>
            <a:ext cx="8229600" cy="3151188"/>
          </a:xfrm>
        </p:spPr>
        <p:txBody>
          <a:bodyPr/>
          <a:lstStyle/>
          <a:p>
            <a:pPr eaLnBrk="1" hangingPunct="1"/>
            <a:r>
              <a:rPr lang="en-US" sz="3400">
                <a:latin typeface="Lucida Sans Unicode" charset="0"/>
              </a:rPr>
              <a:t>Interest Sensitive Assets/Interest Sensitive Liabilities</a:t>
            </a:r>
          </a:p>
          <a:p>
            <a:pPr eaLnBrk="1" hangingPunct="1"/>
            <a:endParaRPr lang="en-US" sz="3400">
              <a:latin typeface="Lucida Sans Unicode" charset="0"/>
            </a:endParaRPr>
          </a:p>
          <a:p>
            <a:pPr eaLnBrk="1" hangingPunct="1"/>
            <a:r>
              <a:rPr lang="en-US" sz="3400">
                <a:latin typeface="Lucida Sans Unicode" charset="0"/>
              </a:rPr>
              <a:t>Uninsured Deposits/Total Deposits</a:t>
            </a: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0DC0E1DF-2D7D-C546-ACB5-41F1600AB404}" type="slidenum">
              <a:rPr lang="en-US" sz="1200">
                <a:solidFill>
                  <a:srgbClr val="FFFFFF"/>
                </a:solidFill>
              </a:rPr>
              <a:pPr algn="r"/>
              <a:t>21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851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Off-Balance-Sheet Risk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Georgia" charset="0"/>
              <a:buNone/>
            </a:pPr>
            <a:r>
              <a:rPr lang="en-US">
                <a:latin typeface="Lucida Sans Unicode" charset="0"/>
              </a:rPr>
              <a:t>  The Volatility in Income and Market Value of Bank Equity that May Arise from Unanticipated Losses due to OBS Activities (activities that do not have a balance sheet reporting impact until a transaction is affected)</a:t>
            </a:r>
          </a:p>
        </p:txBody>
      </p:sp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7F3E58E6-7664-0F4F-A6CF-4AC04775E267}" type="slidenum">
              <a:rPr lang="en-US" sz="1200">
                <a:solidFill>
                  <a:srgbClr val="FFFFFF"/>
                </a:solidFill>
              </a:rPr>
              <a:pPr algn="r"/>
              <a:t>22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48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85725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Operational Risk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43100"/>
            <a:ext cx="8229600" cy="4183063"/>
          </a:xfrm>
        </p:spPr>
        <p:txBody>
          <a:bodyPr/>
          <a:lstStyle/>
          <a:p>
            <a:pPr indent="-22225" eaLnBrk="1" hangingPunct="1">
              <a:buFontTx/>
              <a:buNone/>
            </a:pPr>
            <a:r>
              <a:rPr lang="en-US" sz="3200">
                <a:latin typeface="Lucida Sans Unicode" charset="0"/>
              </a:rPr>
              <a:t>Uncertainty Regarding a Financial Firm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Earnings Due to Failures in Computer Systems, Errors, Misconduct by Employees, Floods, Lightening Strikes and Similar Events or Risk of Loss Due to Unexpected Operating Expenses</a:t>
            </a:r>
          </a:p>
        </p:txBody>
      </p:sp>
      <p:sp>
        <p:nvSpPr>
          <p:cNvPr id="39940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B08FCA34-7285-C346-A9F6-C8B3CF1B0D42}" type="slidenum">
              <a:rPr lang="en-US" sz="1200">
                <a:solidFill>
                  <a:srgbClr val="FFFFFF"/>
                </a:solidFill>
              </a:rPr>
              <a:pPr algn="r"/>
              <a:t>23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451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Legal and Compliance Risk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590800"/>
            <a:ext cx="8229600" cy="35353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>
                <a:latin typeface="Lucida Sans Unicode" charset="0"/>
              </a:rPr>
              <a:t>  Risk of Earnings Resulting from Actions Taken by the Legal System.  This can Include Unenforceable Contracts, Lawsuits or Adverse Judgments.  Compliance Risk Includes Violations of Rules and Regulations</a:t>
            </a:r>
          </a:p>
        </p:txBody>
      </p: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690DA39D-6B04-CA46-937B-046370563C70}" type="slidenum">
              <a:rPr lang="en-US" sz="1200">
                <a:solidFill>
                  <a:srgbClr val="FFFFFF"/>
                </a:solidFill>
              </a:rPr>
              <a:pPr algn="r"/>
              <a:t>24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826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Reputation Risk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724150"/>
            <a:ext cx="8229600" cy="34020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>
                <a:latin typeface="Lucida Sans Unicode" charset="0"/>
              </a:rPr>
              <a:t>  This is Risk Due to Negative Publicity that can Dissuade Customers from Using the Services of the Financial Firm.  It is the Risk Associated with Public Opinion.</a:t>
            </a:r>
          </a:p>
        </p:txBody>
      </p:sp>
      <p:sp>
        <p:nvSpPr>
          <p:cNvPr id="41988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FED16A15-9D35-CF45-B75C-5D2849ABE076}" type="slidenum">
              <a:rPr lang="en-US" sz="1200">
                <a:solidFill>
                  <a:srgbClr val="FFFFFF"/>
                </a:solidFill>
              </a:rPr>
              <a:pPr algn="r"/>
              <a:t>25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128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Capital Risk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z="3600">
              <a:latin typeface="Lucida Sans Unicode" charset="0"/>
            </a:endParaRPr>
          </a:p>
          <a:p>
            <a:pPr eaLnBrk="1" hangingPunct="1">
              <a:buFontTx/>
              <a:buNone/>
            </a:pPr>
            <a:r>
              <a:rPr lang="en-US" sz="3600">
                <a:latin typeface="Lucida Sans Unicode" charset="0"/>
              </a:rPr>
              <a:t>	</a:t>
            </a:r>
            <a:r>
              <a:rPr lang="en-US" sz="3200">
                <a:latin typeface="Lucida Sans Unicode" charset="0"/>
              </a:rPr>
              <a:t>Probability of the Value of the Bank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Assets Declining Below the Level of its Total Liabilities.  The Probability of the Bank</a:t>
            </a:r>
            <a:r>
              <a:rPr lang="ja-JP" altLang="en-US" sz="3200">
                <a:latin typeface="Lucida Sans Unicode" charset="0"/>
              </a:rPr>
              <a:t>’</a:t>
            </a:r>
            <a:r>
              <a:rPr lang="en-US" sz="3200">
                <a:latin typeface="Lucida Sans Unicode" charset="0"/>
              </a:rPr>
              <a:t>s Long Run Survival</a:t>
            </a:r>
          </a:p>
        </p:txBody>
      </p: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39D8C848-97A1-D64C-9310-92957F088BE6}" type="slidenum">
              <a:rPr lang="en-US" sz="1200">
                <a:solidFill>
                  <a:srgbClr val="FFFFFF"/>
                </a:solidFill>
              </a:rPr>
              <a:pPr algn="r"/>
              <a:t>26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08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Capital Risk Measures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98725"/>
            <a:ext cx="8229600" cy="3627438"/>
          </a:xfrm>
        </p:spPr>
        <p:txBody>
          <a:bodyPr/>
          <a:lstStyle/>
          <a:p>
            <a:pPr eaLnBrk="1" hangingPunct="1"/>
            <a:r>
              <a:rPr lang="en-US" sz="3600">
                <a:latin typeface="Lucida Sans Unicode" charset="0"/>
              </a:rPr>
              <a:t>Stock Price/Earnings Per Share</a:t>
            </a:r>
          </a:p>
          <a:p>
            <a:pPr eaLnBrk="1" hangingPunct="1"/>
            <a:r>
              <a:rPr lang="en-US" sz="3600">
                <a:latin typeface="Lucida Sans Unicode" charset="0"/>
              </a:rPr>
              <a:t>Equity Capital/Total Assets</a:t>
            </a:r>
          </a:p>
          <a:p>
            <a:pPr eaLnBrk="1" hangingPunct="1"/>
            <a:r>
              <a:rPr lang="en-US" sz="3600">
                <a:latin typeface="Lucida Sans Unicode" charset="0"/>
              </a:rPr>
              <a:t>Purchased Funds/Total Liabilities</a:t>
            </a:r>
          </a:p>
          <a:p>
            <a:pPr eaLnBrk="1" hangingPunct="1"/>
            <a:r>
              <a:rPr lang="en-US" sz="3600">
                <a:latin typeface="Lucida Sans Unicode" charset="0"/>
              </a:rPr>
              <a:t>Equity Capital/Risk Assets</a:t>
            </a:r>
          </a:p>
        </p:txBody>
      </p:sp>
      <p:sp>
        <p:nvSpPr>
          <p:cNvPr id="44036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3B5A3051-3BD3-6D4E-B2D4-461290177BEA}" type="slidenum">
              <a:rPr lang="en-US" sz="1200">
                <a:solidFill>
                  <a:srgbClr val="FFFFFF"/>
                </a:solidFill>
              </a:rPr>
              <a:pPr algn="r"/>
              <a:t>27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706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229600" cy="1069975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Other Goals in Banking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254000" y="2362200"/>
          <a:ext cx="87217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4" imgW="3492360" imgH="419040" progId="Equation.BREE4">
                  <p:embed/>
                </p:oleObj>
              </mc:Choice>
              <mc:Fallback>
                <p:oleObj name="Equation" r:id="rId4" imgW="3492360" imgH="419040" progId="Equation.BREE4">
                  <p:embed/>
                  <p:pic>
                    <p:nvPicPr>
                      <p:cNvPr id="61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2362200"/>
                        <a:ext cx="8721725" cy="1047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"/>
          <p:cNvGraphicFramePr>
            <a:graphicFrameLocks noChangeAspect="1"/>
          </p:cNvGraphicFramePr>
          <p:nvPr/>
        </p:nvGraphicFramePr>
        <p:xfrm>
          <a:off x="0" y="4286250"/>
          <a:ext cx="9144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6" imgW="4736880" imgH="419040" progId="Equation.BREE4">
                  <p:embed/>
                </p:oleObj>
              </mc:Choice>
              <mc:Fallback>
                <p:oleObj name="Equation" r:id="rId6" imgW="4736880" imgH="419040" progId="Equation.BREE4">
                  <p:embed/>
                  <p:pic>
                    <p:nvPicPr>
                      <p:cNvPr id="614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286250"/>
                        <a:ext cx="9144000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8585200" y="38100"/>
            <a:ext cx="40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200">
                <a:solidFill>
                  <a:srgbClr val="FFFFFF"/>
                </a:solidFill>
              </a:rPr>
              <a:t>6-</a:t>
            </a:r>
            <a:fld id="{BBC26D2E-4A67-0E4A-8124-1CEBBD34A9F4}" type="slidenum">
              <a:rPr lang="en-US" sz="1200">
                <a:solidFill>
                  <a:srgbClr val="FFFFFF"/>
                </a:solidFill>
              </a:rPr>
              <a:pPr algn="r"/>
              <a:t>28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5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716</Words>
  <Application>Microsoft Office PowerPoint</Application>
  <PresentationFormat>On-screen Show (4:3)</PresentationFormat>
  <Paragraphs>145</Paragraphs>
  <Slides>28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 Measuring and Evaluating the Performance of Banks and Their Principal Competitors </vt:lpstr>
      <vt:lpstr>Value of the Bank’s Stock</vt:lpstr>
      <vt:lpstr>Value of a Bank’s Stock Rises When:</vt:lpstr>
      <vt:lpstr>Value of Bank’s Stock if Earnings Growth is Constant</vt:lpstr>
      <vt:lpstr>Key Profitability Ratios in Banking</vt:lpstr>
      <vt:lpstr>Key Profitability Ratios in Banking (cont.)</vt:lpstr>
      <vt:lpstr>Breaking Down ROE</vt:lpstr>
      <vt:lpstr>ROE Depends On:</vt:lpstr>
      <vt:lpstr>PowerPoint Presentation</vt:lpstr>
      <vt:lpstr>Components of ROE for All Insured U.S. Banks (1992-2007)</vt:lpstr>
      <vt:lpstr>A Variation on ROE</vt:lpstr>
      <vt:lpstr>Breakdown of ROA</vt:lpstr>
      <vt:lpstr>Bank Risks</vt:lpstr>
      <vt:lpstr>Credit Risk</vt:lpstr>
      <vt:lpstr>Credit Risk Measures</vt:lpstr>
      <vt:lpstr>Liquidity Risk</vt:lpstr>
      <vt:lpstr>Liquidity Risk Measures</vt:lpstr>
      <vt:lpstr>Market Risk: Comprises Price Risk and Interest Rate Risk</vt:lpstr>
      <vt:lpstr>Market Risk Measures</vt:lpstr>
      <vt:lpstr>Interest Rate Risk</vt:lpstr>
      <vt:lpstr>Interest Rate Risk Measures</vt:lpstr>
      <vt:lpstr>Off-Balance-Sheet Risk</vt:lpstr>
      <vt:lpstr>Operational Risk</vt:lpstr>
      <vt:lpstr>Legal and Compliance Risk</vt:lpstr>
      <vt:lpstr>Reputation Risk</vt:lpstr>
      <vt:lpstr>Capital Risk</vt:lpstr>
      <vt:lpstr>Capital Risk Measures</vt:lpstr>
      <vt:lpstr>Other Goals in Banking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taahaa imtiaz</cp:lastModifiedBy>
  <cp:revision>131</cp:revision>
  <dcterms:created xsi:type="dcterms:W3CDTF">2011-03-14T19:42:04Z</dcterms:created>
  <dcterms:modified xsi:type="dcterms:W3CDTF">2022-04-14T05:20:41Z</dcterms:modified>
</cp:coreProperties>
</file>